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5.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6.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4"/>
    <p:sldMasterId id="2147483758" r:id="rId5"/>
    <p:sldMasterId id="2147483775" r:id="rId6"/>
    <p:sldMasterId id="2147483787" r:id="rId7"/>
    <p:sldMasterId id="2147483800" r:id="rId8"/>
    <p:sldMasterId id="2147483817" r:id="rId9"/>
    <p:sldMasterId id="2147483829" r:id="rId10"/>
  </p:sldMasterIdLst>
  <p:notesMasterIdLst>
    <p:notesMasterId r:id="rId38"/>
  </p:notesMasterIdLst>
  <p:sldIdLst>
    <p:sldId id="256" r:id="rId11"/>
    <p:sldId id="416" r:id="rId12"/>
    <p:sldId id="257" r:id="rId13"/>
    <p:sldId id="284" r:id="rId14"/>
    <p:sldId id="371" r:id="rId15"/>
    <p:sldId id="390" r:id="rId16"/>
    <p:sldId id="402" r:id="rId17"/>
    <p:sldId id="391" r:id="rId18"/>
    <p:sldId id="401" r:id="rId19"/>
    <p:sldId id="354" r:id="rId20"/>
    <p:sldId id="414" r:id="rId21"/>
    <p:sldId id="415" r:id="rId22"/>
    <p:sldId id="409" r:id="rId23"/>
    <p:sldId id="408" r:id="rId24"/>
    <p:sldId id="359" r:id="rId25"/>
    <p:sldId id="393" r:id="rId26"/>
    <p:sldId id="404" r:id="rId27"/>
    <p:sldId id="394" r:id="rId28"/>
    <p:sldId id="403" r:id="rId29"/>
    <p:sldId id="365" r:id="rId30"/>
    <p:sldId id="400" r:id="rId31"/>
    <p:sldId id="363" r:id="rId32"/>
    <p:sldId id="399" r:id="rId33"/>
    <p:sldId id="405" r:id="rId34"/>
    <p:sldId id="407" r:id="rId35"/>
    <p:sldId id="406" r:id="rId36"/>
    <p:sldId id="293" r:id="rId3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27" autoAdjust="0"/>
    <p:restoredTop sz="85147" autoAdjust="0"/>
  </p:normalViewPr>
  <p:slideViewPr>
    <p:cSldViewPr>
      <p:cViewPr varScale="1">
        <p:scale>
          <a:sx n="139" d="100"/>
          <a:sy n="139" d="100"/>
        </p:scale>
        <p:origin x="3396" y="12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A2B3FC29-ADC2-4348-9BC2-E43BE82C2D87}" type="datetimeFigureOut">
              <a:rPr lang="en-US"/>
              <a:pPr>
                <a:defRPr/>
              </a:pPr>
              <a:t>9/1/2021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C9D91DA-CAD8-48BC-B864-358C91C766EB}" type="slidenum">
              <a:rPr lang="en-US" altLang="en-US"/>
              <a:pPr>
                <a:defRPr/>
              </a:pPr>
              <a:t>‹#›</a:t>
            </a:fld>
            <a:endParaRPr lang="en-US" altLang="en-US"/>
          </a:p>
        </p:txBody>
      </p:sp>
    </p:spTree>
    <p:extLst>
      <p:ext uri="{BB962C8B-B14F-4D97-AF65-F5344CB8AC3E}">
        <p14:creationId xmlns:p14="http://schemas.microsoft.com/office/powerpoint/2010/main" val="14591901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that all the images in this presentation are “Author</a:t>
            </a:r>
            <a:r>
              <a:rPr lang="en-US" baseline="0" dirty="0" smtClean="0"/>
              <a:t> Owned”</a:t>
            </a:r>
            <a:endParaRPr lang="en-US" dirty="0"/>
          </a:p>
        </p:txBody>
      </p:sp>
      <p:sp>
        <p:nvSpPr>
          <p:cNvPr id="4" name="Slide Number Placeholder 3"/>
          <p:cNvSpPr>
            <a:spLocks noGrp="1"/>
          </p:cNvSpPr>
          <p:nvPr>
            <p:ph type="sldNum" sz="quarter" idx="10"/>
          </p:nvPr>
        </p:nvSpPr>
        <p:spPr/>
        <p:txBody>
          <a:bodyPr/>
          <a:lstStyle/>
          <a:p>
            <a:pPr>
              <a:defRPr/>
            </a:pPr>
            <a:fld id="{2C9D91DA-CAD8-48BC-B864-358C91C766EB}" type="slidenum">
              <a:rPr lang="en-US" altLang="en-US" smtClean="0"/>
              <a:pPr>
                <a:defRPr/>
              </a:pPr>
              <a:t>1</a:t>
            </a:fld>
            <a:endParaRPr lang="en-US" altLang="en-US"/>
          </a:p>
        </p:txBody>
      </p:sp>
    </p:spTree>
    <p:extLst>
      <p:ext uri="{BB962C8B-B14F-4D97-AF65-F5344CB8AC3E}">
        <p14:creationId xmlns:p14="http://schemas.microsoft.com/office/powerpoint/2010/main" val="2674957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are the goals</a:t>
            </a:r>
            <a:r>
              <a:rPr lang="en-US" baseline="0" dirty="0" smtClean="0"/>
              <a:t> for this lab</a:t>
            </a:r>
            <a:endParaRPr lang="en-US" dirty="0"/>
          </a:p>
        </p:txBody>
      </p:sp>
      <p:sp>
        <p:nvSpPr>
          <p:cNvPr id="4" name="Slide Number Placeholder 3"/>
          <p:cNvSpPr>
            <a:spLocks noGrp="1"/>
          </p:cNvSpPr>
          <p:nvPr>
            <p:ph type="sldNum" sz="quarter" idx="10"/>
          </p:nvPr>
        </p:nvSpPr>
        <p:spPr/>
        <p:txBody>
          <a:bodyPr/>
          <a:lstStyle/>
          <a:p>
            <a:pPr>
              <a:defRPr/>
            </a:pPr>
            <a:fld id="{2C9D91DA-CAD8-48BC-B864-358C91C766EB}" type="slidenum">
              <a:rPr lang="en-US" altLang="en-US" smtClean="0"/>
              <a:pPr>
                <a:defRPr/>
              </a:pPr>
              <a:t>2</a:t>
            </a:fld>
            <a:endParaRPr lang="en-US" altLang="en-US"/>
          </a:p>
        </p:txBody>
      </p:sp>
    </p:spTree>
    <p:extLst>
      <p:ext uri="{BB962C8B-B14F-4D97-AF65-F5344CB8AC3E}">
        <p14:creationId xmlns:p14="http://schemas.microsoft.com/office/powerpoint/2010/main" val="2592724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Time-line for todays lab</a:t>
            </a:r>
            <a:endParaRPr lang="en-US" dirty="0"/>
          </a:p>
        </p:txBody>
      </p:sp>
      <p:sp>
        <p:nvSpPr>
          <p:cNvPr id="4" name="Slide Number Placeholder 3"/>
          <p:cNvSpPr>
            <a:spLocks noGrp="1"/>
          </p:cNvSpPr>
          <p:nvPr>
            <p:ph type="sldNum" sz="quarter" idx="10"/>
          </p:nvPr>
        </p:nvSpPr>
        <p:spPr/>
        <p:txBody>
          <a:bodyPr/>
          <a:lstStyle/>
          <a:p>
            <a:pPr>
              <a:defRPr/>
            </a:pPr>
            <a:fld id="{2C9D91DA-CAD8-48BC-B864-358C91C766EB}" type="slidenum">
              <a:rPr lang="en-US" altLang="en-US" smtClean="0"/>
              <a:pPr>
                <a:defRPr/>
              </a:pPr>
              <a:t>3</a:t>
            </a:fld>
            <a:endParaRPr lang="en-US" altLang="en-US"/>
          </a:p>
        </p:txBody>
      </p:sp>
    </p:spTree>
    <p:extLst>
      <p:ext uri="{BB962C8B-B14F-4D97-AF65-F5344CB8AC3E}">
        <p14:creationId xmlns:p14="http://schemas.microsoft.com/office/powerpoint/2010/main" val="3747538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brain radiology anatomy was included as</a:t>
            </a:r>
            <a:r>
              <a:rPr lang="en-US" baseline="0" dirty="0" smtClean="0"/>
              <a:t> part of out lab and included here for completeness. </a:t>
            </a:r>
            <a:endParaRPr lang="en-US" dirty="0"/>
          </a:p>
        </p:txBody>
      </p:sp>
      <p:sp>
        <p:nvSpPr>
          <p:cNvPr id="4" name="Slide Number Placeholder 3"/>
          <p:cNvSpPr>
            <a:spLocks noGrp="1"/>
          </p:cNvSpPr>
          <p:nvPr>
            <p:ph type="sldNum" sz="quarter" idx="10"/>
          </p:nvPr>
        </p:nvSpPr>
        <p:spPr/>
        <p:txBody>
          <a:bodyPr/>
          <a:lstStyle/>
          <a:p>
            <a:pPr>
              <a:defRPr/>
            </a:pPr>
            <a:fld id="{2C9D91DA-CAD8-48BC-B864-358C91C766EB}" type="slidenum">
              <a:rPr lang="en-US" altLang="en-US" smtClean="0"/>
              <a:pPr>
                <a:defRPr/>
              </a:pPr>
              <a:t>4</a:t>
            </a:fld>
            <a:endParaRPr lang="en-US" altLang="en-US"/>
          </a:p>
        </p:txBody>
      </p:sp>
    </p:spTree>
    <p:extLst>
      <p:ext uri="{BB962C8B-B14F-4D97-AF65-F5344CB8AC3E}">
        <p14:creationId xmlns:p14="http://schemas.microsoft.com/office/powerpoint/2010/main" val="771712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students will spend 20 minutes identifying the structures on the list using the provided T1 sagittal and T2 axial images. </a:t>
            </a:r>
          </a:p>
          <a:p>
            <a:r>
              <a:rPr lang="en-US" dirty="0" smtClean="0"/>
              <a:t>Work in groups</a:t>
            </a:r>
            <a:r>
              <a:rPr lang="en-US" baseline="0" dirty="0" smtClean="0"/>
              <a:t> of ~3.</a:t>
            </a:r>
          </a:p>
          <a:p>
            <a:r>
              <a:rPr lang="en-US" baseline="0" dirty="0" smtClean="0"/>
              <a:t>Teachers will assist as needed with questions.</a:t>
            </a:r>
            <a:endParaRPr lang="en-US" dirty="0" smtClean="0"/>
          </a:p>
          <a:p>
            <a:endParaRPr lang="en-US" dirty="0" smtClean="0"/>
          </a:p>
          <a:p>
            <a:endParaRPr lang="en-US" dirty="0" smtClean="0"/>
          </a:p>
          <a:p>
            <a:r>
              <a:rPr lang="en-US" dirty="0" smtClean="0"/>
              <a:t>Please extract</a:t>
            </a:r>
            <a:r>
              <a:rPr lang="en-US" baseline="0" dirty="0" smtClean="0"/>
              <a:t> the provided zipped “Normal Scans” file. </a:t>
            </a:r>
          </a:p>
          <a:p>
            <a:r>
              <a:rPr lang="en-US" baseline="0" dirty="0" smtClean="0"/>
              <a:t>Within the folder you will find the “! - INTRUCTIONS – READ ME FIRST - !” file. Open it for guidance to using the files. </a:t>
            </a:r>
            <a:endParaRPr lang="en-US" dirty="0"/>
          </a:p>
        </p:txBody>
      </p:sp>
      <p:sp>
        <p:nvSpPr>
          <p:cNvPr id="4" name="Slide Number Placeholder 3"/>
          <p:cNvSpPr>
            <a:spLocks noGrp="1"/>
          </p:cNvSpPr>
          <p:nvPr>
            <p:ph type="sldNum" sz="quarter" idx="10"/>
          </p:nvPr>
        </p:nvSpPr>
        <p:spPr/>
        <p:txBody>
          <a:bodyPr/>
          <a:lstStyle/>
          <a:p>
            <a:pPr>
              <a:defRPr/>
            </a:pPr>
            <a:fld id="{2C9D91DA-CAD8-48BC-B864-358C91C766EB}" type="slidenum">
              <a:rPr lang="en-US" altLang="en-US" smtClean="0"/>
              <a:pPr>
                <a:defRPr/>
              </a:pPr>
              <a:t>5</a:t>
            </a:fld>
            <a:endParaRPr lang="en-US" altLang="en-US"/>
          </a:p>
        </p:txBody>
      </p:sp>
    </p:spTree>
    <p:extLst>
      <p:ext uri="{BB962C8B-B14F-4D97-AF65-F5344CB8AC3E}">
        <p14:creationId xmlns:p14="http://schemas.microsoft.com/office/powerpoint/2010/main" val="2557162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0" indent="0">
              <a:buFontTx/>
              <a:buNone/>
              <a:defRPr/>
            </a:pPr>
            <a:r>
              <a:rPr lang="en-US" dirty="0" smtClean="0"/>
              <a:t>Students</a:t>
            </a:r>
            <a:r>
              <a:rPr lang="en-US" baseline="0" dirty="0" smtClean="0"/>
              <a:t> will spend 2 min discussing these questions as a small group after which the teacher will reveal and discuss the answers</a:t>
            </a:r>
          </a:p>
          <a:p>
            <a:pPr marL="0" indent="0">
              <a:buFontTx/>
              <a:buNone/>
              <a:defRPr/>
            </a:pPr>
            <a:endParaRPr lang="en-US" dirty="0" smtClean="0"/>
          </a:p>
          <a:p>
            <a:pPr marL="228600" indent="-228600">
              <a:buFontTx/>
              <a:buAutoNum type="arabicPeriod"/>
              <a:defRPr/>
            </a:pPr>
            <a:r>
              <a:rPr lang="en-US" dirty="0" smtClean="0"/>
              <a:t>Which areas of the brain demonstrate </a:t>
            </a:r>
            <a:r>
              <a:rPr lang="en-US" dirty="0" err="1" smtClean="0"/>
              <a:t>hypometabolism</a:t>
            </a:r>
            <a:r>
              <a:rPr lang="en-US" dirty="0" smtClean="0"/>
              <a:t>?  </a:t>
            </a:r>
            <a:r>
              <a:rPr lang="en-US" u="sng" dirty="0" smtClean="0"/>
              <a:t>Left cerebellar hemisphere, right parietal and occipital lobes</a:t>
            </a:r>
            <a:r>
              <a:rPr lang="en-US" dirty="0" smtClean="0"/>
              <a:t>.</a:t>
            </a:r>
          </a:p>
          <a:p>
            <a:pPr marL="228600" indent="-228600">
              <a:buFontTx/>
              <a:buAutoNum type="arabicPeriod"/>
              <a:defRPr/>
            </a:pPr>
            <a:r>
              <a:rPr lang="en-US" dirty="0" smtClean="0"/>
              <a:t>What part of the brainstem connects the </a:t>
            </a:r>
            <a:r>
              <a:rPr lang="en-US" dirty="0" err="1" smtClean="0"/>
              <a:t>supratentorial</a:t>
            </a:r>
            <a:r>
              <a:rPr lang="en-US" dirty="0" smtClean="0"/>
              <a:t> cerebral lobes with the contralateral cerebellum? </a:t>
            </a:r>
            <a:r>
              <a:rPr lang="en-US" u="sng" dirty="0" smtClean="0"/>
              <a:t>The Pons</a:t>
            </a:r>
          </a:p>
          <a:p>
            <a:pPr marL="228600" indent="-228600">
              <a:buFontTx/>
              <a:buAutoNum type="arabicPeriod"/>
              <a:defRPr/>
            </a:pPr>
            <a:r>
              <a:rPr lang="en-US" sz="2000" kern="0" dirty="0" smtClean="0"/>
              <a:t>What structure separates the parietal and occipital lobes? </a:t>
            </a:r>
            <a:r>
              <a:rPr lang="en-US" sz="2000" u="sng" kern="0" dirty="0" err="1" smtClean="0"/>
              <a:t>Parieto</a:t>
            </a:r>
            <a:r>
              <a:rPr lang="en-US" sz="2000" u="sng" kern="0" dirty="0" smtClean="0"/>
              <a:t>-occipital sulcus.</a:t>
            </a:r>
          </a:p>
          <a:p>
            <a:pPr>
              <a:defRPr/>
            </a:pPr>
            <a:r>
              <a:rPr lang="en-US" sz="2000" u="sng" kern="0" dirty="0" smtClean="0"/>
              <a:t>FDG (</a:t>
            </a:r>
            <a:r>
              <a:rPr lang="en-US" sz="2000" u="sng" kern="0" dirty="0" err="1" smtClean="0"/>
              <a:t>fluorodeoxyglucose</a:t>
            </a:r>
            <a:r>
              <a:rPr lang="en-US" sz="2000" u="sng" kern="0" dirty="0" smtClean="0"/>
              <a:t>) PET demonstrates metabolism as tracer is taken up wherever glucose is utilized.  The brain utilizes glucose and is typically fairly </a:t>
            </a:r>
            <a:r>
              <a:rPr lang="en-US" sz="2000" u="sng" kern="0" dirty="0" err="1" smtClean="0"/>
              <a:t>hypermetabolic</a:t>
            </a:r>
            <a:r>
              <a:rPr lang="en-US" sz="2000" u="sng" kern="0" dirty="0" smtClean="0"/>
              <a:t>. </a:t>
            </a:r>
            <a:endParaRPr lang="en-US" sz="1800" u="sng" dirty="0" smtClean="0"/>
          </a:p>
          <a:p>
            <a:pPr marL="228600" indent="-228600">
              <a:buFontTx/>
              <a:buAutoNum type="arabicPeriod"/>
              <a:defRPr/>
            </a:pPr>
            <a:endParaRPr lang="en-US" sz="2000" u="sng" kern="0" dirty="0" smtClean="0"/>
          </a:p>
          <a:p>
            <a:pPr>
              <a:defRPr/>
            </a:pPr>
            <a:endParaRPr lang="en-US" dirty="0"/>
          </a:p>
        </p:txBody>
      </p:sp>
      <p:sp>
        <p:nvSpPr>
          <p:cNvPr id="143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0A7E0CA3-EC57-444E-AA5D-72042A24474C}" type="slidenum">
              <a:rPr lang="en-US" altLang="en-US" smtClean="0">
                <a:latin typeface="Calibri" panose="020F0502020204030204" pitchFamily="34" charset="0"/>
              </a:rPr>
              <a:pPr/>
              <a:t>6</a:t>
            </a:fld>
            <a:endParaRPr lang="en-US" altLang="en-US" smtClean="0">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228600" indent="-228600">
              <a:buFontTx/>
              <a:buAutoNum type="arabicPeriod"/>
              <a:defRPr/>
            </a:pPr>
            <a:r>
              <a:rPr lang="en-US" dirty="0" smtClean="0"/>
              <a:t>Which areas of the brain demonstrate </a:t>
            </a:r>
            <a:r>
              <a:rPr lang="en-US" dirty="0" err="1" smtClean="0"/>
              <a:t>hypometabolism</a:t>
            </a:r>
            <a:r>
              <a:rPr lang="en-US" dirty="0" smtClean="0"/>
              <a:t>?  </a:t>
            </a:r>
            <a:r>
              <a:rPr lang="en-US" u="sng" dirty="0" smtClean="0"/>
              <a:t>Left cerebellar hemisphere, right parietal and occipital lobes</a:t>
            </a:r>
            <a:r>
              <a:rPr lang="en-US" dirty="0" smtClean="0"/>
              <a:t>.</a:t>
            </a:r>
          </a:p>
          <a:p>
            <a:pPr marL="228600" indent="-228600">
              <a:buFontTx/>
              <a:buAutoNum type="arabicPeriod"/>
              <a:defRPr/>
            </a:pPr>
            <a:r>
              <a:rPr lang="en-US" dirty="0" smtClean="0"/>
              <a:t>What part of the brainstem connects the </a:t>
            </a:r>
            <a:r>
              <a:rPr lang="en-US" dirty="0" err="1" smtClean="0"/>
              <a:t>supratentorial</a:t>
            </a:r>
            <a:r>
              <a:rPr lang="en-US" dirty="0" smtClean="0"/>
              <a:t> cerebral lobes with the contralateral cerebellum? </a:t>
            </a:r>
            <a:r>
              <a:rPr lang="en-US" u="sng" dirty="0" smtClean="0"/>
              <a:t>The Pons</a:t>
            </a:r>
          </a:p>
          <a:p>
            <a:pPr marL="228600" indent="-228600">
              <a:buFontTx/>
              <a:buAutoNum type="arabicPeriod"/>
              <a:defRPr/>
            </a:pPr>
            <a:r>
              <a:rPr lang="en-US" kern="0" dirty="0" smtClean="0"/>
              <a:t>What structure separates the parietal and occipital lobes? </a:t>
            </a:r>
            <a:r>
              <a:rPr lang="en-US" u="sng" kern="0" dirty="0" err="1" smtClean="0"/>
              <a:t>Parieto</a:t>
            </a:r>
            <a:r>
              <a:rPr lang="en-US" u="sng" kern="0" dirty="0" smtClean="0"/>
              <a:t>-occipital sulcus.</a:t>
            </a:r>
          </a:p>
          <a:p>
            <a:pPr>
              <a:defRPr/>
            </a:pPr>
            <a:r>
              <a:rPr lang="en-US" u="sng" kern="0" dirty="0" smtClean="0"/>
              <a:t>FDG (</a:t>
            </a:r>
            <a:r>
              <a:rPr lang="en-US" u="sng" kern="0" dirty="0" err="1" smtClean="0"/>
              <a:t>fluorodeoxyglucose</a:t>
            </a:r>
            <a:r>
              <a:rPr lang="en-US" u="sng" kern="0" dirty="0" smtClean="0"/>
              <a:t>) PET demonstrates metabolism as tracer is taken up wherever glucose is utilized.  The brain utilizes glucose and is typically fairly </a:t>
            </a:r>
            <a:r>
              <a:rPr lang="en-US" u="sng" kern="0" dirty="0" err="1" smtClean="0"/>
              <a:t>hypermetabolic</a:t>
            </a:r>
            <a:r>
              <a:rPr lang="en-US" u="sng" kern="0" dirty="0" smtClean="0"/>
              <a:t>. </a:t>
            </a:r>
            <a:endParaRPr lang="en-US" sz="1100" u="sng" dirty="0" smtClean="0"/>
          </a:p>
          <a:p>
            <a:pPr>
              <a:defRPr/>
            </a:pPr>
            <a:endParaRPr lang="en-US" dirty="0" smtClean="0"/>
          </a:p>
          <a:p>
            <a:pPr>
              <a:defRPr/>
            </a:pPr>
            <a:r>
              <a:rPr lang="en-US" dirty="0" smtClean="0"/>
              <a:t>The </a:t>
            </a:r>
            <a:r>
              <a:rPr lang="en-US" dirty="0" err="1" smtClean="0"/>
              <a:t>parieto</a:t>
            </a:r>
            <a:r>
              <a:rPr lang="en-US" dirty="0" smtClean="0"/>
              <a:t>-occipital sulcus (purple line) separates the parietal lobe (yellow) anteriorly from the occipital lobe (blue) posteriorly and inferiorly</a:t>
            </a:r>
            <a:r>
              <a:rPr lang="en-US" smtClean="0"/>
              <a:t>.   </a:t>
            </a:r>
            <a:r>
              <a:rPr lang="en-US" dirty="0" smtClean="0"/>
              <a:t>Blue line</a:t>
            </a:r>
            <a:r>
              <a:rPr lang="en-US" baseline="0" dirty="0" smtClean="0"/>
              <a:t> – </a:t>
            </a:r>
            <a:r>
              <a:rPr lang="en-US" baseline="0" dirty="0" err="1" smtClean="0"/>
              <a:t>calcarine</a:t>
            </a:r>
            <a:r>
              <a:rPr lang="en-US" baseline="0" dirty="0" smtClean="0"/>
              <a:t> fissure</a:t>
            </a:r>
            <a:endParaRPr lang="en-US" dirty="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7523126E-CF95-4788-9A77-C3BBAB956DFE}" type="slidenum">
              <a:rPr lang="en-US" altLang="en-US" smtClean="0">
                <a:latin typeface="Calibri" panose="020F0502020204030204" pitchFamily="34" charset="0"/>
              </a:rPr>
              <a:pPr/>
              <a:t>7</a:t>
            </a:fld>
            <a:endParaRPr lang="en-US" altLang="en-US" smtClean="0">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Students</a:t>
            </a:r>
            <a:r>
              <a:rPr lang="en-US" baseline="0" dirty="0" smtClean="0"/>
              <a:t> will spend 2 min discussing these questions as a small group after which the teacher will reveal and discuss the answers</a:t>
            </a:r>
          </a:p>
          <a:p>
            <a:pPr>
              <a:defRPr/>
            </a:pPr>
            <a:endParaRPr lang="en-US" dirty="0" smtClean="0"/>
          </a:p>
          <a:p>
            <a:pPr>
              <a:defRPr/>
            </a:pPr>
            <a:r>
              <a:rPr lang="en-US" dirty="0" smtClean="0"/>
              <a:t>1. What lobe is involved? </a:t>
            </a:r>
            <a:r>
              <a:rPr lang="en-US" u="sng" dirty="0" smtClean="0"/>
              <a:t>Frontal Lobe.   </a:t>
            </a:r>
            <a:endParaRPr lang="en-US" u="sng" kern="0" dirty="0" smtClean="0"/>
          </a:p>
          <a:p>
            <a:pPr>
              <a:defRPr/>
            </a:pPr>
            <a:r>
              <a:rPr lang="en-US" kern="0" dirty="0" smtClean="0"/>
              <a:t>2. What anatomic structure separates the frontal and parietal lobes? </a:t>
            </a:r>
            <a:r>
              <a:rPr lang="en-US" u="sng" kern="0" dirty="0" smtClean="0"/>
              <a:t>Central sulcus</a:t>
            </a:r>
            <a:r>
              <a:rPr lang="en-US" kern="0" dirty="0" smtClean="0"/>
              <a:t>.  This can be located by finding the pars </a:t>
            </a:r>
            <a:r>
              <a:rPr lang="en-US" kern="0" dirty="0" err="1" smtClean="0"/>
              <a:t>marginalis</a:t>
            </a:r>
            <a:r>
              <a:rPr lang="en-US" kern="0" dirty="0" smtClean="0"/>
              <a:t> with the central sulcus immediately anterior to this structure.</a:t>
            </a:r>
          </a:p>
          <a:p>
            <a:pPr>
              <a:defRPr/>
            </a:pPr>
            <a:r>
              <a:rPr lang="en-US" kern="0" dirty="0" smtClean="0"/>
              <a:t>3. Is this motor or sensory? </a:t>
            </a:r>
            <a:r>
              <a:rPr lang="en-US" u="sng" dirty="0" smtClean="0"/>
              <a:t>The precentral gyrus (motor strip) is the posterior most aspect of the frontal lobe. The central sulcus separates it from the postcentral gyrus (part of the parietal lobe). </a:t>
            </a:r>
          </a:p>
          <a:p>
            <a:pPr>
              <a:defRPr/>
            </a:pPr>
            <a:r>
              <a:rPr lang="en-US" kern="0" dirty="0" smtClean="0"/>
              <a:t>4</a:t>
            </a:r>
            <a:r>
              <a:rPr lang="en-US" u="sng" kern="0" dirty="0" smtClean="0"/>
              <a:t>. </a:t>
            </a:r>
            <a:r>
              <a:rPr lang="en-US" kern="0" dirty="0" smtClean="0"/>
              <a:t>What is the hand motor knob? Structure with the appearance of an inverted omega within the medial precentral gyrus which is motor to the hand.  This is best seen on the right on the diffusion weighted image.</a:t>
            </a:r>
          </a:p>
          <a:p>
            <a:pPr>
              <a:defRPr/>
            </a:pPr>
            <a:endParaRPr lang="en-US" kern="0" dirty="0" smtClean="0"/>
          </a:p>
          <a:p>
            <a:pPr>
              <a:defRPr/>
            </a:pPr>
            <a:endParaRPr lang="en-US" dirty="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5ED5EF2A-DE3D-4B04-B3AB-DE1DA54CC560}" type="slidenum">
              <a:rPr lang="en-US" altLang="en-US" smtClean="0">
                <a:latin typeface="Calibri" panose="020F0502020204030204" pitchFamily="34" charset="0"/>
              </a:rPr>
              <a:pPr/>
              <a:t>8</a:t>
            </a:fld>
            <a:endParaRPr lang="en-US" altLang="en-US" smtClean="0">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a:defRPr/>
            </a:pPr>
            <a:r>
              <a:rPr lang="en-US" dirty="0" smtClean="0"/>
              <a:t>1. What lobe is involved? </a:t>
            </a:r>
            <a:r>
              <a:rPr lang="en-US" u="sng" dirty="0" smtClean="0"/>
              <a:t>Frontal Lobe.   </a:t>
            </a:r>
            <a:endParaRPr lang="en-US" u="sng" kern="0" dirty="0" smtClean="0"/>
          </a:p>
          <a:p>
            <a:pPr>
              <a:defRPr/>
            </a:pPr>
            <a:r>
              <a:rPr lang="en-US" kern="0" dirty="0" smtClean="0"/>
              <a:t>2. What anatomic structure separates the frontal and parietal lobes? </a:t>
            </a:r>
            <a:r>
              <a:rPr lang="en-US" u="sng" kern="0" dirty="0" smtClean="0"/>
              <a:t>Central sulcus</a:t>
            </a:r>
            <a:r>
              <a:rPr lang="en-US" kern="0" dirty="0" smtClean="0"/>
              <a:t>.  This can be located by finding the pars </a:t>
            </a:r>
            <a:r>
              <a:rPr lang="en-US" kern="0" dirty="0" err="1" smtClean="0"/>
              <a:t>marginalis</a:t>
            </a:r>
            <a:r>
              <a:rPr lang="en-US" kern="0" dirty="0" smtClean="0"/>
              <a:t> with the central sulcus immediately anterior to this structure.</a:t>
            </a:r>
          </a:p>
          <a:p>
            <a:pPr>
              <a:defRPr/>
            </a:pPr>
            <a:r>
              <a:rPr lang="en-US" kern="0" dirty="0" smtClean="0"/>
              <a:t>3. Is this motor or sensory? </a:t>
            </a:r>
            <a:r>
              <a:rPr lang="en-US" u="sng" dirty="0" smtClean="0"/>
              <a:t>The precentral gyrus (motor strip) is the posterior most aspect of the frontal lobe. The central sulcus separates it from the postcentral gyrus (part of the parietal lobe). </a:t>
            </a:r>
          </a:p>
          <a:p>
            <a:pPr>
              <a:defRPr/>
            </a:pPr>
            <a:r>
              <a:rPr lang="en-US" kern="0" dirty="0" smtClean="0"/>
              <a:t>4</a:t>
            </a:r>
            <a:r>
              <a:rPr lang="en-US" u="sng" kern="0" dirty="0" smtClean="0"/>
              <a:t>. </a:t>
            </a:r>
            <a:r>
              <a:rPr lang="en-US" kern="0" dirty="0" smtClean="0"/>
              <a:t>What is the hand motor knob? Structure with the appearance of an inverted omega within the medial precentral gyrus which is motor to the hand.  This is best seen on the right on the diffusion weighted image.</a:t>
            </a:r>
          </a:p>
          <a:p>
            <a:pPr>
              <a:defRPr/>
            </a:pPr>
            <a:endParaRPr lang="en-US" kern="0" dirty="0" smtClean="0"/>
          </a:p>
          <a:p>
            <a:pPr>
              <a:defRPr/>
            </a:pPr>
            <a:r>
              <a:rPr lang="en-US" dirty="0" smtClean="0"/>
              <a:t>The pars </a:t>
            </a:r>
            <a:r>
              <a:rPr lang="en-US" dirty="0" err="1" smtClean="0"/>
              <a:t>marginalis</a:t>
            </a:r>
            <a:r>
              <a:rPr lang="en-US" dirty="0" smtClean="0"/>
              <a:t> (light green) has been likened to a moustache or smiley face and can be located on axial imaging.  The central sulcus (blue line) is immediately anterior to the pars </a:t>
            </a:r>
            <a:r>
              <a:rPr lang="en-US" dirty="0" err="1" smtClean="0"/>
              <a:t>marginalis</a:t>
            </a:r>
            <a:r>
              <a:rPr lang="en-US" dirty="0" smtClean="0"/>
              <a:t> and separates the motor cortex of the frontal lobe anteriorly from the sensory cortex of the parietal lobe posteriorly.  The hand motor knob (HMK- yellow line) has the appearance of an inverted </a:t>
            </a:r>
            <a:r>
              <a:rPr lang="en-US" dirty="0" err="1" smtClean="0"/>
              <a:t>greek</a:t>
            </a:r>
            <a:r>
              <a:rPr lang="en-US" dirty="0" smtClean="0"/>
              <a:t> symbol omega and supplies motor function to the contralateral hand.</a:t>
            </a:r>
            <a:endParaRPr lang="en-US" dirty="0"/>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D526ED13-7FE0-4B33-8631-110C7DD49CFC}" type="slidenum">
              <a:rPr lang="en-US" altLang="en-US" smtClean="0">
                <a:latin typeface="Calibri" panose="020F0502020204030204" pitchFamily="34" charset="0"/>
              </a:rPr>
              <a:pPr/>
              <a:t>9</a:t>
            </a:fld>
            <a:endParaRPr lang="en-US" altLang="en-US" smtClean="0">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a:defRPr/>
            </a:pPr>
            <a:r>
              <a:rPr lang="en-US" dirty="0" smtClean="0"/>
              <a:t>Normal left ICA catheter angiogram shows the location of the cavernous ICA.</a:t>
            </a:r>
            <a:endParaRPr lang="en-US" dirty="0"/>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277A8ED9-1B5B-4B25-8E74-E0E3A63A15EB}" type="slidenum">
              <a:rPr lang="en-US" altLang="en-US" smtClean="0">
                <a:latin typeface="Calibri" panose="020F0502020204030204" pitchFamily="34" charset="0"/>
              </a:rPr>
              <a:pPr/>
              <a:t>11</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446758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a:defRPr/>
            </a:pPr>
            <a:r>
              <a:rPr lang="en-US" dirty="0" smtClean="0"/>
              <a:t>Abnormal catheter</a:t>
            </a:r>
            <a:r>
              <a:rPr lang="en-US" baseline="0" dirty="0" smtClean="0"/>
              <a:t> directed injection of the right ICA shows a fistula between the right ICA and the cavernous sinus. Around 02:00 sec, note the contrast within the bilateral cavernous sinuses and associated venous tributaries.</a:t>
            </a:r>
            <a:endParaRPr lang="en-US" dirty="0"/>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277A8ED9-1B5B-4B25-8E74-E0E3A63A15EB}" type="slidenum">
              <a:rPr lang="en-US" altLang="en-US" smtClean="0">
                <a:latin typeface="Calibri" panose="020F0502020204030204" pitchFamily="34" charset="0"/>
              </a:rPr>
              <a:pPr/>
              <a:t>12</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3399776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Right internal carotid injection</a:t>
            </a:r>
            <a:r>
              <a:rPr lang="en-US" baseline="0" dirty="0" smtClean="0"/>
              <a:t> before (right) and after (left) endovascular coiling of carotid cavernous fistula.</a:t>
            </a:r>
            <a:endParaRPr lang="en-US" dirty="0"/>
          </a:p>
        </p:txBody>
      </p:sp>
      <p:sp>
        <p:nvSpPr>
          <p:cNvPr id="4" name="Slide Number Placeholder 3"/>
          <p:cNvSpPr>
            <a:spLocks noGrp="1"/>
          </p:cNvSpPr>
          <p:nvPr>
            <p:ph type="sldNum" sz="quarter" idx="10"/>
          </p:nvPr>
        </p:nvSpPr>
        <p:spPr/>
        <p:txBody>
          <a:bodyPr/>
          <a:lstStyle/>
          <a:p>
            <a:pPr>
              <a:defRPr/>
            </a:pPr>
            <a:fld id="{2C9D91DA-CAD8-48BC-B864-358C91C766EB}" type="slidenum">
              <a:rPr lang="en-US" altLang="en-US" smtClean="0"/>
              <a:pPr>
                <a:defRPr/>
              </a:pPr>
              <a:t>13</a:t>
            </a:fld>
            <a:endParaRPr lang="en-US" altLang="en-US"/>
          </a:p>
        </p:txBody>
      </p:sp>
    </p:spTree>
    <p:extLst>
      <p:ext uri="{BB962C8B-B14F-4D97-AF65-F5344CB8AC3E}">
        <p14:creationId xmlns:p14="http://schemas.microsoft.com/office/powerpoint/2010/main" val="3254948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Carotid cavernous fistula by CTA showing the contrast in the cavernous sinus surrounding the ICAs.</a:t>
            </a:r>
            <a:endParaRPr lang="en-US" dirty="0"/>
          </a:p>
        </p:txBody>
      </p:sp>
      <p:sp>
        <p:nvSpPr>
          <p:cNvPr id="4" name="Slide Number Placeholder 3"/>
          <p:cNvSpPr>
            <a:spLocks noGrp="1"/>
          </p:cNvSpPr>
          <p:nvPr>
            <p:ph type="sldNum" sz="quarter" idx="10"/>
          </p:nvPr>
        </p:nvSpPr>
        <p:spPr/>
        <p:txBody>
          <a:bodyPr/>
          <a:lstStyle/>
          <a:p>
            <a:pPr>
              <a:defRPr/>
            </a:pPr>
            <a:fld id="{2C9D91DA-CAD8-48BC-B864-358C91C766EB}" type="slidenum">
              <a:rPr lang="en-US" altLang="en-US" smtClean="0"/>
              <a:pPr>
                <a:defRPr/>
              </a:pPr>
              <a:t>14</a:t>
            </a:fld>
            <a:endParaRPr lang="en-US" altLang="en-US"/>
          </a:p>
        </p:txBody>
      </p:sp>
    </p:spTree>
    <p:extLst>
      <p:ext uri="{BB962C8B-B14F-4D97-AF65-F5344CB8AC3E}">
        <p14:creationId xmlns:p14="http://schemas.microsoft.com/office/powerpoint/2010/main" val="2260719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The students will spend 20 minutes identifying the structures on the list using the provided T2 Space and CT images. </a:t>
            </a:r>
          </a:p>
          <a:p>
            <a:endParaRPr lang="en-US" dirty="0"/>
          </a:p>
        </p:txBody>
      </p:sp>
      <p:sp>
        <p:nvSpPr>
          <p:cNvPr id="4" name="Slide Number Placeholder 3"/>
          <p:cNvSpPr>
            <a:spLocks noGrp="1"/>
          </p:cNvSpPr>
          <p:nvPr>
            <p:ph type="sldNum" sz="quarter" idx="10"/>
          </p:nvPr>
        </p:nvSpPr>
        <p:spPr/>
        <p:txBody>
          <a:bodyPr/>
          <a:lstStyle/>
          <a:p>
            <a:pPr>
              <a:defRPr/>
            </a:pPr>
            <a:fld id="{2C9D91DA-CAD8-48BC-B864-358C91C766EB}" type="slidenum">
              <a:rPr lang="en-US" altLang="en-US" smtClean="0"/>
              <a:pPr>
                <a:defRPr/>
              </a:pPr>
              <a:t>15</a:t>
            </a:fld>
            <a:endParaRPr lang="en-US" altLang="en-US"/>
          </a:p>
        </p:txBody>
      </p:sp>
    </p:spTree>
    <p:extLst>
      <p:ext uri="{BB962C8B-B14F-4D97-AF65-F5344CB8AC3E}">
        <p14:creationId xmlns:p14="http://schemas.microsoft.com/office/powerpoint/2010/main" val="2848414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Students</a:t>
            </a:r>
            <a:r>
              <a:rPr lang="en-US" baseline="0" dirty="0" smtClean="0"/>
              <a:t> will spend 2 min discussing these questions as a small group after which the teacher will reveal and discuss the answers</a:t>
            </a:r>
          </a:p>
          <a:p>
            <a:pPr marL="0" indent="0">
              <a:buFontTx/>
              <a:buNone/>
              <a:defRPr/>
            </a:pPr>
            <a:endParaRPr lang="en-US" kern="0" dirty="0" smtClean="0"/>
          </a:p>
          <a:p>
            <a:pPr marL="228600" indent="-228600">
              <a:buFontTx/>
              <a:buAutoNum type="arabicPeriod"/>
              <a:defRPr/>
            </a:pPr>
            <a:r>
              <a:rPr lang="en-US" kern="0" dirty="0" smtClean="0"/>
              <a:t>What cranial nerve is at risk? </a:t>
            </a:r>
            <a:r>
              <a:rPr lang="en-US" u="sng" kern="0" dirty="0" smtClean="0"/>
              <a:t>Olfactory Nerve</a:t>
            </a:r>
          </a:p>
          <a:p>
            <a:pPr marL="228600" indent="-228600">
              <a:buFontTx/>
              <a:buAutoNum type="arabicPeriod"/>
              <a:defRPr/>
            </a:pPr>
            <a:r>
              <a:rPr lang="en-US" kern="0" dirty="0" smtClean="0"/>
              <a:t>Inferior frontal and anterior temporal lobes will impact upon the </a:t>
            </a:r>
            <a:r>
              <a:rPr lang="en-US" kern="0" dirty="0" err="1" smtClean="0"/>
              <a:t>skullbase</a:t>
            </a:r>
            <a:r>
              <a:rPr lang="en-US" kern="0" dirty="0" smtClean="0"/>
              <a:t>.</a:t>
            </a:r>
          </a:p>
          <a:p>
            <a:pPr>
              <a:defRPr/>
            </a:pPr>
            <a:endParaRPr lang="en-US" dirty="0"/>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277A8ED9-1B5B-4B25-8E74-E0E3A63A15EB}" type="slidenum">
              <a:rPr lang="en-US" altLang="en-US" smtClean="0">
                <a:latin typeface="Calibri" panose="020F0502020204030204" pitchFamily="34" charset="0"/>
              </a:rPr>
              <a:pPr/>
              <a:t>16</a:t>
            </a:fld>
            <a:endParaRPr lang="en-US" altLang="en-US" smtClean="0">
              <a:latin typeface="Calibri" panose="020F050202020403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228600" indent="-228600">
              <a:buFontTx/>
              <a:buAutoNum type="arabicPeriod"/>
              <a:defRPr/>
            </a:pPr>
            <a:r>
              <a:rPr lang="en-US" kern="0" dirty="0" smtClean="0"/>
              <a:t>What cranial nerve is at risk? </a:t>
            </a:r>
            <a:r>
              <a:rPr lang="en-US" u="sng" kern="0" dirty="0" smtClean="0"/>
              <a:t>Olfactory Nerve</a:t>
            </a:r>
          </a:p>
          <a:p>
            <a:pPr marL="228600" indent="-228600">
              <a:buFontTx/>
              <a:buAutoNum type="arabicPeriod"/>
              <a:defRPr/>
            </a:pPr>
            <a:r>
              <a:rPr lang="en-US" kern="0" dirty="0" smtClean="0"/>
              <a:t>Inferior frontal and anterior temporal lobes will impact upon the </a:t>
            </a:r>
            <a:r>
              <a:rPr lang="en-US" kern="0" dirty="0" err="1" smtClean="0"/>
              <a:t>skullbase</a:t>
            </a:r>
            <a:r>
              <a:rPr lang="en-US" kern="0" dirty="0" smtClean="0"/>
              <a:t>.</a:t>
            </a:r>
          </a:p>
          <a:p>
            <a:pPr>
              <a:defRPr/>
            </a:pPr>
            <a:endParaRPr lang="en-US" dirty="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0810F557-540A-488D-ABF7-09D36456808C}" type="slidenum">
              <a:rPr lang="en-US" altLang="en-US" smtClean="0">
                <a:latin typeface="Calibri" panose="020F0502020204030204" pitchFamily="34" charset="0"/>
              </a:rPr>
              <a:pPr/>
              <a:t>17</a:t>
            </a:fld>
            <a:endParaRPr lang="en-US" altLang="en-US" smtClean="0">
              <a:latin typeface="Calibri" panose="020F050202020403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Students</a:t>
            </a:r>
            <a:r>
              <a:rPr lang="en-US" baseline="0" dirty="0" smtClean="0"/>
              <a:t> will spend 2 min discussing these questions as a small group after which the teacher will reveal and discuss the answers</a:t>
            </a:r>
          </a:p>
          <a:p>
            <a:pPr marL="0" indent="0">
              <a:buFontTx/>
              <a:buNone/>
              <a:defRPr/>
            </a:pPr>
            <a:endParaRPr lang="en-US" dirty="0" smtClean="0"/>
          </a:p>
          <a:p>
            <a:pPr marL="228600" indent="-228600">
              <a:buFontTx/>
              <a:buAutoNum type="arabicPeriod"/>
              <a:defRPr/>
            </a:pPr>
            <a:endParaRPr lang="en-US" dirty="0" smtClean="0"/>
          </a:p>
          <a:p>
            <a:pPr marL="228600" indent="-228600">
              <a:buFontTx/>
              <a:buAutoNum type="arabicPeriod"/>
              <a:defRPr/>
            </a:pPr>
            <a:r>
              <a:rPr lang="en-US" dirty="0" smtClean="0"/>
              <a:t>Name the </a:t>
            </a:r>
            <a:r>
              <a:rPr lang="en-US" dirty="0" err="1" smtClean="0"/>
              <a:t>skullbase</a:t>
            </a:r>
            <a:r>
              <a:rPr lang="en-US" dirty="0" smtClean="0"/>
              <a:t> foramina labelled by the arrow. </a:t>
            </a:r>
            <a:r>
              <a:rPr lang="en-US" u="sng" dirty="0" smtClean="0"/>
              <a:t>Foramen </a:t>
            </a:r>
            <a:r>
              <a:rPr lang="en-US" u="sng" dirty="0" err="1" smtClean="0"/>
              <a:t>rotundum</a:t>
            </a:r>
            <a:r>
              <a:rPr lang="en-US" dirty="0" smtClean="0"/>
              <a:t>.</a:t>
            </a:r>
          </a:p>
          <a:p>
            <a:pPr marL="228600" indent="-228600">
              <a:buFontTx/>
              <a:buAutoNum type="arabicPeriod"/>
              <a:defRPr/>
            </a:pPr>
            <a:r>
              <a:rPr lang="en-US" dirty="0" smtClean="0"/>
              <a:t>What nerve passes through this structure? </a:t>
            </a:r>
            <a:r>
              <a:rPr lang="en-US" u="sng" dirty="0" smtClean="0"/>
              <a:t>Maxillary nerve (2</a:t>
            </a:r>
            <a:r>
              <a:rPr lang="en-US" u="sng" baseline="30000" dirty="0" smtClean="0"/>
              <a:t>nd</a:t>
            </a:r>
            <a:r>
              <a:rPr lang="en-US" u="sng" dirty="0" smtClean="0"/>
              <a:t> division of the trigeminal nerve)</a:t>
            </a:r>
          </a:p>
          <a:p>
            <a:pPr marL="228600" indent="-228600">
              <a:buFontTx/>
              <a:buAutoNum type="arabicPeriod"/>
              <a:defRPr/>
            </a:pPr>
            <a:r>
              <a:rPr lang="en-US" dirty="0" smtClean="0"/>
              <a:t>What would be the distribution of this patient’s pain?  </a:t>
            </a:r>
            <a:r>
              <a:rPr lang="en-US" u="sng" dirty="0" smtClean="0"/>
              <a:t>Right maxilla and upper teeth</a:t>
            </a:r>
            <a:endParaRPr lang="en-US" u="sng" kern="0" dirty="0" smtClean="0"/>
          </a:p>
          <a:p>
            <a:pPr>
              <a:defRPr/>
            </a:pPr>
            <a:endParaRPr lang="en-US" dirty="0"/>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1005C060-AB28-4A67-BA80-995F96153CFE}" type="slidenum">
              <a:rPr lang="en-US" altLang="en-US" smtClean="0">
                <a:latin typeface="Calibri" panose="020F0502020204030204" pitchFamily="34" charset="0"/>
              </a:rPr>
              <a:pPr/>
              <a:t>18</a:t>
            </a:fld>
            <a:endParaRPr lang="en-US" altLang="en-US" smtClean="0">
              <a:latin typeface="Calibri" panose="020F050202020403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a:defRPr/>
            </a:pPr>
            <a:r>
              <a:rPr lang="en-US" dirty="0" smtClean="0">
                <a:solidFill>
                  <a:srgbClr val="00B0F0"/>
                </a:solidFill>
              </a:rPr>
              <a:t> </a:t>
            </a:r>
            <a:endParaRPr lang="en-US" dirty="0" smtClean="0"/>
          </a:p>
          <a:p>
            <a:pPr marL="228600" indent="-228600">
              <a:buFontTx/>
              <a:buAutoNum type="arabicPeriod"/>
              <a:defRPr/>
            </a:pPr>
            <a:r>
              <a:rPr lang="en-US" dirty="0" smtClean="0"/>
              <a:t>Name the </a:t>
            </a:r>
            <a:r>
              <a:rPr lang="en-US" dirty="0" err="1" smtClean="0"/>
              <a:t>skullbase</a:t>
            </a:r>
            <a:r>
              <a:rPr lang="en-US" dirty="0" smtClean="0"/>
              <a:t> foramina labelled by the arrow. </a:t>
            </a:r>
            <a:r>
              <a:rPr lang="en-US" u="sng" dirty="0" smtClean="0"/>
              <a:t>Foramen </a:t>
            </a:r>
            <a:r>
              <a:rPr lang="en-US" u="sng" dirty="0" err="1" smtClean="0"/>
              <a:t>rotundum</a:t>
            </a:r>
            <a:r>
              <a:rPr lang="en-US" dirty="0" smtClean="0"/>
              <a:t>.</a:t>
            </a:r>
          </a:p>
          <a:p>
            <a:pPr marL="228600" indent="-228600">
              <a:buFontTx/>
              <a:buAutoNum type="arabicPeriod"/>
              <a:defRPr/>
            </a:pPr>
            <a:r>
              <a:rPr lang="en-US" dirty="0" smtClean="0"/>
              <a:t>What nerve passes through this structure? </a:t>
            </a:r>
            <a:r>
              <a:rPr lang="en-US" u="sng" dirty="0" smtClean="0"/>
              <a:t>Maxillary nerve (2</a:t>
            </a:r>
            <a:r>
              <a:rPr lang="en-US" u="sng" baseline="30000" dirty="0" smtClean="0"/>
              <a:t>nd</a:t>
            </a:r>
            <a:r>
              <a:rPr lang="en-US" u="sng" dirty="0" smtClean="0"/>
              <a:t> division of the trigeminal nerve)</a:t>
            </a:r>
          </a:p>
          <a:p>
            <a:pPr marL="228600" indent="-228600">
              <a:buFontTx/>
              <a:buAutoNum type="arabicPeriod"/>
              <a:defRPr/>
            </a:pPr>
            <a:r>
              <a:rPr lang="en-US" dirty="0" smtClean="0"/>
              <a:t>What would be the distribution of this patient’s pain?  </a:t>
            </a:r>
            <a:r>
              <a:rPr lang="en-US" u="sng" dirty="0" smtClean="0"/>
              <a:t>Right maxilla and upper teeth</a:t>
            </a:r>
            <a:endParaRPr lang="en-US" u="sng" kern="0" dirty="0" smtClean="0"/>
          </a:p>
          <a:p>
            <a:pPr>
              <a:defRPr/>
            </a:pPr>
            <a:endParaRPr lang="en-US" dirty="0"/>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BBEA9BD5-13AE-432B-AA71-9F54C5075451}" type="slidenum">
              <a:rPr lang="en-US" altLang="en-US" smtClean="0">
                <a:latin typeface="Calibri" panose="020F0502020204030204" pitchFamily="34" charset="0"/>
              </a:rPr>
              <a:pPr/>
              <a:t>19</a:t>
            </a:fld>
            <a:endParaRPr lang="en-US" altLang="en-US" smtClean="0">
              <a:latin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students will spend 10 minutes identifying the structures on the list using the provided CT</a:t>
            </a:r>
            <a:endParaRPr lang="en-US" dirty="0"/>
          </a:p>
        </p:txBody>
      </p:sp>
      <p:sp>
        <p:nvSpPr>
          <p:cNvPr id="4" name="Slide Number Placeholder 3"/>
          <p:cNvSpPr>
            <a:spLocks noGrp="1"/>
          </p:cNvSpPr>
          <p:nvPr>
            <p:ph type="sldNum" sz="quarter" idx="10"/>
          </p:nvPr>
        </p:nvSpPr>
        <p:spPr/>
        <p:txBody>
          <a:bodyPr/>
          <a:lstStyle/>
          <a:p>
            <a:pPr>
              <a:defRPr/>
            </a:pPr>
            <a:fld id="{2C9D91DA-CAD8-48BC-B864-358C91C766EB}" type="slidenum">
              <a:rPr lang="en-US" altLang="en-US" smtClean="0"/>
              <a:pPr>
                <a:defRPr/>
              </a:pPr>
              <a:t>21</a:t>
            </a:fld>
            <a:endParaRPr lang="en-US" altLang="en-US"/>
          </a:p>
        </p:txBody>
      </p:sp>
    </p:spTree>
    <p:extLst>
      <p:ext uri="{BB962C8B-B14F-4D97-AF65-F5344CB8AC3E}">
        <p14:creationId xmlns:p14="http://schemas.microsoft.com/office/powerpoint/2010/main" val="4172333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students will spend 15 minutes identifying the structures on the list using the provided T2 SPACE and CT images</a:t>
            </a:r>
            <a:endParaRPr lang="en-US" dirty="0"/>
          </a:p>
        </p:txBody>
      </p:sp>
      <p:sp>
        <p:nvSpPr>
          <p:cNvPr id="4" name="Slide Number Placeholder 3"/>
          <p:cNvSpPr>
            <a:spLocks noGrp="1"/>
          </p:cNvSpPr>
          <p:nvPr>
            <p:ph type="sldNum" sz="quarter" idx="10"/>
          </p:nvPr>
        </p:nvSpPr>
        <p:spPr/>
        <p:txBody>
          <a:bodyPr/>
          <a:lstStyle/>
          <a:p>
            <a:pPr>
              <a:defRPr/>
            </a:pPr>
            <a:fld id="{2C9D91DA-CAD8-48BC-B864-358C91C766EB}" type="slidenum">
              <a:rPr lang="en-US" altLang="en-US" smtClean="0"/>
              <a:pPr>
                <a:defRPr/>
              </a:pPr>
              <a:t>22</a:t>
            </a:fld>
            <a:endParaRPr lang="en-US" altLang="en-US"/>
          </a:p>
        </p:txBody>
      </p:sp>
    </p:spTree>
    <p:extLst>
      <p:ext uri="{BB962C8B-B14F-4D97-AF65-F5344CB8AC3E}">
        <p14:creationId xmlns:p14="http://schemas.microsoft.com/office/powerpoint/2010/main" val="40597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Wingdings" pitchFamily="2" charset="2"/>
              <a:buNone/>
              <a:tabLst/>
              <a:defRPr/>
            </a:pPr>
            <a:r>
              <a:rPr lang="en-US" dirty="0" smtClean="0"/>
              <a:t>Students</a:t>
            </a:r>
            <a:r>
              <a:rPr lang="en-US" baseline="0" dirty="0" smtClean="0"/>
              <a:t> will spend 2 min discussing these questions as a small group after which the teacher will reveal and discuss the answers</a:t>
            </a:r>
          </a:p>
          <a:p>
            <a:pPr marL="0" indent="0">
              <a:buFont typeface="Wingdings" pitchFamily="2" charset="2"/>
              <a:buNone/>
              <a:defRPr/>
            </a:pPr>
            <a:endParaRPr lang="en-US" kern="0" dirty="0" smtClean="0"/>
          </a:p>
          <a:p>
            <a:pPr marL="514350" indent="-514350">
              <a:buFont typeface="Wingdings" pitchFamily="2" charset="2"/>
              <a:buAutoNum type="arabicPeriod"/>
              <a:defRPr/>
            </a:pPr>
            <a:r>
              <a:rPr lang="en-US" kern="0" dirty="0" smtClean="0"/>
              <a:t>What cranial nerve is involved in this patient with facial weakness? </a:t>
            </a:r>
            <a:r>
              <a:rPr lang="en-US" u="sng" kern="0" dirty="0" smtClean="0"/>
              <a:t>Left Facial Nerve</a:t>
            </a:r>
          </a:p>
          <a:p>
            <a:pPr marL="514350" indent="-514350">
              <a:buFont typeface="Wingdings" pitchFamily="2" charset="2"/>
              <a:buAutoNum type="arabicPeriod"/>
              <a:defRPr/>
            </a:pPr>
            <a:r>
              <a:rPr lang="en-US" dirty="0" smtClean="0"/>
              <a:t>Would this patient be expected to be able to lift his eyebrows or wrinkle his forehead?  </a:t>
            </a:r>
            <a:r>
              <a:rPr lang="en-US" u="sng" dirty="0" smtClean="0"/>
              <a:t>No, peripheral facial nerve lesions do not spare the forehead. </a:t>
            </a:r>
            <a:endParaRPr lang="en-US" u="sng" kern="0" dirty="0" smtClean="0"/>
          </a:p>
          <a:p>
            <a:pPr>
              <a:defRPr/>
            </a:pPr>
            <a:endParaRPr lang="en-US" dirty="0"/>
          </a:p>
        </p:txBody>
      </p:sp>
      <p:sp>
        <p:nvSpPr>
          <p:cNvPr id="389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9E97C2CB-9830-4066-A983-8E6D988D4978}" type="slidenum">
              <a:rPr lang="en-US" altLang="en-US" smtClean="0">
                <a:latin typeface="Calibri" panose="020F0502020204030204" pitchFamily="34" charset="0"/>
              </a:rPr>
              <a:pPr/>
              <a:t>23</a:t>
            </a:fld>
            <a:endParaRPr lang="en-US" altLang="en-US" smtClean="0">
              <a:latin typeface="Calibri" panose="020F050202020403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514350" indent="-514350">
              <a:buFont typeface="Wingdings" pitchFamily="2" charset="2"/>
              <a:buAutoNum type="arabicPeriod"/>
              <a:defRPr/>
            </a:pPr>
            <a:r>
              <a:rPr lang="en-US" kern="0" dirty="0" smtClean="0"/>
              <a:t>What cranial nerve is involved in this patient with facial weakness? </a:t>
            </a:r>
            <a:r>
              <a:rPr lang="en-US" u="sng" kern="0" dirty="0" smtClean="0"/>
              <a:t>Left Facial Nerve. There is enhancement along the </a:t>
            </a:r>
            <a:r>
              <a:rPr lang="en-US" u="sng" kern="0" dirty="0" err="1" smtClean="0"/>
              <a:t>intracanalicular</a:t>
            </a:r>
            <a:r>
              <a:rPr lang="en-US" u="sng" kern="0" dirty="0" smtClean="0"/>
              <a:t> segment of the facial nerve at the fundus extending into the labyrinthine and visualized tympanic segments of the left facial nerve with involvement of the greater superficial petrosal nerve extending </a:t>
            </a:r>
            <a:r>
              <a:rPr lang="en-US" u="sng" kern="0" dirty="0" err="1" smtClean="0"/>
              <a:t>anteromedially</a:t>
            </a:r>
            <a:r>
              <a:rPr lang="en-US" u="sng" kern="0" dirty="0" smtClean="0"/>
              <a:t> from the geniculate ganglion.</a:t>
            </a:r>
          </a:p>
          <a:p>
            <a:pPr marL="514350" indent="-514350">
              <a:buFont typeface="Wingdings" pitchFamily="2" charset="2"/>
              <a:buAutoNum type="arabicPeriod"/>
              <a:defRPr/>
            </a:pPr>
            <a:r>
              <a:rPr lang="en-US" dirty="0" smtClean="0"/>
              <a:t>Would this patient be expected to be able to lift his eyebrows or wrinkle his forehead?  </a:t>
            </a:r>
            <a:r>
              <a:rPr lang="en-US" u="sng" dirty="0" smtClean="0"/>
              <a:t>No, peripheral facial nerve lesions do not spare the forehead. </a:t>
            </a:r>
            <a:endParaRPr lang="en-US" u="sng" kern="0" dirty="0" smtClean="0"/>
          </a:p>
          <a:p>
            <a:pPr>
              <a:defRPr/>
            </a:pPr>
            <a:endParaRPr lang="en-US" dirty="0"/>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37B405BF-4F55-4377-8116-D895FA0B33F3}" type="slidenum">
              <a:rPr lang="en-US" altLang="en-US" smtClean="0">
                <a:latin typeface="Calibri" panose="020F0502020204030204" pitchFamily="34" charset="0"/>
              </a:rPr>
              <a:pPr/>
              <a:t>24</a:t>
            </a:fld>
            <a:endParaRPr lang="en-US" altLang="en-US" smtClean="0">
              <a:latin typeface="Calibri" panose="020F050202020403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228600" indent="-228600">
              <a:buFontTx/>
              <a:buAutoNum type="arabicPeriod"/>
              <a:defRPr/>
            </a:pPr>
            <a:r>
              <a:rPr lang="en-US" dirty="0" smtClean="0"/>
              <a:t>Where is this lesion centered anatomically? </a:t>
            </a:r>
            <a:r>
              <a:rPr lang="en-US" u="sng" dirty="0" smtClean="0"/>
              <a:t>The jugular foramen. </a:t>
            </a:r>
          </a:p>
          <a:p>
            <a:pPr marL="228600" indent="-228600">
              <a:buFontTx/>
              <a:buAutoNum type="arabicPeriod"/>
              <a:defRPr/>
            </a:pPr>
            <a:r>
              <a:rPr lang="en-US" dirty="0" smtClean="0"/>
              <a:t>What cranial nerves pass through this anatomic region? </a:t>
            </a:r>
            <a:r>
              <a:rPr lang="en-US" u="sng" dirty="0" smtClean="0"/>
              <a:t>Glossopharyngeal, </a:t>
            </a:r>
            <a:r>
              <a:rPr lang="en-US" u="sng" dirty="0" err="1" smtClean="0"/>
              <a:t>Vagus</a:t>
            </a:r>
            <a:r>
              <a:rPr lang="en-US" u="sng" dirty="0" smtClean="0"/>
              <a:t>, Spinal Accessory, and Hypoglossal Nerves (IX-XII).  This is the carotid space through which pass the internal carotid artery, internal jugular vein, sympathetic chain and cranial nerves IX-XII</a:t>
            </a:r>
            <a:endParaRPr lang="en-US" u="sng" kern="0" dirty="0" smtClean="0"/>
          </a:p>
          <a:p>
            <a:pPr>
              <a:defRPr/>
            </a:pPr>
            <a:endParaRPr lang="en-US" dirty="0"/>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89881198-616F-4698-BFCF-0442826AEF36}" type="slidenum">
              <a:rPr lang="en-US" altLang="en-US" smtClean="0">
                <a:latin typeface="Calibri" panose="020F0502020204030204" pitchFamily="34" charset="0"/>
              </a:rPr>
              <a:pPr/>
              <a:t>25</a:t>
            </a:fld>
            <a:endParaRPr lang="en-US" altLang="en-US" smtClean="0">
              <a:latin typeface="Calibri" panose="020F050202020403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228600" indent="-228600">
              <a:buFontTx/>
              <a:buAutoNum type="arabicPeriod"/>
              <a:defRPr/>
            </a:pPr>
            <a:r>
              <a:rPr lang="en-US" dirty="0" smtClean="0"/>
              <a:t>Where is this lesion centered anatomically? </a:t>
            </a:r>
            <a:r>
              <a:rPr lang="en-US" u="sng" dirty="0" smtClean="0"/>
              <a:t>The jugular foramen. </a:t>
            </a:r>
          </a:p>
          <a:p>
            <a:pPr marL="228600" indent="-228600">
              <a:buFontTx/>
              <a:buAutoNum type="arabicPeriod"/>
              <a:defRPr/>
            </a:pPr>
            <a:r>
              <a:rPr lang="en-US" dirty="0" smtClean="0"/>
              <a:t>What cranial nerves pass through this anatomic region? </a:t>
            </a:r>
            <a:r>
              <a:rPr lang="en-US" u="sng" dirty="0" smtClean="0"/>
              <a:t>Glossopharyngeal, </a:t>
            </a:r>
            <a:r>
              <a:rPr lang="en-US" u="sng" dirty="0" err="1" smtClean="0"/>
              <a:t>Vagus</a:t>
            </a:r>
            <a:r>
              <a:rPr lang="en-US" u="sng" dirty="0" smtClean="0"/>
              <a:t>, Spinal Accessory, and Hypoglossal Nerves (IX-XII).  This is the carotid space through which pass the internal carotid artery, internal jugular vein, sympathetic chain and cranial nerves IX-XII</a:t>
            </a:r>
          </a:p>
          <a:p>
            <a:pPr>
              <a:defRPr/>
            </a:pPr>
            <a:endParaRPr lang="en-US" u="sng" kern="0" dirty="0" smtClean="0"/>
          </a:p>
          <a:p>
            <a:pPr>
              <a:defRPr/>
            </a:pPr>
            <a:r>
              <a:rPr lang="en-US" kern="0" dirty="0" smtClean="0"/>
              <a:t>The jugular spine (purple arrow) separates the pars </a:t>
            </a:r>
            <a:r>
              <a:rPr lang="en-US" kern="0" dirty="0" err="1" smtClean="0"/>
              <a:t>vascularis</a:t>
            </a:r>
            <a:r>
              <a:rPr lang="en-US" kern="0" dirty="0" smtClean="0"/>
              <a:t> posteriorly from the pars nervosa anteriorly.  The jugular vein passes through the pars </a:t>
            </a:r>
            <a:r>
              <a:rPr lang="en-US" kern="0" dirty="0" err="1" smtClean="0"/>
              <a:t>vascularis</a:t>
            </a:r>
            <a:r>
              <a:rPr lang="en-US" kern="0" dirty="0" smtClean="0"/>
              <a:t> along with cranial nerves X and XI.  The inferior petrosal sinus passes through pars nervosa along with cranial nerve IX.  This lesion extends </a:t>
            </a:r>
            <a:r>
              <a:rPr lang="en-US" kern="0" dirty="0" err="1" smtClean="0"/>
              <a:t>superolaterally</a:t>
            </a:r>
            <a:r>
              <a:rPr lang="en-US" kern="0" dirty="0" smtClean="0"/>
              <a:t> into the middle ear (coronal image) and represents a glomus </a:t>
            </a:r>
            <a:r>
              <a:rPr lang="en-US" kern="0" dirty="0" err="1" smtClean="0"/>
              <a:t>jugulotympanicum</a:t>
            </a:r>
            <a:r>
              <a:rPr lang="en-US" kern="0" dirty="0" smtClean="0"/>
              <a:t>.</a:t>
            </a:r>
          </a:p>
          <a:p>
            <a:pPr>
              <a:defRPr/>
            </a:pPr>
            <a:endParaRPr lang="en-US" dirty="0"/>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fld id="{68562446-4CB6-4FAA-9F7B-87E6E1BF922E}" type="slidenum">
              <a:rPr lang="en-US" altLang="en-US" smtClean="0">
                <a:latin typeface="Calibri" panose="020F0502020204030204" pitchFamily="34" charset="0"/>
              </a:rPr>
              <a:pPr/>
              <a:t>26</a:t>
            </a:fld>
            <a:endParaRPr lang="en-US" altLang="en-US" smtClean="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5238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415493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6067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4006148"/>
            <a:ext cx="103632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Tree>
    <p:extLst>
      <p:ext uri="{BB962C8B-B14F-4D97-AF65-F5344CB8AC3E}">
        <p14:creationId xmlns:p14="http://schemas.microsoft.com/office/powerpoint/2010/main" val="4002010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9200" y="1447801"/>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2400" y="1447801"/>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6490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712568"/>
            <a:ext cx="5386917"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712568"/>
            <a:ext cx="5389033"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280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08408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2743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24012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331886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591222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856200" y="1447801"/>
            <a:ext cx="6726200" cy="232435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1939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227013"/>
            <a:ext cx="2590800" cy="3522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0184" y="227013"/>
            <a:ext cx="2848216" cy="35226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9349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51833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5238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988713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34199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4006148"/>
            <a:ext cx="103632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Tree>
    <p:extLst>
      <p:ext uri="{BB962C8B-B14F-4D97-AF65-F5344CB8AC3E}">
        <p14:creationId xmlns:p14="http://schemas.microsoft.com/office/powerpoint/2010/main" val="25002019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9200" y="1447801"/>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2400" y="1447801"/>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389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712568"/>
            <a:ext cx="5386917"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712568"/>
            <a:ext cx="5389033"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705690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481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42689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24012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4237721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9596957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856200" y="1447801"/>
            <a:ext cx="6726200" cy="232435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63971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227013"/>
            <a:ext cx="2590800" cy="3522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0184" y="227013"/>
            <a:ext cx="2848216" cy="35226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35167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219200" y="227013"/>
            <a:ext cx="10363200" cy="914400"/>
          </a:xfrm>
        </p:spPr>
        <p:txBody>
          <a:bodyPr/>
          <a:lstStyle/>
          <a:p>
            <a:r>
              <a:rPr lang="en-US"/>
              <a:t>Click to edit Master title style</a:t>
            </a:r>
          </a:p>
        </p:txBody>
      </p:sp>
      <p:sp>
        <p:nvSpPr>
          <p:cNvPr id="3" name="Content Placeholder 2"/>
          <p:cNvSpPr>
            <a:spLocks noGrp="1"/>
          </p:cNvSpPr>
          <p:nvPr>
            <p:ph sz="quarter" idx="1"/>
          </p:nvPr>
        </p:nvSpPr>
        <p:spPr>
          <a:xfrm>
            <a:off x="1219200" y="1447800"/>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502400" y="1447800"/>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219200" y="2674939"/>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502400" y="2674939"/>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36339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227013"/>
            <a:ext cx="10363200" cy="914400"/>
          </a:xfrm>
        </p:spPr>
        <p:txBody>
          <a:bodyPr/>
          <a:lstStyle/>
          <a:p>
            <a:r>
              <a:rPr lang="en-US"/>
              <a:t>Click to edit Master title style</a:t>
            </a:r>
          </a:p>
        </p:txBody>
      </p:sp>
      <p:sp>
        <p:nvSpPr>
          <p:cNvPr id="3" name="Text Placeholder 2"/>
          <p:cNvSpPr>
            <a:spLocks noGrp="1"/>
          </p:cNvSpPr>
          <p:nvPr>
            <p:ph type="body" sz="half" idx="1"/>
          </p:nvPr>
        </p:nvSpPr>
        <p:spPr>
          <a:xfrm>
            <a:off x="1219200" y="1447801"/>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2400" y="1447801"/>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8046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219200" y="227013"/>
            <a:ext cx="103632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97799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227013"/>
            <a:ext cx="10363200" cy="914400"/>
          </a:xfrm>
        </p:spPr>
        <p:txBody>
          <a:bodyPr/>
          <a:lstStyle/>
          <a:p>
            <a:r>
              <a:rPr lang="en-US"/>
              <a:t>Click to edit Master title style</a:t>
            </a:r>
          </a:p>
        </p:txBody>
      </p:sp>
      <p:sp>
        <p:nvSpPr>
          <p:cNvPr id="3" name="Text Placeholder 2"/>
          <p:cNvSpPr>
            <a:spLocks noGrp="1"/>
          </p:cNvSpPr>
          <p:nvPr>
            <p:ph type="body" sz="half" idx="1"/>
          </p:nvPr>
        </p:nvSpPr>
        <p:spPr>
          <a:xfrm>
            <a:off x="1219200" y="1447801"/>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502400" y="1447800"/>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502400" y="2674939"/>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99736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41331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5238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EC60A623-C8F8-4260-9B31-848E6B026E7A}" type="slidenum">
              <a:rPr lang="en-US" altLang="en-US"/>
              <a:pPr>
                <a:defRPr/>
              </a:pPr>
              <a:t>‹#›</a:t>
            </a:fld>
            <a:endParaRPr lang="en-US" altLang="en-US"/>
          </a:p>
        </p:txBody>
      </p:sp>
    </p:spTree>
    <p:extLst>
      <p:ext uri="{BB962C8B-B14F-4D97-AF65-F5344CB8AC3E}">
        <p14:creationId xmlns:p14="http://schemas.microsoft.com/office/powerpoint/2010/main" val="2997495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1551C687-FD4D-4AA3-982C-2C2A0DC02EDE}" type="slidenum">
              <a:rPr lang="en-US" altLang="en-US"/>
              <a:pPr>
                <a:defRPr/>
              </a:pPr>
              <a:t>‹#›</a:t>
            </a:fld>
            <a:endParaRPr lang="en-US" altLang="en-US"/>
          </a:p>
        </p:txBody>
      </p:sp>
    </p:spTree>
    <p:extLst>
      <p:ext uri="{BB962C8B-B14F-4D97-AF65-F5344CB8AC3E}">
        <p14:creationId xmlns:p14="http://schemas.microsoft.com/office/powerpoint/2010/main" val="252987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4006148"/>
            <a:ext cx="103632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3D5E2824-140B-44C3-9A53-9C6C5F927AB0}" type="slidenum">
              <a:rPr lang="en-US" altLang="en-US"/>
              <a:pPr>
                <a:defRPr/>
              </a:pPr>
              <a:t>‹#›</a:t>
            </a:fld>
            <a:endParaRPr lang="en-US" altLang="en-US"/>
          </a:p>
        </p:txBody>
      </p:sp>
    </p:spTree>
    <p:extLst>
      <p:ext uri="{BB962C8B-B14F-4D97-AF65-F5344CB8AC3E}">
        <p14:creationId xmlns:p14="http://schemas.microsoft.com/office/powerpoint/2010/main" val="4294880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9200" y="1447801"/>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2400" y="1447801"/>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6"/>
          <p:cNvSpPr>
            <a:spLocks noGrp="1"/>
          </p:cNvSpPr>
          <p:nvPr>
            <p:ph type="dt" sz="half" idx="10"/>
          </p:nvPr>
        </p:nvSpPr>
        <p:spPr/>
        <p:txBody>
          <a:bodyPr/>
          <a:lstStyle>
            <a:lvl1pPr>
              <a:defRPr/>
            </a:lvl1pPr>
          </a:lstStyle>
          <a:p>
            <a:pPr>
              <a:defRPr/>
            </a:pPr>
            <a:endParaRPr lang="en-US"/>
          </a:p>
        </p:txBody>
      </p:sp>
      <p:sp>
        <p:nvSpPr>
          <p:cNvPr id="6" name="Footer Placeholder 7"/>
          <p:cNvSpPr>
            <a:spLocks noGrp="1"/>
          </p:cNvSpPr>
          <p:nvPr>
            <p:ph type="ftr" sz="quarter" idx="11"/>
          </p:nvPr>
        </p:nvSpPr>
        <p:spPr/>
        <p:txBody>
          <a:bodyPr/>
          <a:lstStyle>
            <a:lvl1pPr>
              <a:defRPr/>
            </a:lvl1pPr>
          </a:lstStyle>
          <a:p>
            <a:pPr>
              <a:defRPr/>
            </a:pPr>
            <a:endParaRPr lang="en-US"/>
          </a:p>
        </p:txBody>
      </p:sp>
      <p:sp>
        <p:nvSpPr>
          <p:cNvPr id="7" name="Slide Number Placeholder 8"/>
          <p:cNvSpPr>
            <a:spLocks noGrp="1"/>
          </p:cNvSpPr>
          <p:nvPr>
            <p:ph type="sldNum" sz="quarter" idx="12"/>
          </p:nvPr>
        </p:nvSpPr>
        <p:spPr/>
        <p:txBody>
          <a:bodyPr/>
          <a:lstStyle>
            <a:lvl1pPr>
              <a:defRPr/>
            </a:lvl1pPr>
          </a:lstStyle>
          <a:p>
            <a:pPr>
              <a:defRPr/>
            </a:pPr>
            <a:fld id="{4F6D813E-835C-47FE-A440-58B57BEF11B8}" type="slidenum">
              <a:rPr lang="en-US" altLang="en-US"/>
              <a:pPr>
                <a:defRPr/>
              </a:pPr>
              <a:t>‹#›</a:t>
            </a:fld>
            <a:endParaRPr lang="en-US" altLang="en-US"/>
          </a:p>
        </p:txBody>
      </p:sp>
    </p:spTree>
    <p:extLst>
      <p:ext uri="{BB962C8B-B14F-4D97-AF65-F5344CB8AC3E}">
        <p14:creationId xmlns:p14="http://schemas.microsoft.com/office/powerpoint/2010/main" val="37635670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712568"/>
            <a:ext cx="5386917"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712568"/>
            <a:ext cx="5389033"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a:p>
        </p:txBody>
      </p:sp>
      <p:sp>
        <p:nvSpPr>
          <p:cNvPr id="8" name="Footer Placeholder 7"/>
          <p:cNvSpPr>
            <a:spLocks noGrp="1"/>
          </p:cNvSpPr>
          <p:nvPr>
            <p:ph type="ftr" sz="quarter" idx="11"/>
          </p:nvPr>
        </p:nvSpPr>
        <p:spPr/>
        <p:txBody>
          <a:bodyPr/>
          <a:lstStyle>
            <a:lvl1pPr>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CAAF4D5D-AB4B-4823-8C48-421D53936DD5}" type="slidenum">
              <a:rPr lang="en-US" altLang="en-US"/>
              <a:pPr>
                <a:defRPr/>
              </a:pPr>
              <a:t>‹#›</a:t>
            </a:fld>
            <a:endParaRPr lang="en-US" altLang="en-US"/>
          </a:p>
        </p:txBody>
      </p:sp>
    </p:spTree>
    <p:extLst>
      <p:ext uri="{BB962C8B-B14F-4D97-AF65-F5344CB8AC3E}">
        <p14:creationId xmlns:p14="http://schemas.microsoft.com/office/powerpoint/2010/main" val="328401752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6"/>
          <p:cNvSpPr>
            <a:spLocks noGrp="1"/>
          </p:cNvSpPr>
          <p:nvPr>
            <p:ph type="dt" sz="half" idx="10"/>
          </p:nvPr>
        </p:nvSpPr>
        <p:spPr/>
        <p:txBody>
          <a:bodyPr/>
          <a:lstStyle>
            <a:lvl1pPr>
              <a:defRPr/>
            </a:lvl1pPr>
          </a:lstStyle>
          <a:p>
            <a:pPr>
              <a:defRPr/>
            </a:pPr>
            <a:endParaRPr lang="en-US"/>
          </a:p>
        </p:txBody>
      </p:sp>
      <p:sp>
        <p:nvSpPr>
          <p:cNvPr id="4" name="Footer Placeholder 7"/>
          <p:cNvSpPr>
            <a:spLocks noGrp="1"/>
          </p:cNvSpPr>
          <p:nvPr>
            <p:ph type="ftr" sz="quarter" idx="11"/>
          </p:nvPr>
        </p:nvSpPr>
        <p:spPr/>
        <p:txBody>
          <a:bodyPr/>
          <a:lstStyle>
            <a:lvl1pPr>
              <a:defRPr/>
            </a:lvl1pPr>
          </a:lstStyle>
          <a:p>
            <a:pPr>
              <a:defRPr/>
            </a:pPr>
            <a:endParaRPr lang="en-US"/>
          </a:p>
        </p:txBody>
      </p:sp>
      <p:sp>
        <p:nvSpPr>
          <p:cNvPr id="5" name="Slide Number Placeholder 8"/>
          <p:cNvSpPr>
            <a:spLocks noGrp="1"/>
          </p:cNvSpPr>
          <p:nvPr>
            <p:ph type="sldNum" sz="quarter" idx="12"/>
          </p:nvPr>
        </p:nvSpPr>
        <p:spPr/>
        <p:txBody>
          <a:bodyPr/>
          <a:lstStyle>
            <a:lvl1pPr>
              <a:defRPr/>
            </a:lvl1pPr>
          </a:lstStyle>
          <a:p>
            <a:pPr>
              <a:defRPr/>
            </a:pPr>
            <a:fld id="{85646D7A-85C6-40A7-BD42-C83AC5E3EDAD}" type="slidenum">
              <a:rPr lang="en-US" altLang="en-US"/>
              <a:pPr>
                <a:defRPr/>
              </a:pPr>
              <a:t>‹#›</a:t>
            </a:fld>
            <a:endParaRPr lang="en-US" altLang="en-US"/>
          </a:p>
        </p:txBody>
      </p:sp>
    </p:spTree>
    <p:extLst>
      <p:ext uri="{BB962C8B-B14F-4D97-AF65-F5344CB8AC3E}">
        <p14:creationId xmlns:p14="http://schemas.microsoft.com/office/powerpoint/2010/main" val="37396118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6"/>
          <p:cNvSpPr>
            <a:spLocks noGrp="1"/>
          </p:cNvSpPr>
          <p:nvPr>
            <p:ph type="dt" sz="half" idx="10"/>
          </p:nvPr>
        </p:nvSpPr>
        <p:spPr/>
        <p:txBody>
          <a:bodyPr/>
          <a:lstStyle>
            <a:lvl1pPr>
              <a:defRPr/>
            </a:lvl1pPr>
          </a:lstStyle>
          <a:p>
            <a:pPr>
              <a:defRPr/>
            </a:pPr>
            <a:endParaRPr lang="en-US"/>
          </a:p>
        </p:txBody>
      </p:sp>
      <p:sp>
        <p:nvSpPr>
          <p:cNvPr id="3" name="Footer Placeholder 7"/>
          <p:cNvSpPr>
            <a:spLocks noGrp="1"/>
          </p:cNvSpPr>
          <p:nvPr>
            <p:ph type="ftr" sz="quarter" idx="11"/>
          </p:nvPr>
        </p:nvSpPr>
        <p:spPr/>
        <p:txBody>
          <a:bodyPr/>
          <a:lstStyle>
            <a:lvl1pPr>
              <a:defRPr/>
            </a:lvl1pPr>
          </a:lstStyle>
          <a:p>
            <a:pPr>
              <a:defRPr/>
            </a:pPr>
            <a:endParaRPr lang="en-US"/>
          </a:p>
        </p:txBody>
      </p:sp>
      <p:sp>
        <p:nvSpPr>
          <p:cNvPr id="4" name="Slide Number Placeholder 8"/>
          <p:cNvSpPr>
            <a:spLocks noGrp="1"/>
          </p:cNvSpPr>
          <p:nvPr>
            <p:ph type="sldNum" sz="quarter" idx="12"/>
          </p:nvPr>
        </p:nvSpPr>
        <p:spPr/>
        <p:txBody>
          <a:bodyPr/>
          <a:lstStyle>
            <a:lvl1pPr>
              <a:defRPr/>
            </a:lvl1pPr>
          </a:lstStyle>
          <a:p>
            <a:pPr>
              <a:defRPr/>
            </a:pPr>
            <a:fld id="{1F303ADC-0605-40CB-BEAF-3C9BF3598C50}" type="slidenum">
              <a:rPr lang="en-US" altLang="en-US"/>
              <a:pPr>
                <a:defRPr/>
              </a:pPr>
              <a:t>‹#›</a:t>
            </a:fld>
            <a:endParaRPr lang="en-US" altLang="en-US"/>
          </a:p>
        </p:txBody>
      </p:sp>
    </p:spTree>
    <p:extLst>
      <p:ext uri="{BB962C8B-B14F-4D97-AF65-F5344CB8AC3E}">
        <p14:creationId xmlns:p14="http://schemas.microsoft.com/office/powerpoint/2010/main" val="16799405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24012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6"/>
          <p:cNvSpPr>
            <a:spLocks noGrp="1"/>
          </p:cNvSpPr>
          <p:nvPr>
            <p:ph type="dt" sz="half" idx="10"/>
          </p:nvPr>
        </p:nvSpPr>
        <p:spPr/>
        <p:txBody>
          <a:bodyPr/>
          <a:lstStyle>
            <a:lvl1pPr>
              <a:defRPr/>
            </a:lvl1pPr>
          </a:lstStyle>
          <a:p>
            <a:pPr>
              <a:defRPr/>
            </a:pPr>
            <a:endParaRPr lang="en-US"/>
          </a:p>
        </p:txBody>
      </p:sp>
      <p:sp>
        <p:nvSpPr>
          <p:cNvPr id="6" name="Footer Placeholder 7"/>
          <p:cNvSpPr>
            <a:spLocks noGrp="1"/>
          </p:cNvSpPr>
          <p:nvPr>
            <p:ph type="ftr" sz="quarter" idx="11"/>
          </p:nvPr>
        </p:nvSpPr>
        <p:spPr/>
        <p:txBody>
          <a:bodyPr/>
          <a:lstStyle>
            <a:lvl1pPr>
              <a:defRPr/>
            </a:lvl1pPr>
          </a:lstStyle>
          <a:p>
            <a:pPr>
              <a:defRPr/>
            </a:pPr>
            <a:endParaRPr lang="en-US"/>
          </a:p>
        </p:txBody>
      </p:sp>
      <p:sp>
        <p:nvSpPr>
          <p:cNvPr id="7" name="Slide Number Placeholder 8"/>
          <p:cNvSpPr>
            <a:spLocks noGrp="1"/>
          </p:cNvSpPr>
          <p:nvPr>
            <p:ph type="sldNum" sz="quarter" idx="12"/>
          </p:nvPr>
        </p:nvSpPr>
        <p:spPr/>
        <p:txBody>
          <a:bodyPr/>
          <a:lstStyle>
            <a:lvl1pPr>
              <a:defRPr/>
            </a:lvl1pPr>
          </a:lstStyle>
          <a:p>
            <a:pPr>
              <a:defRPr/>
            </a:pPr>
            <a:fld id="{65F6F71D-1F9B-4A2C-850A-5684D05FB2F6}" type="slidenum">
              <a:rPr lang="en-US" altLang="en-US"/>
              <a:pPr>
                <a:defRPr/>
              </a:pPr>
              <a:t>‹#›</a:t>
            </a:fld>
            <a:endParaRPr lang="en-US" altLang="en-US"/>
          </a:p>
        </p:txBody>
      </p:sp>
    </p:spTree>
    <p:extLst>
      <p:ext uri="{BB962C8B-B14F-4D97-AF65-F5344CB8AC3E}">
        <p14:creationId xmlns:p14="http://schemas.microsoft.com/office/powerpoint/2010/main" val="16906970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6"/>
          <p:cNvSpPr>
            <a:spLocks noGrp="1"/>
          </p:cNvSpPr>
          <p:nvPr>
            <p:ph type="dt" sz="half" idx="10"/>
          </p:nvPr>
        </p:nvSpPr>
        <p:spPr/>
        <p:txBody>
          <a:bodyPr/>
          <a:lstStyle>
            <a:lvl1pPr>
              <a:defRPr/>
            </a:lvl1pPr>
          </a:lstStyle>
          <a:p>
            <a:pPr>
              <a:defRPr/>
            </a:pPr>
            <a:endParaRPr lang="en-US"/>
          </a:p>
        </p:txBody>
      </p:sp>
      <p:sp>
        <p:nvSpPr>
          <p:cNvPr id="6" name="Footer Placeholder 7"/>
          <p:cNvSpPr>
            <a:spLocks noGrp="1"/>
          </p:cNvSpPr>
          <p:nvPr>
            <p:ph type="ftr" sz="quarter" idx="11"/>
          </p:nvPr>
        </p:nvSpPr>
        <p:spPr/>
        <p:txBody>
          <a:bodyPr/>
          <a:lstStyle>
            <a:lvl1pPr>
              <a:defRPr/>
            </a:lvl1pPr>
          </a:lstStyle>
          <a:p>
            <a:pPr>
              <a:defRPr/>
            </a:pPr>
            <a:endParaRPr lang="en-US"/>
          </a:p>
        </p:txBody>
      </p:sp>
      <p:sp>
        <p:nvSpPr>
          <p:cNvPr id="7" name="Slide Number Placeholder 8"/>
          <p:cNvSpPr>
            <a:spLocks noGrp="1"/>
          </p:cNvSpPr>
          <p:nvPr>
            <p:ph type="sldNum" sz="quarter" idx="12"/>
          </p:nvPr>
        </p:nvSpPr>
        <p:spPr/>
        <p:txBody>
          <a:bodyPr/>
          <a:lstStyle>
            <a:lvl1pPr>
              <a:defRPr/>
            </a:lvl1pPr>
          </a:lstStyle>
          <a:p>
            <a:pPr>
              <a:defRPr/>
            </a:pPr>
            <a:fld id="{F82A8BCC-AF9F-4C5B-AC1F-D2E726942418}" type="slidenum">
              <a:rPr lang="en-US" altLang="en-US"/>
              <a:pPr>
                <a:defRPr/>
              </a:pPr>
              <a:t>‹#›</a:t>
            </a:fld>
            <a:endParaRPr lang="en-US" altLang="en-US"/>
          </a:p>
        </p:txBody>
      </p:sp>
    </p:spTree>
    <p:extLst>
      <p:ext uri="{BB962C8B-B14F-4D97-AF65-F5344CB8AC3E}">
        <p14:creationId xmlns:p14="http://schemas.microsoft.com/office/powerpoint/2010/main" val="38797443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856200" y="1447801"/>
            <a:ext cx="6726200" cy="232435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6E017FB5-23F8-40EE-AF69-5F46455E668D}" type="slidenum">
              <a:rPr lang="en-US" altLang="en-US"/>
              <a:pPr>
                <a:defRPr/>
              </a:pPr>
              <a:t>‹#›</a:t>
            </a:fld>
            <a:endParaRPr lang="en-US" altLang="en-US"/>
          </a:p>
        </p:txBody>
      </p:sp>
    </p:spTree>
    <p:extLst>
      <p:ext uri="{BB962C8B-B14F-4D97-AF65-F5344CB8AC3E}">
        <p14:creationId xmlns:p14="http://schemas.microsoft.com/office/powerpoint/2010/main" val="24218309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227013"/>
            <a:ext cx="2590800" cy="3522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0184" y="227013"/>
            <a:ext cx="2848216" cy="35226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B96EFB05-D0C8-4F89-A313-4BCA94408DB6}" type="slidenum">
              <a:rPr lang="en-US" altLang="en-US"/>
              <a:pPr>
                <a:defRPr/>
              </a:pPr>
              <a:t>‹#›</a:t>
            </a:fld>
            <a:endParaRPr lang="en-US" altLang="en-US"/>
          </a:p>
        </p:txBody>
      </p:sp>
    </p:spTree>
    <p:extLst>
      <p:ext uri="{BB962C8B-B14F-4D97-AF65-F5344CB8AC3E}">
        <p14:creationId xmlns:p14="http://schemas.microsoft.com/office/powerpoint/2010/main" val="6203321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5238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3885662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93502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4006148"/>
            <a:ext cx="103632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Tree>
    <p:extLst>
      <p:ext uri="{BB962C8B-B14F-4D97-AF65-F5344CB8AC3E}">
        <p14:creationId xmlns:p14="http://schemas.microsoft.com/office/powerpoint/2010/main" val="18095813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9200" y="1447801"/>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2400" y="1447801"/>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9148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712570"/>
            <a:ext cx="5386917"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7"/>
            <a:ext cx="5386917"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712570"/>
            <a:ext cx="5389033"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7"/>
            <a:ext cx="5389033"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33073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233552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48231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2"/>
            <a:ext cx="6815667" cy="24012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29753970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40"/>
            <a:ext cx="73152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0418301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856201" y="1447803"/>
            <a:ext cx="6726200" cy="232435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77952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227013"/>
            <a:ext cx="2590800" cy="3522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0184" y="227013"/>
            <a:ext cx="2848216" cy="35226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52486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09242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5238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31694651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298132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4006148"/>
            <a:ext cx="103632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Tree>
    <p:extLst>
      <p:ext uri="{BB962C8B-B14F-4D97-AF65-F5344CB8AC3E}">
        <p14:creationId xmlns:p14="http://schemas.microsoft.com/office/powerpoint/2010/main" val="31444398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9200" y="1447802"/>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2400" y="1447802"/>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325075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712570"/>
            <a:ext cx="5386917"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7"/>
            <a:ext cx="5386917"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712570"/>
            <a:ext cx="5389033"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7"/>
            <a:ext cx="5389033"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782266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989345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14491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2"/>
            <a:ext cx="6815667" cy="24012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23300853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40"/>
            <a:ext cx="73152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400948476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856201" y="1447803"/>
            <a:ext cx="6726200" cy="232435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6211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227013"/>
            <a:ext cx="2590800" cy="3522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0184" y="227013"/>
            <a:ext cx="2848216" cy="35226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425798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219200" y="227013"/>
            <a:ext cx="10363200" cy="914400"/>
          </a:xfrm>
        </p:spPr>
        <p:txBody>
          <a:bodyPr/>
          <a:lstStyle/>
          <a:p>
            <a:r>
              <a:rPr lang="en-US"/>
              <a:t>Click to edit Master title style</a:t>
            </a:r>
          </a:p>
        </p:txBody>
      </p:sp>
      <p:sp>
        <p:nvSpPr>
          <p:cNvPr id="3" name="Content Placeholder 2"/>
          <p:cNvSpPr>
            <a:spLocks noGrp="1"/>
          </p:cNvSpPr>
          <p:nvPr>
            <p:ph sz="quarter" idx="1"/>
          </p:nvPr>
        </p:nvSpPr>
        <p:spPr>
          <a:xfrm>
            <a:off x="1219200" y="1447801"/>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502400" y="1447801"/>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219200" y="2674940"/>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502400" y="2674940"/>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77814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227013"/>
            <a:ext cx="10363200" cy="914400"/>
          </a:xfrm>
        </p:spPr>
        <p:txBody>
          <a:bodyPr/>
          <a:lstStyle/>
          <a:p>
            <a:r>
              <a:rPr lang="en-US"/>
              <a:t>Click to edit Master title style</a:t>
            </a:r>
          </a:p>
        </p:txBody>
      </p:sp>
      <p:sp>
        <p:nvSpPr>
          <p:cNvPr id="3" name="Text Placeholder 2"/>
          <p:cNvSpPr>
            <a:spLocks noGrp="1"/>
          </p:cNvSpPr>
          <p:nvPr>
            <p:ph type="body" sz="half" idx="1"/>
          </p:nvPr>
        </p:nvSpPr>
        <p:spPr>
          <a:xfrm>
            <a:off x="1219200" y="1447802"/>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2400" y="1447802"/>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543358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219200" y="227015"/>
            <a:ext cx="103632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008177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227013"/>
            <a:ext cx="10363200" cy="914400"/>
          </a:xfrm>
        </p:spPr>
        <p:txBody>
          <a:bodyPr/>
          <a:lstStyle/>
          <a:p>
            <a:r>
              <a:rPr lang="en-US"/>
              <a:t>Click to edit Master title style</a:t>
            </a:r>
          </a:p>
        </p:txBody>
      </p:sp>
      <p:sp>
        <p:nvSpPr>
          <p:cNvPr id="3" name="Text Placeholder 2"/>
          <p:cNvSpPr>
            <a:spLocks noGrp="1"/>
          </p:cNvSpPr>
          <p:nvPr>
            <p:ph type="body" sz="half" idx="1"/>
          </p:nvPr>
        </p:nvSpPr>
        <p:spPr>
          <a:xfrm>
            <a:off x="1219200" y="1447802"/>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502400" y="1447801"/>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502400" y="2674940"/>
            <a:ext cx="5080000" cy="23243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309737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319626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5238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a:xfrm>
            <a:off x="8737600" y="6246196"/>
            <a:ext cx="2844800" cy="476250"/>
          </a:xfrm>
        </p:spPr>
        <p:txBody>
          <a:bodyPr/>
          <a:lstStyle>
            <a:lvl1pPr>
              <a:defRPr/>
            </a:lvl1pPr>
          </a:lstStyle>
          <a:p>
            <a:pPr>
              <a:defRPr/>
            </a:pPr>
            <a:fld id="{5843878E-514A-4E9C-B96D-02149CCA4C42}" type="slidenum">
              <a:rPr lang="en-US" altLang="en-US"/>
              <a:pPr>
                <a:defRPr/>
              </a:pPr>
              <a:t>‹#›</a:t>
            </a:fld>
            <a:endParaRPr lang="en-US" altLang="en-US"/>
          </a:p>
        </p:txBody>
      </p:sp>
    </p:spTree>
    <p:extLst>
      <p:ext uri="{BB962C8B-B14F-4D97-AF65-F5344CB8AC3E}">
        <p14:creationId xmlns:p14="http://schemas.microsoft.com/office/powerpoint/2010/main" val="315420495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46F95CA6-BF70-4D0C-8A7E-33BDB8A10384}" type="slidenum">
              <a:rPr lang="en-US" altLang="en-US"/>
              <a:pPr>
                <a:defRPr/>
              </a:pPr>
              <a:t>‹#›</a:t>
            </a:fld>
            <a:endParaRPr lang="en-US" altLang="en-US"/>
          </a:p>
        </p:txBody>
      </p:sp>
    </p:spTree>
    <p:extLst>
      <p:ext uri="{BB962C8B-B14F-4D97-AF65-F5344CB8AC3E}">
        <p14:creationId xmlns:p14="http://schemas.microsoft.com/office/powerpoint/2010/main" val="333028880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4006148"/>
            <a:ext cx="103632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1C51F1C5-6C04-4EDA-B243-983EEEB0F2BF}" type="slidenum">
              <a:rPr lang="en-US" altLang="en-US"/>
              <a:pPr>
                <a:defRPr/>
              </a:pPr>
              <a:t>‹#›</a:t>
            </a:fld>
            <a:endParaRPr lang="en-US" altLang="en-US"/>
          </a:p>
        </p:txBody>
      </p:sp>
    </p:spTree>
    <p:extLst>
      <p:ext uri="{BB962C8B-B14F-4D97-AF65-F5344CB8AC3E}">
        <p14:creationId xmlns:p14="http://schemas.microsoft.com/office/powerpoint/2010/main" val="36005467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9200" y="1447801"/>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2400" y="1447801"/>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6"/>
          <p:cNvSpPr>
            <a:spLocks noGrp="1"/>
          </p:cNvSpPr>
          <p:nvPr>
            <p:ph type="dt" sz="half" idx="10"/>
          </p:nvPr>
        </p:nvSpPr>
        <p:spPr/>
        <p:txBody>
          <a:bodyPr/>
          <a:lstStyle>
            <a:lvl1pPr>
              <a:defRPr/>
            </a:lvl1pPr>
          </a:lstStyle>
          <a:p>
            <a:pPr>
              <a:defRPr/>
            </a:pPr>
            <a:endParaRPr lang="en-US"/>
          </a:p>
        </p:txBody>
      </p:sp>
      <p:sp>
        <p:nvSpPr>
          <p:cNvPr id="6" name="Footer Placeholder 7"/>
          <p:cNvSpPr>
            <a:spLocks noGrp="1"/>
          </p:cNvSpPr>
          <p:nvPr>
            <p:ph type="ftr" sz="quarter" idx="11"/>
          </p:nvPr>
        </p:nvSpPr>
        <p:spPr/>
        <p:txBody>
          <a:bodyPr/>
          <a:lstStyle>
            <a:lvl1pPr>
              <a:defRPr/>
            </a:lvl1pPr>
          </a:lstStyle>
          <a:p>
            <a:pPr>
              <a:defRPr/>
            </a:pPr>
            <a:endParaRPr lang="en-US"/>
          </a:p>
        </p:txBody>
      </p:sp>
      <p:sp>
        <p:nvSpPr>
          <p:cNvPr id="7" name="Slide Number Placeholder 8"/>
          <p:cNvSpPr>
            <a:spLocks noGrp="1"/>
          </p:cNvSpPr>
          <p:nvPr>
            <p:ph type="sldNum" sz="quarter" idx="12"/>
          </p:nvPr>
        </p:nvSpPr>
        <p:spPr/>
        <p:txBody>
          <a:bodyPr/>
          <a:lstStyle>
            <a:lvl1pPr>
              <a:defRPr/>
            </a:lvl1pPr>
          </a:lstStyle>
          <a:p>
            <a:pPr>
              <a:defRPr/>
            </a:pPr>
            <a:fld id="{67B425D0-D4E0-4780-9311-9A976DE9DD5E}" type="slidenum">
              <a:rPr lang="en-US" altLang="en-US"/>
              <a:pPr>
                <a:defRPr/>
              </a:pPr>
              <a:t>‹#›</a:t>
            </a:fld>
            <a:endParaRPr lang="en-US" altLang="en-US"/>
          </a:p>
        </p:txBody>
      </p:sp>
    </p:spTree>
    <p:extLst>
      <p:ext uri="{BB962C8B-B14F-4D97-AF65-F5344CB8AC3E}">
        <p14:creationId xmlns:p14="http://schemas.microsoft.com/office/powerpoint/2010/main" val="25049790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712570"/>
            <a:ext cx="5386917"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7"/>
            <a:ext cx="5386917"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712570"/>
            <a:ext cx="5389033"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7"/>
            <a:ext cx="5389033"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a:p>
        </p:txBody>
      </p:sp>
      <p:sp>
        <p:nvSpPr>
          <p:cNvPr id="8" name="Footer Placeholder 7"/>
          <p:cNvSpPr>
            <a:spLocks noGrp="1"/>
          </p:cNvSpPr>
          <p:nvPr>
            <p:ph type="ftr" sz="quarter" idx="11"/>
          </p:nvPr>
        </p:nvSpPr>
        <p:spPr/>
        <p:txBody>
          <a:bodyPr/>
          <a:lstStyle>
            <a:lvl1pPr>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2C027A89-A72D-45C7-AA52-17571A9E6EAD}" type="slidenum">
              <a:rPr lang="en-US" altLang="en-US"/>
              <a:pPr>
                <a:defRPr/>
              </a:pPr>
              <a:t>‹#›</a:t>
            </a:fld>
            <a:endParaRPr lang="en-US" altLang="en-US"/>
          </a:p>
        </p:txBody>
      </p:sp>
    </p:spTree>
    <p:extLst>
      <p:ext uri="{BB962C8B-B14F-4D97-AF65-F5344CB8AC3E}">
        <p14:creationId xmlns:p14="http://schemas.microsoft.com/office/powerpoint/2010/main" val="321301167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6"/>
          <p:cNvSpPr>
            <a:spLocks noGrp="1"/>
          </p:cNvSpPr>
          <p:nvPr>
            <p:ph type="dt" sz="half" idx="10"/>
          </p:nvPr>
        </p:nvSpPr>
        <p:spPr/>
        <p:txBody>
          <a:bodyPr/>
          <a:lstStyle>
            <a:lvl1pPr>
              <a:defRPr/>
            </a:lvl1pPr>
          </a:lstStyle>
          <a:p>
            <a:pPr>
              <a:defRPr/>
            </a:pPr>
            <a:endParaRPr lang="en-US"/>
          </a:p>
        </p:txBody>
      </p:sp>
      <p:sp>
        <p:nvSpPr>
          <p:cNvPr id="4" name="Footer Placeholder 7"/>
          <p:cNvSpPr>
            <a:spLocks noGrp="1"/>
          </p:cNvSpPr>
          <p:nvPr>
            <p:ph type="ftr" sz="quarter" idx="11"/>
          </p:nvPr>
        </p:nvSpPr>
        <p:spPr/>
        <p:txBody>
          <a:bodyPr/>
          <a:lstStyle>
            <a:lvl1pPr>
              <a:defRPr/>
            </a:lvl1pPr>
          </a:lstStyle>
          <a:p>
            <a:pPr>
              <a:defRPr/>
            </a:pPr>
            <a:endParaRPr lang="en-US"/>
          </a:p>
        </p:txBody>
      </p:sp>
      <p:sp>
        <p:nvSpPr>
          <p:cNvPr id="5" name="Slide Number Placeholder 8"/>
          <p:cNvSpPr>
            <a:spLocks noGrp="1"/>
          </p:cNvSpPr>
          <p:nvPr>
            <p:ph type="sldNum" sz="quarter" idx="12"/>
          </p:nvPr>
        </p:nvSpPr>
        <p:spPr/>
        <p:txBody>
          <a:bodyPr/>
          <a:lstStyle>
            <a:lvl1pPr>
              <a:defRPr/>
            </a:lvl1pPr>
          </a:lstStyle>
          <a:p>
            <a:pPr>
              <a:defRPr/>
            </a:pPr>
            <a:fld id="{0357295C-0E15-494C-924B-7EE8AF2737D2}" type="slidenum">
              <a:rPr lang="en-US" altLang="en-US"/>
              <a:pPr>
                <a:defRPr/>
              </a:pPr>
              <a:t>‹#›</a:t>
            </a:fld>
            <a:endParaRPr lang="en-US" altLang="en-US"/>
          </a:p>
        </p:txBody>
      </p:sp>
    </p:spTree>
    <p:extLst>
      <p:ext uri="{BB962C8B-B14F-4D97-AF65-F5344CB8AC3E}">
        <p14:creationId xmlns:p14="http://schemas.microsoft.com/office/powerpoint/2010/main" val="161043272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6"/>
          <p:cNvSpPr>
            <a:spLocks noGrp="1"/>
          </p:cNvSpPr>
          <p:nvPr>
            <p:ph type="dt" sz="half" idx="10"/>
          </p:nvPr>
        </p:nvSpPr>
        <p:spPr/>
        <p:txBody>
          <a:bodyPr/>
          <a:lstStyle>
            <a:lvl1pPr>
              <a:defRPr/>
            </a:lvl1pPr>
          </a:lstStyle>
          <a:p>
            <a:pPr>
              <a:defRPr/>
            </a:pPr>
            <a:endParaRPr lang="en-US"/>
          </a:p>
        </p:txBody>
      </p:sp>
      <p:sp>
        <p:nvSpPr>
          <p:cNvPr id="3" name="Footer Placeholder 7"/>
          <p:cNvSpPr>
            <a:spLocks noGrp="1"/>
          </p:cNvSpPr>
          <p:nvPr>
            <p:ph type="ftr" sz="quarter" idx="11"/>
          </p:nvPr>
        </p:nvSpPr>
        <p:spPr/>
        <p:txBody>
          <a:bodyPr/>
          <a:lstStyle>
            <a:lvl1pPr>
              <a:defRPr/>
            </a:lvl1pPr>
          </a:lstStyle>
          <a:p>
            <a:pPr>
              <a:defRPr/>
            </a:pPr>
            <a:endParaRPr lang="en-US"/>
          </a:p>
        </p:txBody>
      </p:sp>
      <p:sp>
        <p:nvSpPr>
          <p:cNvPr id="4" name="Slide Number Placeholder 8"/>
          <p:cNvSpPr>
            <a:spLocks noGrp="1"/>
          </p:cNvSpPr>
          <p:nvPr>
            <p:ph type="sldNum" sz="quarter" idx="12"/>
          </p:nvPr>
        </p:nvSpPr>
        <p:spPr/>
        <p:txBody>
          <a:bodyPr/>
          <a:lstStyle>
            <a:lvl1pPr>
              <a:defRPr/>
            </a:lvl1pPr>
          </a:lstStyle>
          <a:p>
            <a:pPr>
              <a:defRPr/>
            </a:pPr>
            <a:fld id="{E972E386-DB3A-4301-996D-7021D7A5512E}" type="slidenum">
              <a:rPr lang="en-US" altLang="en-US"/>
              <a:pPr>
                <a:defRPr/>
              </a:pPr>
              <a:t>‹#›</a:t>
            </a:fld>
            <a:endParaRPr lang="en-US" altLang="en-US"/>
          </a:p>
        </p:txBody>
      </p:sp>
    </p:spTree>
    <p:extLst>
      <p:ext uri="{BB962C8B-B14F-4D97-AF65-F5344CB8AC3E}">
        <p14:creationId xmlns:p14="http://schemas.microsoft.com/office/powerpoint/2010/main" val="230646546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2"/>
            <a:ext cx="6815667" cy="24012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6"/>
          <p:cNvSpPr>
            <a:spLocks noGrp="1"/>
          </p:cNvSpPr>
          <p:nvPr>
            <p:ph type="dt" sz="half" idx="10"/>
          </p:nvPr>
        </p:nvSpPr>
        <p:spPr/>
        <p:txBody>
          <a:bodyPr/>
          <a:lstStyle>
            <a:lvl1pPr>
              <a:defRPr/>
            </a:lvl1pPr>
          </a:lstStyle>
          <a:p>
            <a:pPr>
              <a:defRPr/>
            </a:pPr>
            <a:endParaRPr lang="en-US"/>
          </a:p>
        </p:txBody>
      </p:sp>
      <p:sp>
        <p:nvSpPr>
          <p:cNvPr id="6" name="Footer Placeholder 7"/>
          <p:cNvSpPr>
            <a:spLocks noGrp="1"/>
          </p:cNvSpPr>
          <p:nvPr>
            <p:ph type="ftr" sz="quarter" idx="11"/>
          </p:nvPr>
        </p:nvSpPr>
        <p:spPr/>
        <p:txBody>
          <a:bodyPr/>
          <a:lstStyle>
            <a:lvl1pPr>
              <a:defRPr/>
            </a:lvl1pPr>
          </a:lstStyle>
          <a:p>
            <a:pPr>
              <a:defRPr/>
            </a:pPr>
            <a:endParaRPr lang="en-US"/>
          </a:p>
        </p:txBody>
      </p:sp>
      <p:sp>
        <p:nvSpPr>
          <p:cNvPr id="7" name="Slide Number Placeholder 8"/>
          <p:cNvSpPr>
            <a:spLocks noGrp="1"/>
          </p:cNvSpPr>
          <p:nvPr>
            <p:ph type="sldNum" sz="quarter" idx="12"/>
          </p:nvPr>
        </p:nvSpPr>
        <p:spPr/>
        <p:txBody>
          <a:bodyPr/>
          <a:lstStyle>
            <a:lvl1pPr>
              <a:defRPr/>
            </a:lvl1pPr>
          </a:lstStyle>
          <a:p>
            <a:pPr>
              <a:defRPr/>
            </a:pPr>
            <a:fld id="{B2824CC5-D6DA-47AA-9D53-44E9CCFAF42A}" type="slidenum">
              <a:rPr lang="en-US" altLang="en-US"/>
              <a:pPr>
                <a:defRPr/>
              </a:pPr>
              <a:t>‹#›</a:t>
            </a:fld>
            <a:endParaRPr lang="en-US" altLang="en-US"/>
          </a:p>
        </p:txBody>
      </p:sp>
    </p:spTree>
    <p:extLst>
      <p:ext uri="{BB962C8B-B14F-4D97-AF65-F5344CB8AC3E}">
        <p14:creationId xmlns:p14="http://schemas.microsoft.com/office/powerpoint/2010/main" val="168006574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40"/>
            <a:ext cx="73152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6"/>
          <p:cNvSpPr>
            <a:spLocks noGrp="1"/>
          </p:cNvSpPr>
          <p:nvPr>
            <p:ph type="dt" sz="half" idx="10"/>
          </p:nvPr>
        </p:nvSpPr>
        <p:spPr/>
        <p:txBody>
          <a:bodyPr/>
          <a:lstStyle>
            <a:lvl1pPr>
              <a:defRPr/>
            </a:lvl1pPr>
          </a:lstStyle>
          <a:p>
            <a:pPr>
              <a:defRPr/>
            </a:pPr>
            <a:endParaRPr lang="en-US"/>
          </a:p>
        </p:txBody>
      </p:sp>
      <p:sp>
        <p:nvSpPr>
          <p:cNvPr id="6" name="Footer Placeholder 7"/>
          <p:cNvSpPr>
            <a:spLocks noGrp="1"/>
          </p:cNvSpPr>
          <p:nvPr>
            <p:ph type="ftr" sz="quarter" idx="11"/>
          </p:nvPr>
        </p:nvSpPr>
        <p:spPr/>
        <p:txBody>
          <a:bodyPr/>
          <a:lstStyle>
            <a:lvl1pPr>
              <a:defRPr/>
            </a:lvl1pPr>
          </a:lstStyle>
          <a:p>
            <a:pPr>
              <a:defRPr/>
            </a:pPr>
            <a:endParaRPr lang="en-US"/>
          </a:p>
        </p:txBody>
      </p:sp>
      <p:sp>
        <p:nvSpPr>
          <p:cNvPr id="7" name="Slide Number Placeholder 8"/>
          <p:cNvSpPr>
            <a:spLocks noGrp="1"/>
          </p:cNvSpPr>
          <p:nvPr>
            <p:ph type="sldNum" sz="quarter" idx="12"/>
          </p:nvPr>
        </p:nvSpPr>
        <p:spPr/>
        <p:txBody>
          <a:bodyPr/>
          <a:lstStyle>
            <a:lvl1pPr>
              <a:defRPr/>
            </a:lvl1pPr>
          </a:lstStyle>
          <a:p>
            <a:pPr>
              <a:defRPr/>
            </a:pPr>
            <a:fld id="{DB0E9989-C318-41E6-A66E-039284553653}" type="slidenum">
              <a:rPr lang="en-US" altLang="en-US"/>
              <a:pPr>
                <a:defRPr/>
              </a:pPr>
              <a:t>‹#›</a:t>
            </a:fld>
            <a:endParaRPr lang="en-US" altLang="en-US"/>
          </a:p>
        </p:txBody>
      </p:sp>
    </p:spTree>
    <p:extLst>
      <p:ext uri="{BB962C8B-B14F-4D97-AF65-F5344CB8AC3E}">
        <p14:creationId xmlns:p14="http://schemas.microsoft.com/office/powerpoint/2010/main" val="18656257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856201" y="1447803"/>
            <a:ext cx="6726200" cy="232435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9524530B-4E87-4484-B6FD-DB68F8293BFD}" type="slidenum">
              <a:rPr lang="en-US" altLang="en-US"/>
              <a:pPr>
                <a:defRPr/>
              </a:pPr>
              <a:t>‹#›</a:t>
            </a:fld>
            <a:endParaRPr lang="en-US" altLang="en-US"/>
          </a:p>
        </p:txBody>
      </p:sp>
    </p:spTree>
    <p:extLst>
      <p:ext uri="{BB962C8B-B14F-4D97-AF65-F5344CB8AC3E}">
        <p14:creationId xmlns:p14="http://schemas.microsoft.com/office/powerpoint/2010/main" val="48623508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227013"/>
            <a:ext cx="2590800" cy="3522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0184" y="227013"/>
            <a:ext cx="2848216" cy="35226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8598433E-ED6A-4081-9823-751F5ACE6DFC}" type="slidenum">
              <a:rPr lang="en-US" altLang="en-US"/>
              <a:pPr>
                <a:defRPr/>
              </a:pPr>
              <a:t>‹#›</a:t>
            </a:fld>
            <a:endParaRPr lang="en-US" altLang="en-US"/>
          </a:p>
        </p:txBody>
      </p:sp>
    </p:spTree>
    <p:extLst>
      <p:ext uri="{BB962C8B-B14F-4D97-AF65-F5344CB8AC3E}">
        <p14:creationId xmlns:p14="http://schemas.microsoft.com/office/powerpoint/2010/main" val="369628930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5238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85004285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870451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4006148"/>
            <a:ext cx="103632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Tree>
    <p:extLst>
      <p:ext uri="{BB962C8B-B14F-4D97-AF65-F5344CB8AC3E}">
        <p14:creationId xmlns:p14="http://schemas.microsoft.com/office/powerpoint/2010/main" val="403677251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9200" y="1447801"/>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2400" y="1447801"/>
            <a:ext cx="5080000" cy="21012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532684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712568"/>
            <a:ext cx="5386917"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712568"/>
            <a:ext cx="5389033" cy="46230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18396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20181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5465877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606252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24012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73463441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296369610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856200" y="1447801"/>
            <a:ext cx="6726200" cy="232435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025775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227013"/>
            <a:ext cx="2590800" cy="3522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0184" y="227013"/>
            <a:ext cx="2848216" cy="35226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477842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9968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heme" Target="../theme/theme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theme" Target="../theme/theme5.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theme" Target="../theme/theme6.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theme" Target="../theme/theme7.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4"/>
          <p:cNvSpPr>
            <a:spLocks noChangeArrowheads="1"/>
          </p:cNvSpPr>
          <p:nvPr/>
        </p:nvSpPr>
        <p:spPr bwMode="auto">
          <a:xfrm>
            <a:off x="0" y="0"/>
            <a:ext cx="609600" cy="6858000"/>
          </a:xfrm>
          <a:prstGeom prst="rect">
            <a:avLst/>
          </a:prstGeom>
          <a:gradFill rotWithShape="0">
            <a:gsLst>
              <a:gs pos="0">
                <a:schemeClr val="tx2"/>
              </a:gs>
              <a:gs pos="100000">
                <a:schemeClr val="accent1"/>
              </a:gs>
            </a:gsLst>
            <a:lin ang="5400000" scaled="1"/>
          </a:gradFill>
          <a:ln>
            <a:noFill/>
          </a:ln>
          <a:extLst/>
        </p:spPr>
        <p:txBody>
          <a:bodyPr wrap="none" anchor="ctr"/>
          <a:lstStyle>
            <a:lvl1pPr eaLnBrk="0" hangingPunct="0">
              <a:defRPr>
                <a:solidFill>
                  <a:schemeClr val="tx1"/>
                </a:solidFill>
                <a:latin typeface="Book Antiqua" pitchFamily="18" charset="0"/>
              </a:defRPr>
            </a:lvl1pPr>
            <a:lvl2pPr marL="742950" indent="-285750" eaLnBrk="0" hangingPunct="0">
              <a:defRPr>
                <a:solidFill>
                  <a:schemeClr val="tx1"/>
                </a:solidFill>
                <a:latin typeface="Book Antiqua" pitchFamily="18" charset="0"/>
              </a:defRPr>
            </a:lvl2pPr>
            <a:lvl3pPr marL="1143000" indent="-228600" eaLnBrk="0" hangingPunct="0">
              <a:defRPr>
                <a:solidFill>
                  <a:schemeClr val="tx1"/>
                </a:solidFill>
                <a:latin typeface="Book Antiqua" pitchFamily="18" charset="0"/>
              </a:defRPr>
            </a:lvl3pPr>
            <a:lvl4pPr marL="1600200" indent="-228600" eaLnBrk="0" hangingPunct="0">
              <a:defRPr>
                <a:solidFill>
                  <a:schemeClr val="tx1"/>
                </a:solidFill>
                <a:latin typeface="Book Antiqua" pitchFamily="18" charset="0"/>
              </a:defRPr>
            </a:lvl4pPr>
            <a:lvl5pPr marL="2057400" indent="-228600" eaLnBrk="0" hangingPunct="0">
              <a:defRPr>
                <a:solidFill>
                  <a:schemeClr val="tx1"/>
                </a:solidFill>
                <a:latin typeface="Book Antiqua" pitchFamily="18" charset="0"/>
              </a:defRPr>
            </a:lvl5pPr>
            <a:lvl6pPr marL="2514600" indent="-228600" eaLnBrk="0" fontAlgn="base" hangingPunct="0">
              <a:spcBef>
                <a:spcPct val="0"/>
              </a:spcBef>
              <a:spcAft>
                <a:spcPct val="0"/>
              </a:spcAft>
              <a:defRPr>
                <a:solidFill>
                  <a:schemeClr val="tx1"/>
                </a:solidFill>
                <a:latin typeface="Book Antiqua" pitchFamily="18" charset="0"/>
              </a:defRPr>
            </a:lvl6pPr>
            <a:lvl7pPr marL="2971800" indent="-228600" eaLnBrk="0" fontAlgn="base" hangingPunct="0">
              <a:spcBef>
                <a:spcPct val="0"/>
              </a:spcBef>
              <a:spcAft>
                <a:spcPct val="0"/>
              </a:spcAft>
              <a:defRPr>
                <a:solidFill>
                  <a:schemeClr val="tx1"/>
                </a:solidFill>
                <a:latin typeface="Book Antiqua" pitchFamily="18" charset="0"/>
              </a:defRPr>
            </a:lvl7pPr>
            <a:lvl8pPr marL="3429000" indent="-228600" eaLnBrk="0" fontAlgn="base" hangingPunct="0">
              <a:spcBef>
                <a:spcPct val="0"/>
              </a:spcBef>
              <a:spcAft>
                <a:spcPct val="0"/>
              </a:spcAft>
              <a:defRPr>
                <a:solidFill>
                  <a:schemeClr val="tx1"/>
                </a:solidFill>
                <a:latin typeface="Book Antiqua" pitchFamily="18" charset="0"/>
              </a:defRPr>
            </a:lvl8pPr>
            <a:lvl9pPr marL="3886200" indent="-228600" eaLnBrk="0" fontAlgn="base" hangingPunct="0">
              <a:spcBef>
                <a:spcPct val="0"/>
              </a:spcBef>
              <a:spcAft>
                <a:spcPct val="0"/>
              </a:spcAft>
              <a:defRPr>
                <a:solidFill>
                  <a:schemeClr val="tx1"/>
                </a:solidFill>
                <a:latin typeface="Book Antiqua" pitchFamily="18" charset="0"/>
              </a:defRPr>
            </a:lvl9pPr>
          </a:lstStyle>
          <a:p>
            <a:pPr eaLnBrk="1" fontAlgn="auto" hangingPunct="1">
              <a:spcBef>
                <a:spcPts val="0"/>
              </a:spcBef>
              <a:spcAft>
                <a:spcPts val="0"/>
              </a:spcAft>
              <a:defRPr/>
            </a:pPr>
            <a:endParaRPr lang="en-US" altLang="en-US"/>
          </a:p>
        </p:txBody>
      </p:sp>
      <p:sp>
        <p:nvSpPr>
          <p:cNvPr id="1027" name="Line 6"/>
          <p:cNvSpPr>
            <a:spLocks noChangeShapeType="1"/>
          </p:cNvSpPr>
          <p:nvPr/>
        </p:nvSpPr>
        <p:spPr bwMode="auto">
          <a:xfrm>
            <a:off x="1219200" y="2970213"/>
            <a:ext cx="10363200" cy="0"/>
          </a:xfrm>
          <a:prstGeom prst="line">
            <a:avLst/>
          </a:prstGeom>
          <a:noFill/>
          <a:ln w="254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9" name="Rectangle 3"/>
          <p:cNvSpPr>
            <a:spLocks noGrp="1" noChangeArrowheads="1"/>
          </p:cNvSpPr>
          <p:nvPr>
            <p:ph type="title"/>
          </p:nvPr>
        </p:nvSpPr>
        <p:spPr bwMode="auto">
          <a:xfrm>
            <a:off x="1219200" y="227013"/>
            <a:ext cx="10363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ltLang="en-US" smtClean="0"/>
              <a:t>Click to edit Master title style</a:t>
            </a:r>
          </a:p>
        </p:txBody>
      </p:sp>
      <p:sp>
        <p:nvSpPr>
          <p:cNvPr id="1030" name="Rectangle 4"/>
          <p:cNvSpPr>
            <a:spLocks noGrp="1" noChangeArrowheads="1"/>
          </p:cNvSpPr>
          <p:nvPr>
            <p:ph type="body" idx="1"/>
          </p:nvPr>
        </p:nvSpPr>
        <p:spPr bwMode="auto">
          <a:xfrm>
            <a:off x="1219200" y="1447800"/>
            <a:ext cx="103632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Tree>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p:titleStyle>
    <p:bodyStyle>
      <a:lvl1pPr marL="342900" indent="-34290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ea typeface="+mn-ea"/>
          <a:cs typeface="+mn-cs"/>
        </a:defRPr>
      </a:lvl1pPr>
      <a:lvl2pPr marL="742950" indent="-28575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defRPr>
      </a:lvl2pPr>
      <a:lvl3pPr marL="1143000" indent="-228600" algn="l" rtl="0" eaLnBrk="0" fontAlgn="base" hangingPunct="0">
        <a:spcBef>
          <a:spcPct val="0"/>
        </a:spcBef>
        <a:spcAft>
          <a:spcPct val="25000"/>
        </a:spcAft>
        <a:buClr>
          <a:schemeClr val="tx2"/>
        </a:buClr>
        <a:buFont typeface="Wingdings" panose="05000000000000000000" pitchFamily="2" charset="2"/>
        <a:buChar char="§"/>
        <a:defRPr sz="2400">
          <a:solidFill>
            <a:schemeClr val="accent1"/>
          </a:solidFill>
          <a:latin typeface="+mn-lt"/>
        </a:defRPr>
      </a:lvl3pPr>
      <a:lvl4pPr marL="16002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4pPr>
      <a:lvl5pPr marL="20574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0"/>
            <a:ext cx="609600" cy="6858000"/>
          </a:xfrm>
          <a:prstGeom prst="rect">
            <a:avLst/>
          </a:prstGeom>
          <a:gradFill rotWithShape="0">
            <a:gsLst>
              <a:gs pos="0">
                <a:schemeClr val="tx2"/>
              </a:gs>
              <a:gs pos="100000">
                <a:schemeClr val="accent1"/>
              </a:gs>
            </a:gsLst>
            <a:lin ang="5400000" scaled="1"/>
          </a:gradFill>
          <a:ln>
            <a:noFill/>
          </a:ln>
          <a:extLst/>
        </p:spPr>
        <p:txBody>
          <a:bodyPr wrap="none" anchor="ctr"/>
          <a:lstStyle>
            <a:lvl1pPr eaLnBrk="0" hangingPunct="0">
              <a:defRPr>
                <a:solidFill>
                  <a:schemeClr val="tx1"/>
                </a:solidFill>
                <a:latin typeface="Book Antiqua" pitchFamily="18" charset="0"/>
              </a:defRPr>
            </a:lvl1pPr>
            <a:lvl2pPr marL="742950" indent="-285750" eaLnBrk="0" hangingPunct="0">
              <a:defRPr>
                <a:solidFill>
                  <a:schemeClr val="tx1"/>
                </a:solidFill>
                <a:latin typeface="Book Antiqua" pitchFamily="18" charset="0"/>
              </a:defRPr>
            </a:lvl2pPr>
            <a:lvl3pPr marL="1143000" indent="-228600" eaLnBrk="0" hangingPunct="0">
              <a:defRPr>
                <a:solidFill>
                  <a:schemeClr val="tx1"/>
                </a:solidFill>
                <a:latin typeface="Book Antiqua" pitchFamily="18" charset="0"/>
              </a:defRPr>
            </a:lvl3pPr>
            <a:lvl4pPr marL="1600200" indent="-228600" eaLnBrk="0" hangingPunct="0">
              <a:defRPr>
                <a:solidFill>
                  <a:schemeClr val="tx1"/>
                </a:solidFill>
                <a:latin typeface="Book Antiqua" pitchFamily="18" charset="0"/>
              </a:defRPr>
            </a:lvl4pPr>
            <a:lvl5pPr marL="2057400" indent="-228600" eaLnBrk="0" hangingPunct="0">
              <a:defRPr>
                <a:solidFill>
                  <a:schemeClr val="tx1"/>
                </a:solidFill>
                <a:latin typeface="Book Antiqua" pitchFamily="18" charset="0"/>
              </a:defRPr>
            </a:lvl5pPr>
            <a:lvl6pPr marL="2514600" indent="-228600" eaLnBrk="0" fontAlgn="base" hangingPunct="0">
              <a:spcBef>
                <a:spcPct val="0"/>
              </a:spcBef>
              <a:spcAft>
                <a:spcPct val="0"/>
              </a:spcAft>
              <a:defRPr>
                <a:solidFill>
                  <a:schemeClr val="tx1"/>
                </a:solidFill>
                <a:latin typeface="Book Antiqua" pitchFamily="18" charset="0"/>
              </a:defRPr>
            </a:lvl6pPr>
            <a:lvl7pPr marL="2971800" indent="-228600" eaLnBrk="0" fontAlgn="base" hangingPunct="0">
              <a:spcBef>
                <a:spcPct val="0"/>
              </a:spcBef>
              <a:spcAft>
                <a:spcPct val="0"/>
              </a:spcAft>
              <a:defRPr>
                <a:solidFill>
                  <a:schemeClr val="tx1"/>
                </a:solidFill>
                <a:latin typeface="Book Antiqua" pitchFamily="18" charset="0"/>
              </a:defRPr>
            </a:lvl7pPr>
            <a:lvl8pPr marL="3429000" indent="-228600" eaLnBrk="0" fontAlgn="base" hangingPunct="0">
              <a:spcBef>
                <a:spcPct val="0"/>
              </a:spcBef>
              <a:spcAft>
                <a:spcPct val="0"/>
              </a:spcAft>
              <a:defRPr>
                <a:solidFill>
                  <a:schemeClr val="tx1"/>
                </a:solidFill>
                <a:latin typeface="Book Antiqua" pitchFamily="18" charset="0"/>
              </a:defRPr>
            </a:lvl8pPr>
            <a:lvl9pPr marL="3886200" indent="-228600" eaLnBrk="0" fontAlgn="base" hangingPunct="0">
              <a:spcBef>
                <a:spcPct val="0"/>
              </a:spcBef>
              <a:spcAft>
                <a:spcPct val="0"/>
              </a:spcAft>
              <a:defRPr>
                <a:solidFill>
                  <a:schemeClr val="tx1"/>
                </a:solidFill>
                <a:latin typeface="Book Antiqua" pitchFamily="18" charset="0"/>
              </a:defRPr>
            </a:lvl9pPr>
          </a:lstStyle>
          <a:p>
            <a:pPr eaLnBrk="1" fontAlgn="auto" hangingPunct="1">
              <a:spcBef>
                <a:spcPts val="0"/>
              </a:spcBef>
              <a:spcAft>
                <a:spcPts val="0"/>
              </a:spcAft>
              <a:defRPr/>
            </a:pPr>
            <a:endParaRPr lang="en-US" altLang="en-US"/>
          </a:p>
        </p:txBody>
      </p:sp>
      <p:sp>
        <p:nvSpPr>
          <p:cNvPr id="2051" name="Rectangle 3"/>
          <p:cNvSpPr>
            <a:spLocks noGrp="1" noChangeArrowheads="1"/>
          </p:cNvSpPr>
          <p:nvPr>
            <p:ph type="title"/>
          </p:nvPr>
        </p:nvSpPr>
        <p:spPr bwMode="auto">
          <a:xfrm>
            <a:off x="1219200" y="227013"/>
            <a:ext cx="10363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ltLang="en-US" smtClean="0"/>
              <a:t>Click to edit Master title style</a:t>
            </a:r>
          </a:p>
        </p:txBody>
      </p:sp>
      <p:sp>
        <p:nvSpPr>
          <p:cNvPr id="2052" name="Rectangle 4"/>
          <p:cNvSpPr>
            <a:spLocks noGrp="1" noChangeArrowheads="1"/>
          </p:cNvSpPr>
          <p:nvPr>
            <p:ph type="body" idx="1"/>
          </p:nvPr>
        </p:nvSpPr>
        <p:spPr bwMode="auto">
          <a:xfrm>
            <a:off x="1219200" y="1447800"/>
            <a:ext cx="103632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053" name="Line 5"/>
          <p:cNvSpPr>
            <a:spLocks noChangeShapeType="1"/>
          </p:cNvSpPr>
          <p:nvPr/>
        </p:nvSpPr>
        <p:spPr bwMode="auto">
          <a:xfrm>
            <a:off x="1219200" y="1295400"/>
            <a:ext cx="10363200" cy="0"/>
          </a:xfrm>
          <a:prstGeom prst="line">
            <a:avLst/>
          </a:prstGeom>
          <a:noFill/>
          <a:ln w="254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 id="2147483855" r:id="rId14"/>
    <p:sldLayoutId id="2147483856" r:id="rId15"/>
    <p:sldLayoutId id="2147483857" r:id="rId16"/>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p:titleStyle>
    <p:bodyStyle>
      <a:lvl1pPr marL="342900" indent="-34290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ea typeface="+mn-ea"/>
          <a:cs typeface="+mn-cs"/>
        </a:defRPr>
      </a:lvl1pPr>
      <a:lvl2pPr marL="742950" indent="-28575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defRPr>
      </a:lvl2pPr>
      <a:lvl3pPr marL="1143000" indent="-228600" algn="l" rtl="0" eaLnBrk="0" fontAlgn="base" hangingPunct="0">
        <a:spcBef>
          <a:spcPct val="0"/>
        </a:spcBef>
        <a:spcAft>
          <a:spcPct val="25000"/>
        </a:spcAft>
        <a:buClr>
          <a:schemeClr val="tx2"/>
        </a:buClr>
        <a:buFont typeface="Wingdings" panose="05000000000000000000" pitchFamily="2" charset="2"/>
        <a:buChar char="§"/>
        <a:defRPr sz="2400">
          <a:solidFill>
            <a:schemeClr val="accent1"/>
          </a:solidFill>
          <a:latin typeface="+mn-lt"/>
        </a:defRPr>
      </a:lvl3pPr>
      <a:lvl4pPr marL="16002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4pPr>
      <a:lvl5pPr marL="20574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0"/>
            <a:ext cx="609600" cy="6858000"/>
          </a:xfrm>
          <a:prstGeom prst="rect">
            <a:avLst/>
          </a:prstGeom>
          <a:gradFill rotWithShape="0">
            <a:gsLst>
              <a:gs pos="0">
                <a:schemeClr val="tx2"/>
              </a:gs>
              <a:gs pos="100000">
                <a:schemeClr val="accent1"/>
              </a:gs>
            </a:gsLst>
            <a:lin ang="5400000" scaled="1"/>
          </a:gradFill>
          <a:ln>
            <a:noFill/>
          </a:ln>
          <a:extLst/>
        </p:spPr>
        <p:txBody>
          <a:bodyPr wrap="none" anchor="ctr"/>
          <a:lstStyle>
            <a:lvl1pPr eaLnBrk="0" hangingPunct="0">
              <a:defRPr>
                <a:solidFill>
                  <a:schemeClr val="tx1"/>
                </a:solidFill>
                <a:latin typeface="Book Antiqua" pitchFamily="18" charset="0"/>
              </a:defRPr>
            </a:lvl1pPr>
            <a:lvl2pPr marL="742950" indent="-285750" eaLnBrk="0" hangingPunct="0">
              <a:defRPr>
                <a:solidFill>
                  <a:schemeClr val="tx1"/>
                </a:solidFill>
                <a:latin typeface="Book Antiqua" pitchFamily="18" charset="0"/>
              </a:defRPr>
            </a:lvl2pPr>
            <a:lvl3pPr marL="1143000" indent="-228600" eaLnBrk="0" hangingPunct="0">
              <a:defRPr>
                <a:solidFill>
                  <a:schemeClr val="tx1"/>
                </a:solidFill>
                <a:latin typeface="Book Antiqua" pitchFamily="18" charset="0"/>
              </a:defRPr>
            </a:lvl3pPr>
            <a:lvl4pPr marL="1600200" indent="-228600" eaLnBrk="0" hangingPunct="0">
              <a:defRPr>
                <a:solidFill>
                  <a:schemeClr val="tx1"/>
                </a:solidFill>
                <a:latin typeface="Book Antiqua" pitchFamily="18" charset="0"/>
              </a:defRPr>
            </a:lvl4pPr>
            <a:lvl5pPr marL="2057400" indent="-228600" eaLnBrk="0" hangingPunct="0">
              <a:defRPr>
                <a:solidFill>
                  <a:schemeClr val="tx1"/>
                </a:solidFill>
                <a:latin typeface="Book Antiqua" pitchFamily="18" charset="0"/>
              </a:defRPr>
            </a:lvl5pPr>
            <a:lvl6pPr marL="2514600" indent="-228600" eaLnBrk="0" fontAlgn="base" hangingPunct="0">
              <a:spcBef>
                <a:spcPct val="0"/>
              </a:spcBef>
              <a:spcAft>
                <a:spcPct val="0"/>
              </a:spcAft>
              <a:defRPr>
                <a:solidFill>
                  <a:schemeClr val="tx1"/>
                </a:solidFill>
                <a:latin typeface="Book Antiqua" pitchFamily="18" charset="0"/>
              </a:defRPr>
            </a:lvl6pPr>
            <a:lvl7pPr marL="2971800" indent="-228600" eaLnBrk="0" fontAlgn="base" hangingPunct="0">
              <a:spcBef>
                <a:spcPct val="0"/>
              </a:spcBef>
              <a:spcAft>
                <a:spcPct val="0"/>
              </a:spcAft>
              <a:defRPr>
                <a:solidFill>
                  <a:schemeClr val="tx1"/>
                </a:solidFill>
                <a:latin typeface="Book Antiqua" pitchFamily="18" charset="0"/>
              </a:defRPr>
            </a:lvl7pPr>
            <a:lvl8pPr marL="3429000" indent="-228600" eaLnBrk="0" fontAlgn="base" hangingPunct="0">
              <a:spcBef>
                <a:spcPct val="0"/>
              </a:spcBef>
              <a:spcAft>
                <a:spcPct val="0"/>
              </a:spcAft>
              <a:defRPr>
                <a:solidFill>
                  <a:schemeClr val="tx1"/>
                </a:solidFill>
                <a:latin typeface="Book Antiqua" pitchFamily="18" charset="0"/>
              </a:defRPr>
            </a:lvl8pPr>
            <a:lvl9pPr marL="3886200" indent="-228600" eaLnBrk="0" fontAlgn="base" hangingPunct="0">
              <a:spcBef>
                <a:spcPct val="0"/>
              </a:spcBef>
              <a:spcAft>
                <a:spcPct val="0"/>
              </a:spcAft>
              <a:defRPr>
                <a:solidFill>
                  <a:schemeClr val="tx1"/>
                </a:solidFill>
                <a:latin typeface="Book Antiqua" pitchFamily="18" charset="0"/>
              </a:defRPr>
            </a:lvl9pPr>
          </a:lstStyle>
          <a:p>
            <a:pPr eaLnBrk="1" fontAlgn="auto" hangingPunct="1">
              <a:spcBef>
                <a:spcPts val="0"/>
              </a:spcBef>
              <a:spcAft>
                <a:spcPts val="0"/>
              </a:spcAft>
              <a:defRPr/>
            </a:pPr>
            <a:endParaRPr lang="en-US" altLang="en-US"/>
          </a:p>
        </p:txBody>
      </p:sp>
      <p:sp>
        <p:nvSpPr>
          <p:cNvPr id="3075" name="Line 5"/>
          <p:cNvSpPr>
            <a:spLocks noChangeShapeType="1"/>
          </p:cNvSpPr>
          <p:nvPr/>
        </p:nvSpPr>
        <p:spPr bwMode="auto">
          <a:xfrm>
            <a:off x="1219200" y="1295400"/>
            <a:ext cx="10363200" cy="0"/>
          </a:xfrm>
          <a:prstGeom prst="line">
            <a:avLst/>
          </a:prstGeom>
          <a:noFill/>
          <a:ln w="254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77" name="Rectangle 3"/>
          <p:cNvSpPr>
            <a:spLocks noGrp="1" noChangeArrowheads="1"/>
          </p:cNvSpPr>
          <p:nvPr>
            <p:ph type="title"/>
          </p:nvPr>
        </p:nvSpPr>
        <p:spPr bwMode="auto">
          <a:xfrm>
            <a:off x="1219200" y="227013"/>
            <a:ext cx="10363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ltLang="en-US" smtClean="0"/>
              <a:t>Click to edit Master title style</a:t>
            </a:r>
          </a:p>
        </p:txBody>
      </p:sp>
      <p:sp>
        <p:nvSpPr>
          <p:cNvPr id="3078" name="Rectangle 4"/>
          <p:cNvSpPr>
            <a:spLocks noGrp="1" noChangeArrowheads="1"/>
          </p:cNvSpPr>
          <p:nvPr>
            <p:ph type="body" idx="1"/>
          </p:nvPr>
        </p:nvSpPr>
        <p:spPr bwMode="auto">
          <a:xfrm>
            <a:off x="1219200" y="1447800"/>
            <a:ext cx="103632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7" name="Date Placeholder 6"/>
          <p:cNvSpPr>
            <a:spLocks noGrp="1"/>
          </p:cNvSpPr>
          <p:nvPr>
            <p:ph type="dt" sz="half" idx="2"/>
          </p:nvPr>
        </p:nvSpPr>
        <p:spPr>
          <a:xfrm>
            <a:off x="609600" y="6245225"/>
            <a:ext cx="2844800" cy="476250"/>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8" name="Footer Placeholder 7"/>
          <p:cNvSpPr>
            <a:spLocks noGrp="1"/>
          </p:cNvSpPr>
          <p:nvPr>
            <p:ph type="ftr" sz="quarter" idx="3"/>
          </p:nvPr>
        </p:nvSpPr>
        <p:spPr>
          <a:xfrm>
            <a:off x="4165600" y="6245225"/>
            <a:ext cx="3860800" cy="476250"/>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Slide Number Placeholder 8"/>
          <p:cNvSpPr>
            <a:spLocks noGrp="1"/>
          </p:cNvSpPr>
          <p:nvPr>
            <p:ph type="sldNum" sz="quarter" idx="4"/>
          </p:nvPr>
        </p:nvSpPr>
        <p:spPr>
          <a:xfrm>
            <a:off x="8737600" y="6245225"/>
            <a:ext cx="2844800" cy="47625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8ED0648-88D6-4ADF-B24F-C89605811C0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p:titleStyle>
    <p:bodyStyle>
      <a:lvl1pPr marL="342900" indent="-34290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ea typeface="+mn-ea"/>
          <a:cs typeface="+mn-cs"/>
        </a:defRPr>
      </a:lvl1pPr>
      <a:lvl2pPr marL="742950" indent="-28575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defRPr>
      </a:lvl2pPr>
      <a:lvl3pPr marL="1143000" indent="-228600" algn="l" rtl="0" eaLnBrk="0" fontAlgn="base" hangingPunct="0">
        <a:spcBef>
          <a:spcPct val="0"/>
        </a:spcBef>
        <a:spcAft>
          <a:spcPct val="25000"/>
        </a:spcAft>
        <a:buClr>
          <a:schemeClr val="tx2"/>
        </a:buClr>
        <a:buFont typeface="Wingdings" panose="05000000000000000000" pitchFamily="2" charset="2"/>
        <a:buChar char="§"/>
        <a:defRPr sz="2400">
          <a:solidFill>
            <a:schemeClr val="accent1"/>
          </a:solidFill>
          <a:latin typeface="+mn-lt"/>
        </a:defRPr>
      </a:lvl3pPr>
      <a:lvl4pPr marL="16002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4pPr>
      <a:lvl5pPr marL="20574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4"/>
          <p:cNvSpPr>
            <a:spLocks noChangeArrowheads="1"/>
          </p:cNvSpPr>
          <p:nvPr/>
        </p:nvSpPr>
        <p:spPr bwMode="auto">
          <a:xfrm>
            <a:off x="0" y="0"/>
            <a:ext cx="609600" cy="6858000"/>
          </a:xfrm>
          <a:prstGeom prst="rect">
            <a:avLst/>
          </a:prstGeom>
          <a:gradFill rotWithShape="0">
            <a:gsLst>
              <a:gs pos="0">
                <a:schemeClr val="tx2"/>
              </a:gs>
              <a:gs pos="100000">
                <a:schemeClr val="accent1"/>
              </a:gs>
            </a:gsLst>
            <a:lin ang="5400000" scaled="1"/>
          </a:gradFill>
          <a:ln>
            <a:noFill/>
          </a:ln>
          <a:extLst/>
        </p:spPr>
        <p:txBody>
          <a:bodyPr wrap="none" anchor="ctr"/>
          <a:lstStyle>
            <a:lvl1pPr eaLnBrk="0" hangingPunct="0">
              <a:defRPr>
                <a:solidFill>
                  <a:schemeClr val="tx1"/>
                </a:solidFill>
                <a:latin typeface="Book Antiqua" pitchFamily="18" charset="0"/>
              </a:defRPr>
            </a:lvl1pPr>
            <a:lvl2pPr marL="742950" indent="-285750" eaLnBrk="0" hangingPunct="0">
              <a:defRPr>
                <a:solidFill>
                  <a:schemeClr val="tx1"/>
                </a:solidFill>
                <a:latin typeface="Book Antiqua" pitchFamily="18" charset="0"/>
              </a:defRPr>
            </a:lvl2pPr>
            <a:lvl3pPr marL="1143000" indent="-228600" eaLnBrk="0" hangingPunct="0">
              <a:defRPr>
                <a:solidFill>
                  <a:schemeClr val="tx1"/>
                </a:solidFill>
                <a:latin typeface="Book Antiqua" pitchFamily="18" charset="0"/>
              </a:defRPr>
            </a:lvl3pPr>
            <a:lvl4pPr marL="1600200" indent="-228600" eaLnBrk="0" hangingPunct="0">
              <a:defRPr>
                <a:solidFill>
                  <a:schemeClr val="tx1"/>
                </a:solidFill>
                <a:latin typeface="Book Antiqua" pitchFamily="18" charset="0"/>
              </a:defRPr>
            </a:lvl4pPr>
            <a:lvl5pPr marL="2057400" indent="-228600" eaLnBrk="0" hangingPunct="0">
              <a:defRPr>
                <a:solidFill>
                  <a:schemeClr val="tx1"/>
                </a:solidFill>
                <a:latin typeface="Book Antiqua" pitchFamily="18" charset="0"/>
              </a:defRPr>
            </a:lvl5pPr>
            <a:lvl6pPr marL="2514600" indent="-228600" eaLnBrk="0" fontAlgn="base" hangingPunct="0">
              <a:spcBef>
                <a:spcPct val="0"/>
              </a:spcBef>
              <a:spcAft>
                <a:spcPct val="0"/>
              </a:spcAft>
              <a:defRPr>
                <a:solidFill>
                  <a:schemeClr val="tx1"/>
                </a:solidFill>
                <a:latin typeface="Book Antiqua" pitchFamily="18" charset="0"/>
              </a:defRPr>
            </a:lvl6pPr>
            <a:lvl7pPr marL="2971800" indent="-228600" eaLnBrk="0" fontAlgn="base" hangingPunct="0">
              <a:spcBef>
                <a:spcPct val="0"/>
              </a:spcBef>
              <a:spcAft>
                <a:spcPct val="0"/>
              </a:spcAft>
              <a:defRPr>
                <a:solidFill>
                  <a:schemeClr val="tx1"/>
                </a:solidFill>
                <a:latin typeface="Book Antiqua" pitchFamily="18" charset="0"/>
              </a:defRPr>
            </a:lvl7pPr>
            <a:lvl8pPr marL="3429000" indent="-228600" eaLnBrk="0" fontAlgn="base" hangingPunct="0">
              <a:spcBef>
                <a:spcPct val="0"/>
              </a:spcBef>
              <a:spcAft>
                <a:spcPct val="0"/>
              </a:spcAft>
              <a:defRPr>
                <a:solidFill>
                  <a:schemeClr val="tx1"/>
                </a:solidFill>
                <a:latin typeface="Book Antiqua" pitchFamily="18" charset="0"/>
              </a:defRPr>
            </a:lvl8pPr>
            <a:lvl9pPr marL="3886200" indent="-228600" eaLnBrk="0" fontAlgn="base" hangingPunct="0">
              <a:spcBef>
                <a:spcPct val="0"/>
              </a:spcBef>
              <a:spcAft>
                <a:spcPct val="0"/>
              </a:spcAft>
              <a:defRPr>
                <a:solidFill>
                  <a:schemeClr val="tx1"/>
                </a:solidFill>
                <a:latin typeface="Book Antiqua" pitchFamily="18" charset="0"/>
              </a:defRPr>
            </a:lvl9pPr>
          </a:lstStyle>
          <a:p>
            <a:pPr eaLnBrk="1" fontAlgn="auto" hangingPunct="1">
              <a:spcBef>
                <a:spcPts val="0"/>
              </a:spcBef>
              <a:spcAft>
                <a:spcPts val="0"/>
              </a:spcAft>
              <a:defRPr/>
            </a:pPr>
            <a:endParaRPr lang="en-US" altLang="en-US"/>
          </a:p>
        </p:txBody>
      </p:sp>
      <p:sp>
        <p:nvSpPr>
          <p:cNvPr id="4099" name="Line 6"/>
          <p:cNvSpPr>
            <a:spLocks noChangeShapeType="1"/>
          </p:cNvSpPr>
          <p:nvPr/>
        </p:nvSpPr>
        <p:spPr bwMode="auto">
          <a:xfrm>
            <a:off x="1219200" y="2970213"/>
            <a:ext cx="10363200" cy="0"/>
          </a:xfrm>
          <a:prstGeom prst="line">
            <a:avLst/>
          </a:prstGeom>
          <a:noFill/>
          <a:ln w="254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100" name="Rectangle 3"/>
          <p:cNvSpPr>
            <a:spLocks noGrp="1" noChangeArrowheads="1"/>
          </p:cNvSpPr>
          <p:nvPr>
            <p:ph type="title"/>
          </p:nvPr>
        </p:nvSpPr>
        <p:spPr bwMode="auto">
          <a:xfrm>
            <a:off x="1219200" y="227013"/>
            <a:ext cx="10363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ltLang="en-US" smtClean="0"/>
              <a:t>Click to edit Master title style</a:t>
            </a:r>
          </a:p>
        </p:txBody>
      </p:sp>
      <p:sp>
        <p:nvSpPr>
          <p:cNvPr id="4101" name="Rectangle 4"/>
          <p:cNvSpPr>
            <a:spLocks noGrp="1" noChangeArrowheads="1"/>
          </p:cNvSpPr>
          <p:nvPr>
            <p:ph type="body" idx="1"/>
          </p:nvPr>
        </p:nvSpPr>
        <p:spPr bwMode="auto">
          <a:xfrm>
            <a:off x="1219200" y="1447800"/>
            <a:ext cx="103632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Tree>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p:titleStyle>
    <p:bodyStyle>
      <a:lvl1pPr marL="342900" indent="-34290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ea typeface="+mn-ea"/>
          <a:cs typeface="+mn-cs"/>
        </a:defRPr>
      </a:lvl1pPr>
      <a:lvl2pPr marL="742950" indent="-28575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defRPr>
      </a:lvl2pPr>
      <a:lvl3pPr marL="1143000" indent="-228600" algn="l" rtl="0" eaLnBrk="0" fontAlgn="base" hangingPunct="0">
        <a:spcBef>
          <a:spcPct val="0"/>
        </a:spcBef>
        <a:spcAft>
          <a:spcPct val="25000"/>
        </a:spcAft>
        <a:buClr>
          <a:schemeClr val="tx2"/>
        </a:buClr>
        <a:buFont typeface="Wingdings" panose="05000000000000000000" pitchFamily="2" charset="2"/>
        <a:buChar char="§"/>
        <a:defRPr sz="2400">
          <a:solidFill>
            <a:schemeClr val="accent1"/>
          </a:solidFill>
          <a:latin typeface="+mn-lt"/>
        </a:defRPr>
      </a:lvl3pPr>
      <a:lvl4pPr marL="16002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4pPr>
      <a:lvl5pPr marL="20574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0"/>
            <a:ext cx="609600" cy="6858000"/>
          </a:xfrm>
          <a:prstGeom prst="rect">
            <a:avLst/>
          </a:prstGeom>
          <a:gradFill rotWithShape="0">
            <a:gsLst>
              <a:gs pos="0">
                <a:schemeClr val="tx2"/>
              </a:gs>
              <a:gs pos="100000">
                <a:schemeClr val="accent1"/>
              </a:gs>
            </a:gsLst>
            <a:lin ang="5400000" scaled="1"/>
          </a:gradFill>
          <a:ln>
            <a:noFill/>
          </a:ln>
          <a:extLst/>
        </p:spPr>
        <p:txBody>
          <a:bodyPr wrap="none" anchor="ctr"/>
          <a:lstStyle>
            <a:lvl1pPr eaLnBrk="0" hangingPunct="0">
              <a:defRPr>
                <a:solidFill>
                  <a:schemeClr val="tx1"/>
                </a:solidFill>
                <a:latin typeface="Book Antiqua" pitchFamily="18" charset="0"/>
              </a:defRPr>
            </a:lvl1pPr>
            <a:lvl2pPr marL="742950" indent="-285750" eaLnBrk="0" hangingPunct="0">
              <a:defRPr>
                <a:solidFill>
                  <a:schemeClr val="tx1"/>
                </a:solidFill>
                <a:latin typeface="Book Antiqua" pitchFamily="18" charset="0"/>
              </a:defRPr>
            </a:lvl2pPr>
            <a:lvl3pPr marL="1143000" indent="-228600" eaLnBrk="0" hangingPunct="0">
              <a:defRPr>
                <a:solidFill>
                  <a:schemeClr val="tx1"/>
                </a:solidFill>
                <a:latin typeface="Book Antiqua" pitchFamily="18" charset="0"/>
              </a:defRPr>
            </a:lvl3pPr>
            <a:lvl4pPr marL="1600200" indent="-228600" eaLnBrk="0" hangingPunct="0">
              <a:defRPr>
                <a:solidFill>
                  <a:schemeClr val="tx1"/>
                </a:solidFill>
                <a:latin typeface="Book Antiqua" pitchFamily="18" charset="0"/>
              </a:defRPr>
            </a:lvl4pPr>
            <a:lvl5pPr marL="2057400" indent="-228600" eaLnBrk="0" hangingPunct="0">
              <a:defRPr>
                <a:solidFill>
                  <a:schemeClr val="tx1"/>
                </a:solidFill>
                <a:latin typeface="Book Antiqua" pitchFamily="18" charset="0"/>
              </a:defRPr>
            </a:lvl5pPr>
            <a:lvl6pPr marL="2514600" indent="-228600" eaLnBrk="0" fontAlgn="base" hangingPunct="0">
              <a:spcBef>
                <a:spcPct val="0"/>
              </a:spcBef>
              <a:spcAft>
                <a:spcPct val="0"/>
              </a:spcAft>
              <a:defRPr>
                <a:solidFill>
                  <a:schemeClr val="tx1"/>
                </a:solidFill>
                <a:latin typeface="Book Antiqua" pitchFamily="18" charset="0"/>
              </a:defRPr>
            </a:lvl6pPr>
            <a:lvl7pPr marL="2971800" indent="-228600" eaLnBrk="0" fontAlgn="base" hangingPunct="0">
              <a:spcBef>
                <a:spcPct val="0"/>
              </a:spcBef>
              <a:spcAft>
                <a:spcPct val="0"/>
              </a:spcAft>
              <a:defRPr>
                <a:solidFill>
                  <a:schemeClr val="tx1"/>
                </a:solidFill>
                <a:latin typeface="Book Antiqua" pitchFamily="18" charset="0"/>
              </a:defRPr>
            </a:lvl7pPr>
            <a:lvl8pPr marL="3429000" indent="-228600" eaLnBrk="0" fontAlgn="base" hangingPunct="0">
              <a:spcBef>
                <a:spcPct val="0"/>
              </a:spcBef>
              <a:spcAft>
                <a:spcPct val="0"/>
              </a:spcAft>
              <a:defRPr>
                <a:solidFill>
                  <a:schemeClr val="tx1"/>
                </a:solidFill>
                <a:latin typeface="Book Antiqua" pitchFamily="18" charset="0"/>
              </a:defRPr>
            </a:lvl8pPr>
            <a:lvl9pPr marL="3886200" indent="-228600" eaLnBrk="0" fontAlgn="base" hangingPunct="0">
              <a:spcBef>
                <a:spcPct val="0"/>
              </a:spcBef>
              <a:spcAft>
                <a:spcPct val="0"/>
              </a:spcAft>
              <a:defRPr>
                <a:solidFill>
                  <a:schemeClr val="tx1"/>
                </a:solidFill>
                <a:latin typeface="Book Antiqua" pitchFamily="18" charset="0"/>
              </a:defRPr>
            </a:lvl9pPr>
          </a:lstStyle>
          <a:p>
            <a:pPr eaLnBrk="1" fontAlgn="auto" hangingPunct="1">
              <a:spcBef>
                <a:spcPts val="0"/>
              </a:spcBef>
              <a:spcAft>
                <a:spcPts val="0"/>
              </a:spcAft>
              <a:defRPr/>
            </a:pPr>
            <a:endParaRPr lang="en-US" altLang="en-US"/>
          </a:p>
        </p:txBody>
      </p:sp>
      <p:sp>
        <p:nvSpPr>
          <p:cNvPr id="5123" name="Rectangle 3"/>
          <p:cNvSpPr>
            <a:spLocks noGrp="1" noChangeArrowheads="1"/>
          </p:cNvSpPr>
          <p:nvPr>
            <p:ph type="title"/>
          </p:nvPr>
        </p:nvSpPr>
        <p:spPr bwMode="auto">
          <a:xfrm>
            <a:off x="1219200" y="227013"/>
            <a:ext cx="10363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ltLang="en-US" smtClean="0"/>
              <a:t>Click to edit Master title style</a:t>
            </a:r>
          </a:p>
        </p:txBody>
      </p:sp>
      <p:sp>
        <p:nvSpPr>
          <p:cNvPr id="5124" name="Rectangle 4"/>
          <p:cNvSpPr>
            <a:spLocks noGrp="1" noChangeArrowheads="1"/>
          </p:cNvSpPr>
          <p:nvPr>
            <p:ph type="body" idx="1"/>
          </p:nvPr>
        </p:nvSpPr>
        <p:spPr bwMode="auto">
          <a:xfrm>
            <a:off x="1219200" y="1447800"/>
            <a:ext cx="103632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5125" name="Line 5"/>
          <p:cNvSpPr>
            <a:spLocks noChangeShapeType="1"/>
          </p:cNvSpPr>
          <p:nvPr/>
        </p:nvSpPr>
        <p:spPr bwMode="auto">
          <a:xfrm>
            <a:off x="1219200" y="1295400"/>
            <a:ext cx="10363200" cy="0"/>
          </a:xfrm>
          <a:prstGeom prst="line">
            <a:avLst/>
          </a:prstGeom>
          <a:noFill/>
          <a:ln w="254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881" r:id="rId1"/>
    <p:sldLayoutId id="2147483882" r:id="rId2"/>
    <p:sldLayoutId id="2147483883" r:id="rId3"/>
    <p:sldLayoutId id="2147483884" r:id="rId4"/>
    <p:sldLayoutId id="2147483885" r:id="rId5"/>
    <p:sldLayoutId id="2147483886" r:id="rId6"/>
    <p:sldLayoutId id="2147483887" r:id="rId7"/>
    <p:sldLayoutId id="2147483888" r:id="rId8"/>
    <p:sldLayoutId id="2147483889" r:id="rId9"/>
    <p:sldLayoutId id="2147483890" r:id="rId10"/>
    <p:sldLayoutId id="2147483891" r:id="rId11"/>
    <p:sldLayoutId id="2147483892" r:id="rId12"/>
    <p:sldLayoutId id="2147483893" r:id="rId13"/>
    <p:sldLayoutId id="2147483894" r:id="rId14"/>
    <p:sldLayoutId id="2147483895" r:id="rId15"/>
    <p:sldLayoutId id="2147483896" r:id="rId16"/>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p:titleStyle>
    <p:bodyStyle>
      <a:lvl1pPr marL="342900" indent="-34290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ea typeface="+mn-ea"/>
          <a:cs typeface="+mn-cs"/>
        </a:defRPr>
      </a:lvl1pPr>
      <a:lvl2pPr marL="742950" indent="-28575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defRPr>
      </a:lvl2pPr>
      <a:lvl3pPr marL="1143000" indent="-228600" algn="l" rtl="0" eaLnBrk="0" fontAlgn="base" hangingPunct="0">
        <a:spcBef>
          <a:spcPct val="0"/>
        </a:spcBef>
        <a:spcAft>
          <a:spcPct val="25000"/>
        </a:spcAft>
        <a:buClr>
          <a:schemeClr val="tx2"/>
        </a:buClr>
        <a:buFont typeface="Wingdings" panose="05000000000000000000" pitchFamily="2" charset="2"/>
        <a:buChar char="§"/>
        <a:defRPr sz="2400">
          <a:solidFill>
            <a:schemeClr val="accent1"/>
          </a:solidFill>
          <a:latin typeface="+mn-lt"/>
        </a:defRPr>
      </a:lvl3pPr>
      <a:lvl4pPr marL="16002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4pPr>
      <a:lvl5pPr marL="20574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0"/>
            <a:ext cx="609600" cy="6858000"/>
          </a:xfrm>
          <a:prstGeom prst="rect">
            <a:avLst/>
          </a:prstGeom>
          <a:gradFill rotWithShape="0">
            <a:gsLst>
              <a:gs pos="0">
                <a:schemeClr val="tx2"/>
              </a:gs>
              <a:gs pos="100000">
                <a:schemeClr val="accent1"/>
              </a:gs>
            </a:gsLst>
            <a:lin ang="5400000" scaled="1"/>
          </a:gradFill>
          <a:ln>
            <a:noFill/>
          </a:ln>
          <a:extLst/>
        </p:spPr>
        <p:txBody>
          <a:bodyPr wrap="none" anchor="ctr"/>
          <a:lstStyle>
            <a:lvl1pPr eaLnBrk="0" hangingPunct="0">
              <a:defRPr>
                <a:solidFill>
                  <a:schemeClr val="tx1"/>
                </a:solidFill>
                <a:latin typeface="Book Antiqua" pitchFamily="18" charset="0"/>
              </a:defRPr>
            </a:lvl1pPr>
            <a:lvl2pPr marL="742950" indent="-285750" eaLnBrk="0" hangingPunct="0">
              <a:defRPr>
                <a:solidFill>
                  <a:schemeClr val="tx1"/>
                </a:solidFill>
                <a:latin typeface="Book Antiqua" pitchFamily="18" charset="0"/>
              </a:defRPr>
            </a:lvl2pPr>
            <a:lvl3pPr marL="1143000" indent="-228600" eaLnBrk="0" hangingPunct="0">
              <a:defRPr>
                <a:solidFill>
                  <a:schemeClr val="tx1"/>
                </a:solidFill>
                <a:latin typeface="Book Antiqua" pitchFamily="18" charset="0"/>
              </a:defRPr>
            </a:lvl3pPr>
            <a:lvl4pPr marL="1600200" indent="-228600" eaLnBrk="0" hangingPunct="0">
              <a:defRPr>
                <a:solidFill>
                  <a:schemeClr val="tx1"/>
                </a:solidFill>
                <a:latin typeface="Book Antiqua" pitchFamily="18" charset="0"/>
              </a:defRPr>
            </a:lvl4pPr>
            <a:lvl5pPr marL="2057400" indent="-228600" eaLnBrk="0" hangingPunct="0">
              <a:defRPr>
                <a:solidFill>
                  <a:schemeClr val="tx1"/>
                </a:solidFill>
                <a:latin typeface="Book Antiqua" pitchFamily="18" charset="0"/>
              </a:defRPr>
            </a:lvl5pPr>
            <a:lvl6pPr marL="2514600" indent="-228600" eaLnBrk="0" fontAlgn="base" hangingPunct="0">
              <a:spcBef>
                <a:spcPct val="0"/>
              </a:spcBef>
              <a:spcAft>
                <a:spcPct val="0"/>
              </a:spcAft>
              <a:defRPr>
                <a:solidFill>
                  <a:schemeClr val="tx1"/>
                </a:solidFill>
                <a:latin typeface="Book Antiqua" pitchFamily="18" charset="0"/>
              </a:defRPr>
            </a:lvl6pPr>
            <a:lvl7pPr marL="2971800" indent="-228600" eaLnBrk="0" fontAlgn="base" hangingPunct="0">
              <a:spcBef>
                <a:spcPct val="0"/>
              </a:spcBef>
              <a:spcAft>
                <a:spcPct val="0"/>
              </a:spcAft>
              <a:defRPr>
                <a:solidFill>
                  <a:schemeClr val="tx1"/>
                </a:solidFill>
                <a:latin typeface="Book Antiqua" pitchFamily="18" charset="0"/>
              </a:defRPr>
            </a:lvl7pPr>
            <a:lvl8pPr marL="3429000" indent="-228600" eaLnBrk="0" fontAlgn="base" hangingPunct="0">
              <a:spcBef>
                <a:spcPct val="0"/>
              </a:spcBef>
              <a:spcAft>
                <a:spcPct val="0"/>
              </a:spcAft>
              <a:defRPr>
                <a:solidFill>
                  <a:schemeClr val="tx1"/>
                </a:solidFill>
                <a:latin typeface="Book Antiqua" pitchFamily="18" charset="0"/>
              </a:defRPr>
            </a:lvl8pPr>
            <a:lvl9pPr marL="3886200" indent="-228600" eaLnBrk="0" fontAlgn="base" hangingPunct="0">
              <a:spcBef>
                <a:spcPct val="0"/>
              </a:spcBef>
              <a:spcAft>
                <a:spcPct val="0"/>
              </a:spcAft>
              <a:defRPr>
                <a:solidFill>
                  <a:schemeClr val="tx1"/>
                </a:solidFill>
                <a:latin typeface="Book Antiqua" pitchFamily="18" charset="0"/>
              </a:defRPr>
            </a:lvl9pPr>
          </a:lstStyle>
          <a:p>
            <a:pPr eaLnBrk="1" fontAlgn="auto" hangingPunct="1">
              <a:spcBef>
                <a:spcPts val="0"/>
              </a:spcBef>
              <a:spcAft>
                <a:spcPts val="0"/>
              </a:spcAft>
              <a:defRPr/>
            </a:pPr>
            <a:endParaRPr lang="en-US" altLang="en-US"/>
          </a:p>
        </p:txBody>
      </p:sp>
      <p:sp>
        <p:nvSpPr>
          <p:cNvPr id="6147" name="Line 5"/>
          <p:cNvSpPr>
            <a:spLocks noChangeShapeType="1"/>
          </p:cNvSpPr>
          <p:nvPr/>
        </p:nvSpPr>
        <p:spPr bwMode="auto">
          <a:xfrm>
            <a:off x="1219200" y="1295400"/>
            <a:ext cx="10363200" cy="0"/>
          </a:xfrm>
          <a:prstGeom prst="line">
            <a:avLst/>
          </a:prstGeom>
          <a:noFill/>
          <a:ln w="254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148" name="Rectangle 3"/>
          <p:cNvSpPr>
            <a:spLocks noGrp="1" noChangeArrowheads="1"/>
          </p:cNvSpPr>
          <p:nvPr>
            <p:ph type="title"/>
          </p:nvPr>
        </p:nvSpPr>
        <p:spPr bwMode="auto">
          <a:xfrm>
            <a:off x="1219200" y="227013"/>
            <a:ext cx="10363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ltLang="en-US" smtClean="0"/>
              <a:t>Click to edit Master title style</a:t>
            </a:r>
          </a:p>
        </p:txBody>
      </p:sp>
      <p:sp>
        <p:nvSpPr>
          <p:cNvPr id="6149" name="Rectangle 4"/>
          <p:cNvSpPr>
            <a:spLocks noGrp="1" noChangeArrowheads="1"/>
          </p:cNvSpPr>
          <p:nvPr>
            <p:ph type="body" idx="1"/>
          </p:nvPr>
        </p:nvSpPr>
        <p:spPr bwMode="auto">
          <a:xfrm>
            <a:off x="1219200" y="1447800"/>
            <a:ext cx="103632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7" name="Date Placeholder 6"/>
          <p:cNvSpPr>
            <a:spLocks noGrp="1"/>
          </p:cNvSpPr>
          <p:nvPr>
            <p:ph type="dt" sz="half" idx="2"/>
          </p:nvPr>
        </p:nvSpPr>
        <p:spPr>
          <a:xfrm>
            <a:off x="609600" y="6245225"/>
            <a:ext cx="2844800" cy="476250"/>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8" name="Footer Placeholder 7"/>
          <p:cNvSpPr>
            <a:spLocks noGrp="1"/>
          </p:cNvSpPr>
          <p:nvPr>
            <p:ph type="ftr" sz="quarter" idx="3"/>
          </p:nvPr>
        </p:nvSpPr>
        <p:spPr>
          <a:xfrm>
            <a:off x="4165600" y="6245225"/>
            <a:ext cx="3860800" cy="476250"/>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Slide Number Placeholder 8"/>
          <p:cNvSpPr>
            <a:spLocks noGrp="1"/>
          </p:cNvSpPr>
          <p:nvPr>
            <p:ph type="sldNum" sz="quarter" idx="4"/>
          </p:nvPr>
        </p:nvSpPr>
        <p:spPr>
          <a:xfrm>
            <a:off x="8737600" y="6245225"/>
            <a:ext cx="2844800" cy="47625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7F15C0D-3418-4552-AFF7-49DE47EE301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 id="2147483906" r:id="rId10"/>
    <p:sldLayoutId id="2147483907" r:id="rId11"/>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p:titleStyle>
    <p:bodyStyle>
      <a:lvl1pPr marL="342900" indent="-34290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ea typeface="+mn-ea"/>
          <a:cs typeface="+mn-cs"/>
        </a:defRPr>
      </a:lvl1pPr>
      <a:lvl2pPr marL="742950" indent="-28575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defRPr>
      </a:lvl2pPr>
      <a:lvl3pPr marL="1143000" indent="-228600" algn="l" rtl="0" eaLnBrk="0" fontAlgn="base" hangingPunct="0">
        <a:spcBef>
          <a:spcPct val="0"/>
        </a:spcBef>
        <a:spcAft>
          <a:spcPct val="25000"/>
        </a:spcAft>
        <a:buClr>
          <a:schemeClr val="tx2"/>
        </a:buClr>
        <a:buFont typeface="Wingdings" panose="05000000000000000000" pitchFamily="2" charset="2"/>
        <a:buChar char="§"/>
        <a:defRPr sz="2400">
          <a:solidFill>
            <a:schemeClr val="accent1"/>
          </a:solidFill>
          <a:latin typeface="+mn-lt"/>
        </a:defRPr>
      </a:lvl3pPr>
      <a:lvl4pPr marL="16002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4pPr>
      <a:lvl5pPr marL="20574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4"/>
          <p:cNvSpPr>
            <a:spLocks noChangeArrowheads="1"/>
          </p:cNvSpPr>
          <p:nvPr/>
        </p:nvSpPr>
        <p:spPr bwMode="auto">
          <a:xfrm>
            <a:off x="0" y="0"/>
            <a:ext cx="609600" cy="6858000"/>
          </a:xfrm>
          <a:prstGeom prst="rect">
            <a:avLst/>
          </a:prstGeom>
          <a:gradFill rotWithShape="0">
            <a:gsLst>
              <a:gs pos="0">
                <a:schemeClr val="tx2"/>
              </a:gs>
              <a:gs pos="100000">
                <a:schemeClr val="accent1"/>
              </a:gs>
            </a:gsLst>
            <a:lin ang="5400000" scaled="1"/>
          </a:gradFill>
          <a:ln>
            <a:noFill/>
          </a:ln>
          <a:extLst/>
        </p:spPr>
        <p:txBody>
          <a:bodyPr wrap="none" anchor="ctr"/>
          <a:lstStyle>
            <a:lvl1pPr eaLnBrk="0" hangingPunct="0">
              <a:defRPr>
                <a:solidFill>
                  <a:schemeClr val="tx1"/>
                </a:solidFill>
                <a:latin typeface="Book Antiqua" pitchFamily="18" charset="0"/>
              </a:defRPr>
            </a:lvl1pPr>
            <a:lvl2pPr marL="742950" indent="-285750" eaLnBrk="0" hangingPunct="0">
              <a:defRPr>
                <a:solidFill>
                  <a:schemeClr val="tx1"/>
                </a:solidFill>
                <a:latin typeface="Book Antiqua" pitchFamily="18" charset="0"/>
              </a:defRPr>
            </a:lvl2pPr>
            <a:lvl3pPr marL="1143000" indent="-228600" eaLnBrk="0" hangingPunct="0">
              <a:defRPr>
                <a:solidFill>
                  <a:schemeClr val="tx1"/>
                </a:solidFill>
                <a:latin typeface="Book Antiqua" pitchFamily="18" charset="0"/>
              </a:defRPr>
            </a:lvl3pPr>
            <a:lvl4pPr marL="1600200" indent="-228600" eaLnBrk="0" hangingPunct="0">
              <a:defRPr>
                <a:solidFill>
                  <a:schemeClr val="tx1"/>
                </a:solidFill>
                <a:latin typeface="Book Antiqua" pitchFamily="18" charset="0"/>
              </a:defRPr>
            </a:lvl4pPr>
            <a:lvl5pPr marL="2057400" indent="-228600" eaLnBrk="0" hangingPunct="0">
              <a:defRPr>
                <a:solidFill>
                  <a:schemeClr val="tx1"/>
                </a:solidFill>
                <a:latin typeface="Book Antiqua" pitchFamily="18" charset="0"/>
              </a:defRPr>
            </a:lvl5pPr>
            <a:lvl6pPr marL="2514600" indent="-228600" eaLnBrk="0" fontAlgn="base" hangingPunct="0">
              <a:spcBef>
                <a:spcPct val="0"/>
              </a:spcBef>
              <a:spcAft>
                <a:spcPct val="0"/>
              </a:spcAft>
              <a:defRPr>
                <a:solidFill>
                  <a:schemeClr val="tx1"/>
                </a:solidFill>
                <a:latin typeface="Book Antiqua" pitchFamily="18" charset="0"/>
              </a:defRPr>
            </a:lvl6pPr>
            <a:lvl7pPr marL="2971800" indent="-228600" eaLnBrk="0" fontAlgn="base" hangingPunct="0">
              <a:spcBef>
                <a:spcPct val="0"/>
              </a:spcBef>
              <a:spcAft>
                <a:spcPct val="0"/>
              </a:spcAft>
              <a:defRPr>
                <a:solidFill>
                  <a:schemeClr val="tx1"/>
                </a:solidFill>
                <a:latin typeface="Book Antiqua" pitchFamily="18" charset="0"/>
              </a:defRPr>
            </a:lvl7pPr>
            <a:lvl8pPr marL="3429000" indent="-228600" eaLnBrk="0" fontAlgn="base" hangingPunct="0">
              <a:spcBef>
                <a:spcPct val="0"/>
              </a:spcBef>
              <a:spcAft>
                <a:spcPct val="0"/>
              </a:spcAft>
              <a:defRPr>
                <a:solidFill>
                  <a:schemeClr val="tx1"/>
                </a:solidFill>
                <a:latin typeface="Book Antiqua" pitchFamily="18" charset="0"/>
              </a:defRPr>
            </a:lvl8pPr>
            <a:lvl9pPr marL="3886200" indent="-228600" eaLnBrk="0" fontAlgn="base" hangingPunct="0">
              <a:spcBef>
                <a:spcPct val="0"/>
              </a:spcBef>
              <a:spcAft>
                <a:spcPct val="0"/>
              </a:spcAft>
              <a:defRPr>
                <a:solidFill>
                  <a:schemeClr val="tx1"/>
                </a:solidFill>
                <a:latin typeface="Book Antiqua" pitchFamily="18" charset="0"/>
              </a:defRPr>
            </a:lvl9pPr>
          </a:lstStyle>
          <a:p>
            <a:pPr eaLnBrk="1" fontAlgn="auto" hangingPunct="1">
              <a:spcBef>
                <a:spcPts val="0"/>
              </a:spcBef>
              <a:spcAft>
                <a:spcPts val="0"/>
              </a:spcAft>
              <a:defRPr/>
            </a:pPr>
            <a:endParaRPr lang="en-US" altLang="en-US"/>
          </a:p>
        </p:txBody>
      </p:sp>
      <p:sp>
        <p:nvSpPr>
          <p:cNvPr id="7171" name="Line 6"/>
          <p:cNvSpPr>
            <a:spLocks noChangeShapeType="1"/>
          </p:cNvSpPr>
          <p:nvPr/>
        </p:nvSpPr>
        <p:spPr bwMode="auto">
          <a:xfrm>
            <a:off x="1219200" y="2970213"/>
            <a:ext cx="10363200" cy="0"/>
          </a:xfrm>
          <a:prstGeom prst="line">
            <a:avLst/>
          </a:prstGeom>
          <a:noFill/>
          <a:ln w="254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173" name="Rectangle 3"/>
          <p:cNvSpPr>
            <a:spLocks noGrp="1" noChangeArrowheads="1"/>
          </p:cNvSpPr>
          <p:nvPr>
            <p:ph type="title"/>
          </p:nvPr>
        </p:nvSpPr>
        <p:spPr bwMode="auto">
          <a:xfrm>
            <a:off x="1219200" y="227013"/>
            <a:ext cx="10363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ltLang="en-US" smtClean="0"/>
              <a:t>Click to edit Master title style</a:t>
            </a:r>
          </a:p>
        </p:txBody>
      </p:sp>
      <p:sp>
        <p:nvSpPr>
          <p:cNvPr id="7174" name="Rectangle 4"/>
          <p:cNvSpPr>
            <a:spLocks noGrp="1" noChangeArrowheads="1"/>
          </p:cNvSpPr>
          <p:nvPr>
            <p:ph type="body" idx="1"/>
          </p:nvPr>
        </p:nvSpPr>
        <p:spPr bwMode="auto">
          <a:xfrm>
            <a:off x="1219200" y="1447800"/>
            <a:ext cx="103632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Tree>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p:titleStyle>
    <p:bodyStyle>
      <a:lvl1pPr marL="342900" indent="-34290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ea typeface="+mn-ea"/>
          <a:cs typeface="+mn-cs"/>
        </a:defRPr>
      </a:lvl1pPr>
      <a:lvl2pPr marL="742950" indent="-285750" algn="l" rtl="0" eaLnBrk="0" fontAlgn="base" hangingPunct="0">
        <a:spcBef>
          <a:spcPct val="0"/>
        </a:spcBef>
        <a:spcAft>
          <a:spcPct val="25000"/>
        </a:spcAft>
        <a:buClr>
          <a:schemeClr val="tx2"/>
        </a:buClr>
        <a:buFont typeface="Wingdings" panose="05000000000000000000" pitchFamily="2" charset="2"/>
        <a:buChar char="§"/>
        <a:defRPr sz="2800">
          <a:solidFill>
            <a:schemeClr val="accent1"/>
          </a:solidFill>
          <a:latin typeface="+mn-lt"/>
        </a:defRPr>
      </a:lvl2pPr>
      <a:lvl3pPr marL="1143000" indent="-228600" algn="l" rtl="0" eaLnBrk="0" fontAlgn="base" hangingPunct="0">
        <a:spcBef>
          <a:spcPct val="0"/>
        </a:spcBef>
        <a:spcAft>
          <a:spcPct val="25000"/>
        </a:spcAft>
        <a:buClr>
          <a:schemeClr val="tx2"/>
        </a:buClr>
        <a:buFont typeface="Wingdings" panose="05000000000000000000" pitchFamily="2" charset="2"/>
        <a:buChar char="§"/>
        <a:defRPr sz="2400">
          <a:solidFill>
            <a:schemeClr val="accent1"/>
          </a:solidFill>
          <a:latin typeface="+mn-lt"/>
        </a:defRPr>
      </a:lvl3pPr>
      <a:lvl4pPr marL="16002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4pPr>
      <a:lvl5pPr marL="2057400" indent="-228600" algn="l" rtl="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mn-lt"/>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0.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9.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9.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9.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9.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9.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9.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9.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0.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0.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69.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6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69.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69.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0.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69.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69.xml"/><Relationship Id="rId5" Type="http://schemas.openxmlformats.org/officeDocument/2006/relationships/image" Target="../media/image30.jpe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69.xml"/><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69.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Title 1"/>
          <p:cNvSpPr>
            <a:spLocks noGrp="1"/>
          </p:cNvSpPr>
          <p:nvPr>
            <p:ph type="ctrTitle"/>
          </p:nvPr>
        </p:nvSpPr>
        <p:spPr>
          <a:xfrm>
            <a:off x="2209800" y="3200400"/>
            <a:ext cx="8534400" cy="631825"/>
          </a:xfrm>
        </p:spPr>
        <p:txBody>
          <a:bodyPr/>
          <a:lstStyle/>
          <a:p>
            <a:pPr eaLnBrk="1" hangingPunct="1"/>
            <a:r>
              <a:rPr lang="en-US" altLang="en-US" sz="5400" dirty="0" smtClean="0"/>
              <a:t>Neuroanatomy imaging lab</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Goals for this lab</a:t>
            </a:r>
            <a:endParaRPr lang="en-US" dirty="0"/>
          </a:p>
        </p:txBody>
      </p:sp>
      <p:sp>
        <p:nvSpPr>
          <p:cNvPr id="3" name="Content Placeholder 2"/>
          <p:cNvSpPr>
            <a:spLocks noGrp="1"/>
          </p:cNvSpPr>
          <p:nvPr>
            <p:ph idx="1"/>
          </p:nvPr>
        </p:nvSpPr>
        <p:spPr>
          <a:xfrm>
            <a:off x="1219200" y="1447800"/>
            <a:ext cx="10363200" cy="3247685"/>
          </a:xfrm>
        </p:spPr>
        <p:txBody>
          <a:bodyPr/>
          <a:lstStyle/>
          <a:p>
            <a:r>
              <a:rPr lang="en-US" sz="2000" dirty="0" smtClean="0"/>
              <a:t>Identify </a:t>
            </a:r>
            <a:r>
              <a:rPr lang="en-US" sz="2000" dirty="0"/>
              <a:t>cranial nerve nuclei based on important anatomic landmarks on cross-sectional imaging</a:t>
            </a:r>
            <a:r>
              <a:rPr lang="en-US" sz="2000" dirty="0" smtClean="0"/>
              <a:t>.</a:t>
            </a:r>
            <a:endParaRPr lang="en-US" sz="2000" dirty="0"/>
          </a:p>
          <a:p>
            <a:r>
              <a:rPr lang="en-US" sz="2000" dirty="0" smtClean="0"/>
              <a:t>Name important</a:t>
            </a:r>
            <a:r>
              <a:rPr lang="en-US" sz="2000" dirty="0"/>
              <a:t>  anatomic relationship of </a:t>
            </a:r>
            <a:r>
              <a:rPr lang="en-US" sz="2000" dirty="0" err="1"/>
              <a:t>cisternal</a:t>
            </a:r>
            <a:r>
              <a:rPr lang="en-US" sz="2000" dirty="0"/>
              <a:t> portions of CNs and nearby structures. </a:t>
            </a:r>
            <a:r>
              <a:rPr lang="en-US" sz="2000" dirty="0" smtClean="0"/>
              <a:t> </a:t>
            </a:r>
            <a:endParaRPr lang="en-US" sz="2000" dirty="0"/>
          </a:p>
          <a:p>
            <a:r>
              <a:rPr lang="en-US" sz="2000" dirty="0" smtClean="0"/>
              <a:t>Identify</a:t>
            </a:r>
            <a:r>
              <a:rPr lang="en-US" sz="2000" dirty="0"/>
              <a:t>  the foramina through which the cranial nerves exit the skull base on cross-sectional imaging. </a:t>
            </a:r>
            <a:r>
              <a:rPr lang="en-US" sz="2000" dirty="0" smtClean="0"/>
              <a:t> </a:t>
            </a:r>
            <a:endParaRPr lang="en-US" sz="2000" dirty="0"/>
          </a:p>
          <a:p>
            <a:r>
              <a:rPr lang="en-US" sz="2000" dirty="0" smtClean="0"/>
              <a:t>Discuss the </a:t>
            </a:r>
            <a:r>
              <a:rPr lang="en-US" sz="2000" dirty="0"/>
              <a:t>innervation and action of the extraocular muscles. </a:t>
            </a:r>
            <a:r>
              <a:rPr lang="en-US" sz="2000" dirty="0" smtClean="0"/>
              <a:t> ​</a:t>
            </a:r>
            <a:endParaRPr lang="en-US" sz="2000" dirty="0"/>
          </a:p>
          <a:p>
            <a:r>
              <a:rPr lang="en-US" sz="2000" dirty="0" smtClean="0"/>
              <a:t>Describe major </a:t>
            </a:r>
            <a:r>
              <a:rPr lang="en-US" sz="2000" dirty="0"/>
              <a:t>anatomic relationships of the cranial nerves in the cavernous sinus. </a:t>
            </a:r>
            <a:r>
              <a:rPr lang="en-US" sz="2000" dirty="0" smtClean="0"/>
              <a:t> </a:t>
            </a:r>
            <a:endParaRPr lang="en-US" sz="2000" dirty="0"/>
          </a:p>
          <a:p>
            <a:endParaRPr lang="en-US" sz="2000" dirty="0"/>
          </a:p>
        </p:txBody>
      </p:sp>
    </p:spTree>
    <p:extLst>
      <p:ext uri="{BB962C8B-B14F-4D97-AF65-F5344CB8AC3E}">
        <p14:creationId xmlns:p14="http://schemas.microsoft.com/office/powerpoint/2010/main" val="3720773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Title 1"/>
          <p:cNvSpPr>
            <a:spLocks noGrp="1"/>
          </p:cNvSpPr>
          <p:nvPr>
            <p:ph type="title" idx="4294967295"/>
          </p:nvPr>
        </p:nvSpPr>
        <p:spPr/>
        <p:txBody>
          <a:bodyPr/>
          <a:lstStyle/>
          <a:p>
            <a:pPr eaLnBrk="1" hangingPunct="1"/>
            <a:r>
              <a:rPr lang="en-US" altLang="en-US" smtClean="0"/>
              <a:t>Outline</a:t>
            </a:r>
          </a:p>
        </p:txBody>
      </p:sp>
      <p:sp>
        <p:nvSpPr>
          <p:cNvPr id="10243" name="Content Placeholder 2"/>
          <p:cNvSpPr>
            <a:spLocks noGrp="1"/>
          </p:cNvSpPr>
          <p:nvPr>
            <p:ph idx="4294967295"/>
          </p:nvPr>
        </p:nvSpPr>
        <p:spPr>
          <a:xfrm>
            <a:off x="1066800" y="1447800"/>
            <a:ext cx="10439400" cy="5017400"/>
          </a:xfrm>
        </p:spPr>
        <p:txBody>
          <a:bodyPr/>
          <a:lstStyle/>
          <a:p>
            <a:r>
              <a:rPr lang="en-US" altLang="en-US" sz="2000" dirty="0" smtClean="0"/>
              <a:t>5 min –  Lab start-up and Introduction</a:t>
            </a:r>
          </a:p>
          <a:p>
            <a:r>
              <a:rPr lang="en-US" altLang="en-US" sz="2000" dirty="0" smtClean="0"/>
              <a:t>27 min – Brain</a:t>
            </a:r>
          </a:p>
          <a:p>
            <a:pPr lvl="1"/>
            <a:r>
              <a:rPr lang="en-US" altLang="en-US" sz="2000" dirty="0" smtClean="0"/>
              <a:t>20 min – Brain MR</a:t>
            </a:r>
          </a:p>
          <a:p>
            <a:pPr lvl="1"/>
            <a:r>
              <a:rPr lang="en-US" altLang="en-US" sz="2000" dirty="0" smtClean="0"/>
              <a:t>7 min – Cases</a:t>
            </a:r>
          </a:p>
          <a:p>
            <a:r>
              <a:rPr lang="en-US" altLang="en-US" sz="2000" dirty="0" smtClean="0"/>
              <a:t>32 min – Upper cranial nerves</a:t>
            </a:r>
          </a:p>
          <a:p>
            <a:pPr lvl="1"/>
            <a:r>
              <a:rPr lang="en-US" altLang="en-US" sz="2000" dirty="0" smtClean="0"/>
              <a:t>5 </a:t>
            </a:r>
            <a:r>
              <a:rPr lang="en-US" altLang="en-US" sz="2000" dirty="0" err="1" smtClean="0"/>
              <a:t>mins</a:t>
            </a:r>
            <a:r>
              <a:rPr lang="en-US" altLang="en-US" sz="2000" dirty="0" smtClean="0"/>
              <a:t> – Cavernous sinuses</a:t>
            </a:r>
          </a:p>
          <a:p>
            <a:pPr lvl="1"/>
            <a:r>
              <a:rPr lang="en-US" altLang="en-US" sz="2000" dirty="0" smtClean="0"/>
              <a:t>20 </a:t>
            </a:r>
            <a:r>
              <a:rPr lang="en-US" altLang="en-US" sz="2000" dirty="0" err="1" smtClean="0"/>
              <a:t>mins</a:t>
            </a:r>
            <a:r>
              <a:rPr lang="en-US" altLang="en-US" sz="2000" dirty="0" smtClean="0"/>
              <a:t> -  Upper cranial nerves MR/CT</a:t>
            </a:r>
          </a:p>
          <a:p>
            <a:pPr lvl="1"/>
            <a:r>
              <a:rPr lang="en-US" altLang="en-US" sz="2000" dirty="0" smtClean="0"/>
              <a:t>7 min – Cases</a:t>
            </a:r>
          </a:p>
          <a:p>
            <a:r>
              <a:rPr lang="en-US" altLang="en-US" sz="2000" dirty="0" smtClean="0"/>
              <a:t>35 min – Lower cranial nerves</a:t>
            </a:r>
          </a:p>
          <a:p>
            <a:pPr lvl="1"/>
            <a:r>
              <a:rPr lang="en-US" altLang="en-US" sz="2000" dirty="0" smtClean="0"/>
              <a:t>15 min- Temporal bone structures</a:t>
            </a:r>
          </a:p>
          <a:p>
            <a:pPr lvl="1"/>
            <a:r>
              <a:rPr lang="en-US" altLang="en-US" sz="2000" dirty="0" smtClean="0"/>
              <a:t>15 min -  Lower cranial nerves MR/CT </a:t>
            </a:r>
          </a:p>
          <a:p>
            <a:pPr lvl="1"/>
            <a:r>
              <a:rPr lang="en-US" altLang="en-US" sz="2000" dirty="0" smtClean="0"/>
              <a:t>5 min - Cases</a:t>
            </a:r>
          </a:p>
          <a:p>
            <a:r>
              <a:rPr lang="en-US" altLang="en-US" sz="2000" dirty="0" smtClean="0"/>
              <a:t>7 min - Questions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1"/>
          <p:cNvSpPr txBox="1">
            <a:spLocks/>
          </p:cNvSpPr>
          <p:nvPr/>
        </p:nvSpPr>
        <p:spPr bwMode="auto">
          <a:xfrm>
            <a:off x="5334000" y="2362200"/>
            <a:ext cx="1600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lgn="l" rtl="0" eaLnBrk="1" fontAlgn="base" hangingPunct="1">
              <a:spcBef>
                <a:spcPct val="0"/>
              </a:spcBef>
              <a:spcAft>
                <a:spcPct val="0"/>
              </a:spcAft>
              <a:defRPr sz="40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defRPr/>
            </a:pPr>
            <a:r>
              <a:rPr lang="en-US" altLang="en-US" kern="0" dirty="0" smtClean="0">
                <a:solidFill>
                  <a:schemeClr val="accent5"/>
                </a:solidFill>
              </a:rPr>
              <a:t>Brain </a:t>
            </a:r>
            <a:endParaRPr lang="en-US" altLang="en-US" kern="0" dirty="0">
              <a:solidFill>
                <a:schemeClr val="accent5"/>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1524000" y="304800"/>
            <a:ext cx="5029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lgn="l" rtl="0" eaLnBrk="1" fontAlgn="base" hangingPunct="1">
              <a:spcBef>
                <a:spcPct val="0"/>
              </a:spcBef>
              <a:spcAft>
                <a:spcPct val="0"/>
              </a:spcAft>
              <a:defRPr sz="40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defRPr/>
            </a:pPr>
            <a:r>
              <a:rPr lang="en-US" altLang="en-US" kern="0" dirty="0" smtClean="0">
                <a:solidFill>
                  <a:schemeClr val="accent5"/>
                </a:solidFill>
              </a:rPr>
              <a:t>Brain structures list </a:t>
            </a:r>
            <a:endParaRPr lang="en-US" altLang="en-US" kern="0" dirty="0">
              <a:solidFill>
                <a:schemeClr val="accent5"/>
              </a:solidFill>
            </a:endParaRPr>
          </a:p>
        </p:txBody>
      </p:sp>
      <p:sp>
        <p:nvSpPr>
          <p:cNvPr id="12291" name="TextBox 1"/>
          <p:cNvSpPr txBox="1">
            <a:spLocks noChangeArrowheads="1"/>
          </p:cNvSpPr>
          <p:nvPr/>
        </p:nvSpPr>
        <p:spPr bwMode="auto">
          <a:xfrm>
            <a:off x="1334386" y="1257301"/>
            <a:ext cx="10552814" cy="5638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3">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marL="342900" indent="-342900">
              <a:spcAft>
                <a:spcPct val="0"/>
              </a:spcAft>
              <a:buClrTx/>
              <a:buFont typeface="+mj-lt"/>
              <a:buAutoNum type="arabicPeriod"/>
            </a:pPr>
            <a:r>
              <a:rPr lang="en-US" altLang="en-US" sz="1800" dirty="0"/>
              <a:t>Frontal lobe</a:t>
            </a:r>
          </a:p>
          <a:p>
            <a:pPr marL="342900" indent="-342900">
              <a:spcAft>
                <a:spcPct val="0"/>
              </a:spcAft>
              <a:buClrTx/>
              <a:buFont typeface="+mj-lt"/>
              <a:buAutoNum type="arabicPeriod"/>
            </a:pPr>
            <a:r>
              <a:rPr lang="en-US" altLang="en-US" sz="1800" dirty="0"/>
              <a:t>Parietal lobe</a:t>
            </a:r>
          </a:p>
          <a:p>
            <a:pPr marL="342900" indent="-342900">
              <a:spcAft>
                <a:spcPct val="0"/>
              </a:spcAft>
              <a:buClrTx/>
              <a:buFont typeface="+mj-lt"/>
              <a:buAutoNum type="arabicPeriod"/>
            </a:pPr>
            <a:r>
              <a:rPr lang="en-US" altLang="en-US" sz="1800" dirty="0"/>
              <a:t>Temporal lobe</a:t>
            </a:r>
          </a:p>
          <a:p>
            <a:pPr marL="342900" indent="-342900">
              <a:spcAft>
                <a:spcPct val="0"/>
              </a:spcAft>
              <a:buClrTx/>
              <a:buFont typeface="+mj-lt"/>
              <a:buAutoNum type="arabicPeriod"/>
            </a:pPr>
            <a:r>
              <a:rPr lang="en-US" altLang="en-US" sz="1800" dirty="0"/>
              <a:t>Occipital </a:t>
            </a:r>
            <a:r>
              <a:rPr lang="en-US" altLang="en-US" sz="1800" dirty="0" smtClean="0"/>
              <a:t>lobe</a:t>
            </a:r>
            <a:br>
              <a:rPr lang="en-US" altLang="en-US" sz="1800" dirty="0" smtClean="0"/>
            </a:br>
            <a:endParaRPr lang="en-US" altLang="en-US" sz="1800" dirty="0"/>
          </a:p>
          <a:p>
            <a:pPr marL="342900" indent="-342900">
              <a:spcAft>
                <a:spcPct val="0"/>
              </a:spcAft>
              <a:buClrTx/>
              <a:buFont typeface="+mj-lt"/>
              <a:buAutoNum type="arabicPeriod"/>
            </a:pPr>
            <a:r>
              <a:rPr lang="en-US" altLang="en-US" sz="1800" dirty="0"/>
              <a:t>Sylvian fissure</a:t>
            </a:r>
          </a:p>
          <a:p>
            <a:pPr marL="342900" indent="-342900">
              <a:spcAft>
                <a:spcPct val="0"/>
              </a:spcAft>
              <a:buClrTx/>
              <a:buFont typeface="+mj-lt"/>
              <a:buAutoNum type="arabicPeriod"/>
            </a:pPr>
            <a:r>
              <a:rPr lang="en-US" altLang="en-US" sz="1800" dirty="0"/>
              <a:t>Central </a:t>
            </a:r>
            <a:r>
              <a:rPr lang="en-US" altLang="en-US" sz="1800" dirty="0" smtClean="0"/>
              <a:t>sulcus</a:t>
            </a:r>
            <a:br>
              <a:rPr lang="en-US" altLang="en-US" sz="1800" dirty="0" smtClean="0"/>
            </a:br>
            <a:endParaRPr lang="en-US" altLang="en-US" sz="1800" dirty="0"/>
          </a:p>
          <a:p>
            <a:pPr marL="342900" indent="-342900">
              <a:spcAft>
                <a:spcPct val="0"/>
              </a:spcAft>
              <a:buClrTx/>
              <a:buFont typeface="+mj-lt"/>
              <a:buAutoNum type="arabicPeriod"/>
            </a:pPr>
            <a:r>
              <a:rPr lang="en-US" altLang="en-US" sz="1800" dirty="0"/>
              <a:t>Putamen</a:t>
            </a:r>
          </a:p>
          <a:p>
            <a:pPr marL="342900" indent="-342900">
              <a:spcAft>
                <a:spcPct val="0"/>
              </a:spcAft>
              <a:buClrTx/>
              <a:buFont typeface="+mj-lt"/>
              <a:buAutoNum type="arabicPeriod"/>
            </a:pPr>
            <a:r>
              <a:rPr lang="en-US" altLang="en-US" sz="1800" dirty="0"/>
              <a:t>Caudate</a:t>
            </a:r>
          </a:p>
          <a:p>
            <a:pPr marL="342900" indent="-342900">
              <a:spcAft>
                <a:spcPct val="0"/>
              </a:spcAft>
              <a:buClrTx/>
              <a:buFont typeface="+mj-lt"/>
              <a:buAutoNum type="arabicPeriod"/>
            </a:pPr>
            <a:r>
              <a:rPr lang="en-US" altLang="en-US" sz="1800" dirty="0"/>
              <a:t>Globus </a:t>
            </a:r>
            <a:r>
              <a:rPr lang="en-US" altLang="en-US" sz="1800" dirty="0" err="1"/>
              <a:t>pallidus</a:t>
            </a:r>
            <a:endParaRPr lang="en-US" altLang="en-US" sz="1800" dirty="0"/>
          </a:p>
          <a:p>
            <a:pPr marL="342900" indent="-342900">
              <a:spcAft>
                <a:spcPct val="0"/>
              </a:spcAft>
              <a:buClrTx/>
              <a:buFont typeface="+mj-lt"/>
              <a:buAutoNum type="arabicPeriod"/>
            </a:pPr>
            <a:r>
              <a:rPr lang="en-US" altLang="en-US" sz="1800" dirty="0"/>
              <a:t>Thalamus</a:t>
            </a:r>
          </a:p>
          <a:p>
            <a:pPr marL="342900" indent="-342900">
              <a:spcAft>
                <a:spcPct val="0"/>
              </a:spcAft>
              <a:buClrTx/>
              <a:buFont typeface="+mj-lt"/>
              <a:buAutoNum type="arabicPeriod"/>
            </a:pPr>
            <a:r>
              <a:rPr lang="en-US" altLang="en-US" sz="1800" dirty="0"/>
              <a:t>External capsule</a:t>
            </a:r>
          </a:p>
          <a:p>
            <a:pPr marL="342900" indent="-342900">
              <a:spcAft>
                <a:spcPct val="0"/>
              </a:spcAft>
              <a:buClrTx/>
              <a:buFont typeface="+mj-lt"/>
              <a:buAutoNum type="arabicPeriod"/>
            </a:pPr>
            <a:r>
              <a:rPr lang="en-US" altLang="en-US" sz="1800" dirty="0" smtClean="0"/>
              <a:t>Insula</a:t>
            </a:r>
            <a:br>
              <a:rPr lang="en-US" altLang="en-US" sz="1800" dirty="0" smtClean="0"/>
            </a:br>
            <a:endParaRPr lang="en-US" altLang="en-US" sz="1800" dirty="0"/>
          </a:p>
          <a:p>
            <a:pPr marL="342900" indent="-342900">
              <a:spcAft>
                <a:spcPct val="0"/>
              </a:spcAft>
              <a:buClrTx/>
              <a:buFont typeface="+mj-lt"/>
              <a:buAutoNum type="arabicPeriod"/>
            </a:pPr>
            <a:r>
              <a:rPr lang="en-US" altLang="en-US" sz="1800" dirty="0"/>
              <a:t>Anterior </a:t>
            </a:r>
            <a:r>
              <a:rPr lang="en-US" altLang="en-US" sz="1800" dirty="0" smtClean="0"/>
              <a:t>commissure</a:t>
            </a:r>
          </a:p>
          <a:p>
            <a:pPr marL="342900" indent="-342900">
              <a:spcAft>
                <a:spcPct val="0"/>
              </a:spcAft>
              <a:buClrTx/>
              <a:buFont typeface="+mj-lt"/>
              <a:buAutoNum type="arabicPeriod"/>
            </a:pPr>
            <a:r>
              <a:rPr lang="en-US" altLang="en-US" sz="1800" dirty="0" smtClean="0"/>
              <a:t>Internal capsule</a:t>
            </a:r>
          </a:p>
          <a:p>
            <a:pPr lvl="1" indent="0">
              <a:spcAft>
                <a:spcPct val="0"/>
              </a:spcAft>
              <a:buClrTx/>
              <a:buNone/>
            </a:pPr>
            <a:r>
              <a:rPr lang="en-US" altLang="en-US" sz="1800" dirty="0" smtClean="0"/>
              <a:t>anterior limb</a:t>
            </a:r>
            <a:br>
              <a:rPr lang="en-US" altLang="en-US" sz="1800" dirty="0" smtClean="0"/>
            </a:br>
            <a:r>
              <a:rPr lang="en-US" altLang="en-US" sz="1800" dirty="0" smtClean="0"/>
              <a:t>genu</a:t>
            </a:r>
            <a:br>
              <a:rPr lang="en-US" altLang="en-US" sz="1800" dirty="0" smtClean="0"/>
            </a:br>
            <a:r>
              <a:rPr lang="en-US" altLang="en-US" sz="1800" dirty="0" smtClean="0"/>
              <a:t>posterior limb</a:t>
            </a:r>
          </a:p>
          <a:p>
            <a:pPr marL="342900" indent="-342900">
              <a:spcAft>
                <a:spcPct val="0"/>
              </a:spcAft>
              <a:buClrTx/>
              <a:buFont typeface="+mj-lt"/>
              <a:buAutoNum type="arabicPeriod"/>
            </a:pPr>
            <a:r>
              <a:rPr lang="en-US" altLang="en-US" sz="1800" dirty="0" smtClean="0"/>
              <a:t>Lateral ventricles</a:t>
            </a:r>
          </a:p>
          <a:p>
            <a:pPr marL="342900" indent="-342900">
              <a:spcAft>
                <a:spcPct val="0"/>
              </a:spcAft>
              <a:buClrTx/>
              <a:buFont typeface="+mj-lt"/>
              <a:buAutoNum type="arabicPeriod"/>
            </a:pPr>
            <a:r>
              <a:rPr lang="en-US" altLang="en-US" sz="1800" dirty="0" smtClean="0"/>
              <a:t>Third ventricle</a:t>
            </a:r>
          </a:p>
          <a:p>
            <a:pPr marL="342900" indent="-342900">
              <a:spcAft>
                <a:spcPct val="0"/>
              </a:spcAft>
              <a:buClrTx/>
              <a:buFont typeface="+mj-lt"/>
              <a:buAutoNum type="arabicPeriod"/>
            </a:pPr>
            <a:r>
              <a:rPr lang="en-US" altLang="en-US" sz="1800" dirty="0" smtClean="0"/>
              <a:t>Sylvian aqueduct</a:t>
            </a:r>
          </a:p>
          <a:p>
            <a:pPr marL="342900" indent="-342900">
              <a:spcAft>
                <a:spcPct val="0"/>
              </a:spcAft>
              <a:buClrTx/>
              <a:buFont typeface="+mj-lt"/>
              <a:buAutoNum type="arabicPeriod"/>
            </a:pPr>
            <a:r>
              <a:rPr lang="en-US" altLang="en-US" sz="1800" dirty="0" smtClean="0"/>
              <a:t>Fourth ventricle</a:t>
            </a:r>
          </a:p>
          <a:p>
            <a:pPr marL="342900" indent="-342900">
              <a:spcAft>
                <a:spcPct val="0"/>
              </a:spcAft>
              <a:buClrTx/>
              <a:buFont typeface="+mj-lt"/>
              <a:buAutoNum type="arabicPeriod"/>
            </a:pPr>
            <a:r>
              <a:rPr lang="en-US" altLang="en-US" sz="1800" dirty="0" smtClean="0"/>
              <a:t>Foramen of </a:t>
            </a:r>
            <a:r>
              <a:rPr lang="en-US" altLang="en-US" sz="1800" dirty="0" err="1" smtClean="0"/>
              <a:t>Luschka</a:t>
            </a:r>
            <a:r>
              <a:rPr lang="en-US" altLang="en-US" sz="1800" dirty="0" smtClean="0"/>
              <a:t/>
            </a:r>
            <a:br>
              <a:rPr lang="en-US" altLang="en-US" sz="1800" dirty="0" smtClean="0"/>
            </a:br>
            <a:endParaRPr lang="en-US" altLang="en-US" sz="1800" dirty="0" smtClean="0"/>
          </a:p>
          <a:p>
            <a:pPr marL="342900" indent="-342900">
              <a:spcAft>
                <a:spcPct val="0"/>
              </a:spcAft>
              <a:buClrTx/>
              <a:buFont typeface="+mj-lt"/>
              <a:buAutoNum type="arabicPeriod"/>
            </a:pPr>
            <a:r>
              <a:rPr lang="en-US" altLang="en-US" sz="1800" dirty="0" smtClean="0"/>
              <a:t>Corpus callosum</a:t>
            </a:r>
            <a:br>
              <a:rPr lang="en-US" altLang="en-US" sz="1800" dirty="0" smtClean="0"/>
            </a:br>
            <a:r>
              <a:rPr lang="en-US" altLang="en-US" sz="1800" dirty="0" smtClean="0"/>
              <a:t>	Splenium</a:t>
            </a:r>
            <a:br>
              <a:rPr lang="en-US" altLang="en-US" sz="1800" dirty="0" smtClean="0"/>
            </a:br>
            <a:r>
              <a:rPr lang="en-US" altLang="en-US" sz="1800" dirty="0" smtClean="0"/>
              <a:t>	Body</a:t>
            </a:r>
            <a:br>
              <a:rPr lang="en-US" altLang="en-US" sz="1800" dirty="0" smtClean="0"/>
            </a:br>
            <a:r>
              <a:rPr lang="en-US" altLang="en-US" sz="1800" dirty="0" smtClean="0"/>
              <a:t>	Genu</a:t>
            </a:r>
            <a:br>
              <a:rPr lang="en-US" altLang="en-US" sz="1800" dirty="0" smtClean="0"/>
            </a:br>
            <a:r>
              <a:rPr lang="en-US" altLang="en-US" sz="1800" dirty="0" smtClean="0"/>
              <a:t>	Rostrum</a:t>
            </a:r>
            <a:br>
              <a:rPr lang="en-US" altLang="en-US" sz="1800" dirty="0" smtClean="0"/>
            </a:br>
            <a:endParaRPr lang="en-US" altLang="en-US" sz="1800" dirty="0" smtClean="0"/>
          </a:p>
          <a:p>
            <a:pPr marL="342900" indent="-342900">
              <a:spcAft>
                <a:spcPct val="0"/>
              </a:spcAft>
              <a:buClrTx/>
              <a:buFont typeface="+mj-lt"/>
              <a:buAutoNum type="arabicPeriod"/>
            </a:pPr>
            <a:r>
              <a:rPr lang="en-US" altLang="en-US" sz="1800" dirty="0" smtClean="0"/>
              <a:t>Midbrain</a:t>
            </a:r>
            <a:br>
              <a:rPr lang="en-US" altLang="en-US" sz="1800" dirty="0" smtClean="0"/>
            </a:br>
            <a:r>
              <a:rPr lang="en-US" altLang="en-US" sz="1800" dirty="0" smtClean="0"/>
              <a:t>Cerebral peduncles</a:t>
            </a:r>
            <a:br>
              <a:rPr lang="en-US" altLang="en-US" sz="1800" dirty="0" smtClean="0"/>
            </a:br>
            <a:r>
              <a:rPr lang="en-US" altLang="en-US" sz="1800" dirty="0" smtClean="0"/>
              <a:t>Superior colliculus</a:t>
            </a:r>
            <a:br>
              <a:rPr lang="en-US" altLang="en-US" sz="1800" dirty="0" smtClean="0"/>
            </a:br>
            <a:r>
              <a:rPr lang="en-US" altLang="en-US" sz="1800" dirty="0" smtClean="0"/>
              <a:t>Inferior colliculus</a:t>
            </a:r>
          </a:p>
          <a:p>
            <a:pPr marL="342900" indent="-342900">
              <a:spcAft>
                <a:spcPct val="0"/>
              </a:spcAft>
              <a:buClrTx/>
              <a:buFont typeface="+mj-lt"/>
              <a:buAutoNum type="arabicPeriod"/>
            </a:pPr>
            <a:r>
              <a:rPr lang="en-US" altLang="en-US" sz="1800" dirty="0" smtClean="0"/>
              <a:t>Pons</a:t>
            </a:r>
          </a:p>
          <a:p>
            <a:pPr marL="342900" indent="-342900">
              <a:spcAft>
                <a:spcPct val="0"/>
              </a:spcAft>
              <a:buClrTx/>
              <a:buFont typeface="+mj-lt"/>
              <a:buAutoNum type="arabicPeriod"/>
            </a:pPr>
            <a:r>
              <a:rPr lang="en-US" altLang="en-US" sz="1800" dirty="0" smtClean="0"/>
              <a:t>Medulla</a:t>
            </a:r>
            <a:br>
              <a:rPr lang="en-US" altLang="en-US" sz="1800" dirty="0" smtClean="0"/>
            </a:br>
            <a:r>
              <a:rPr lang="en-US" altLang="en-US" sz="1800" dirty="0" smtClean="0"/>
              <a:t/>
            </a:r>
            <a:br>
              <a:rPr lang="en-US" altLang="en-US" sz="1800" dirty="0" smtClean="0"/>
            </a:br>
            <a:endParaRPr lang="en-US" altLang="en-US" sz="1800" dirty="0" smtClean="0"/>
          </a:p>
          <a:p>
            <a:pPr marL="342900" indent="-342900">
              <a:spcAft>
                <a:spcPct val="0"/>
              </a:spcAft>
              <a:buClrTx/>
              <a:buFont typeface="+mj-lt"/>
              <a:buAutoNum type="arabicPeriod"/>
            </a:pPr>
            <a:r>
              <a:rPr lang="en-US" altLang="en-US" sz="1800" dirty="0" smtClean="0"/>
              <a:t>Cerebellar hemisphere</a:t>
            </a:r>
          </a:p>
          <a:p>
            <a:pPr marL="342900" indent="-342900">
              <a:spcAft>
                <a:spcPct val="0"/>
              </a:spcAft>
              <a:buClrTx/>
              <a:buFont typeface="+mj-lt"/>
              <a:buAutoNum type="arabicPeriod"/>
            </a:pPr>
            <a:r>
              <a:rPr lang="en-US" altLang="en-US" sz="1800" dirty="0" smtClean="0"/>
              <a:t>Cerebellar vermis</a:t>
            </a:r>
          </a:p>
          <a:p>
            <a:pPr marL="342900" indent="-342900">
              <a:spcAft>
                <a:spcPct val="0"/>
              </a:spcAft>
              <a:buClrTx/>
              <a:buFont typeface="+mj-lt"/>
              <a:buAutoNum type="arabicPeriod"/>
            </a:pPr>
            <a:r>
              <a:rPr lang="en-US" altLang="en-US" sz="1800" dirty="0" smtClean="0"/>
              <a:t>Superior cerebellar peduncle</a:t>
            </a:r>
          </a:p>
          <a:p>
            <a:pPr marL="342900" indent="-342900">
              <a:spcAft>
                <a:spcPct val="0"/>
              </a:spcAft>
              <a:buClrTx/>
              <a:buFont typeface="+mj-lt"/>
              <a:buAutoNum type="arabicPeriod"/>
            </a:pPr>
            <a:r>
              <a:rPr lang="en-US" altLang="en-US" sz="1800" dirty="0" smtClean="0"/>
              <a:t>Middle cerebellar peduncle</a:t>
            </a:r>
          </a:p>
          <a:p>
            <a:pPr marL="342900" indent="-342900">
              <a:spcAft>
                <a:spcPct val="0"/>
              </a:spcAft>
              <a:buClrTx/>
              <a:buFont typeface="+mj-lt"/>
              <a:buAutoNum type="arabicPeriod"/>
            </a:pPr>
            <a:r>
              <a:rPr lang="en-US" altLang="en-US" sz="1800" dirty="0" smtClean="0"/>
              <a:t>Inferior cerebellar peduncle</a:t>
            </a:r>
          </a:p>
          <a:p>
            <a:pPr marL="342900" indent="-342900">
              <a:spcAft>
                <a:spcPct val="0"/>
              </a:spcAft>
              <a:buClrTx/>
              <a:buFont typeface="+mj-lt"/>
              <a:buAutoNum type="arabicPeriod"/>
            </a:pPr>
            <a:endParaRPr lang="en-US" altLang="en-US" sz="1800" dirty="0" smtClean="0"/>
          </a:p>
          <a:p>
            <a:pPr marL="342900" indent="-342900">
              <a:spcAft>
                <a:spcPct val="0"/>
              </a:spcAft>
              <a:buClrTx/>
              <a:buFont typeface="+mj-lt"/>
              <a:buAutoNum type="arabicPeriod"/>
            </a:pPr>
            <a:r>
              <a:rPr lang="en-US" altLang="en-US" sz="1800" dirty="0" smtClean="0"/>
              <a:t>Meckel’s cave</a:t>
            </a:r>
          </a:p>
          <a:p>
            <a:pPr marL="342900" indent="-342900">
              <a:spcAft>
                <a:spcPct val="0"/>
              </a:spcAft>
              <a:buClrTx/>
              <a:buFont typeface="+mj-lt"/>
              <a:buAutoNum type="arabicPeriod"/>
            </a:pPr>
            <a:endParaRPr lang="en-US" altLang="en-US" sz="1800" dirty="0" smtClean="0"/>
          </a:p>
          <a:p>
            <a:pPr marL="342900" indent="-342900">
              <a:spcAft>
                <a:spcPct val="0"/>
              </a:spcAft>
              <a:buClrTx/>
              <a:buFont typeface="+mj-lt"/>
              <a:buAutoNum type="arabicPeriod"/>
            </a:pPr>
            <a:r>
              <a:rPr lang="en-US" altLang="en-US" sz="1800" dirty="0" smtClean="0"/>
              <a:t>Middle cerebral artery</a:t>
            </a:r>
          </a:p>
          <a:p>
            <a:pPr marL="342900" indent="-342900">
              <a:spcAft>
                <a:spcPct val="0"/>
              </a:spcAft>
              <a:buClrTx/>
              <a:buFont typeface="+mj-lt"/>
              <a:buAutoNum type="arabicPeriod"/>
            </a:pPr>
            <a:r>
              <a:rPr lang="en-US" altLang="en-US" sz="1800" dirty="0" smtClean="0"/>
              <a:t>Internal carotid artery</a:t>
            </a:r>
          </a:p>
          <a:p>
            <a:pPr marL="342900" indent="-342900">
              <a:spcAft>
                <a:spcPct val="0"/>
              </a:spcAft>
              <a:buClrTx/>
              <a:buFont typeface="+mj-lt"/>
              <a:buAutoNum type="arabicPeriod"/>
            </a:pPr>
            <a:r>
              <a:rPr lang="en-US" altLang="en-US" sz="1800" dirty="0" smtClean="0"/>
              <a:t>Basilar artery</a:t>
            </a:r>
          </a:p>
          <a:p>
            <a:pPr marL="342900" indent="-342900">
              <a:spcAft>
                <a:spcPct val="0"/>
              </a:spcAft>
              <a:buClrTx/>
              <a:buFont typeface="+mj-lt"/>
              <a:buAutoNum type="arabicPeriod"/>
            </a:pPr>
            <a:r>
              <a:rPr lang="en-US" altLang="en-US" sz="1800" dirty="0" smtClean="0"/>
              <a:t>Vertebral artery</a:t>
            </a:r>
          </a:p>
          <a:p>
            <a:pPr marL="342900" indent="-342900">
              <a:spcAft>
                <a:spcPct val="0"/>
              </a:spcAft>
              <a:buClrTx/>
              <a:buFont typeface="+mj-lt"/>
              <a:buAutoNum type="arabicPeriod"/>
            </a:pPr>
            <a:r>
              <a:rPr lang="en-US" altLang="en-US" sz="1800" dirty="0" smtClean="0"/>
              <a:t>Superior sagittal sinus</a:t>
            </a:r>
          </a:p>
        </p:txBody>
      </p:sp>
      <p:sp>
        <p:nvSpPr>
          <p:cNvPr id="6" name="Oval 5"/>
          <p:cNvSpPr/>
          <p:nvPr/>
        </p:nvSpPr>
        <p:spPr>
          <a:xfrm>
            <a:off x="11339513" y="76200"/>
            <a:ext cx="762000" cy="7620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rPr>
              <a:t>20 </a:t>
            </a:r>
            <a:r>
              <a:rPr lang="en-US" sz="1600" dirty="0">
                <a:solidFill>
                  <a:schemeClr val="bg1"/>
                </a:solidFill>
              </a:rPr>
              <a:t>min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xit" presetSubtype="1" fill="hold" grpId="0" nodeType="withEffect">
                                  <p:stCondLst>
                                    <p:cond delay="0"/>
                                  </p:stCondLst>
                                  <p:childTnLst>
                                    <p:animEffect transition="out" filter="wheel(1)">
                                      <p:cBhvr>
                                        <p:cTn id="6" dur="1171200"/>
                                        <p:tgtEl>
                                          <p:spTgt spid="6"/>
                                        </p:tgtEl>
                                      </p:cBhvr>
                                    </p:animEffect>
                                    <p:set>
                                      <p:cBhvr>
                                        <p:cTn id="7" dur="1" fill="hold">
                                          <p:stCondLst>
                                            <p:cond delay="11711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dirty="0" smtClean="0"/>
              <a:t>Case 1</a:t>
            </a:r>
          </a:p>
        </p:txBody>
      </p:sp>
      <p:sp>
        <p:nvSpPr>
          <p:cNvPr id="8" name="Content Placeholder 2"/>
          <p:cNvSpPr txBox="1">
            <a:spLocks/>
          </p:cNvSpPr>
          <p:nvPr/>
        </p:nvSpPr>
        <p:spPr bwMode="auto">
          <a:xfrm>
            <a:off x="592138" y="1614488"/>
            <a:ext cx="4665662" cy="326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2767" tIns="61384" rIns="122767" bIns="61384">
            <a:spAutoFit/>
          </a:bodyPr>
          <a:lstStyle>
            <a:lvl1pPr marL="342900" indent="-342900" algn="l" rtl="0" eaLnBrk="1" fontAlgn="base" hangingPunct="1">
              <a:spcBef>
                <a:spcPct val="0"/>
              </a:spcBef>
              <a:spcAft>
                <a:spcPct val="25000"/>
              </a:spcAft>
              <a:buClr>
                <a:schemeClr val="tx2"/>
              </a:buClr>
              <a:buFont typeface="Wingdings" pitchFamily="2" charset="2"/>
              <a:buChar char="§"/>
              <a:defRPr sz="2800" b="0">
                <a:solidFill>
                  <a:schemeClr val="accent1"/>
                </a:solidFill>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0"/>
              </a:spcBef>
              <a:spcAft>
                <a:spcPct val="25000"/>
              </a:spcAft>
              <a:buClr>
                <a:schemeClr val="tx2"/>
              </a:buClr>
              <a:buFont typeface="Wingdings" pitchFamily="2" charset="2"/>
              <a:buChar char="§"/>
              <a:defRPr sz="2800" b="0">
                <a:solidFill>
                  <a:schemeClr val="accent1"/>
                </a:solidFill>
                <a:latin typeface="Times New Roman" panose="02020603050405020304" pitchFamily="18" charset="0"/>
                <a:cs typeface="Times New Roman" panose="02020603050405020304" pitchFamily="18" charset="0"/>
              </a:defRPr>
            </a:lvl2pPr>
            <a:lvl3pPr marL="1143000" indent="-228600" algn="l" rtl="0" eaLnBrk="1" fontAlgn="base" hangingPunct="1">
              <a:spcBef>
                <a:spcPct val="0"/>
              </a:spcBef>
              <a:spcAft>
                <a:spcPct val="25000"/>
              </a:spcAft>
              <a:buClr>
                <a:schemeClr val="tx2"/>
              </a:buClr>
              <a:buFont typeface="Wingdings" pitchFamily="2" charset="2"/>
              <a:buChar char="§"/>
              <a:defRPr sz="2400" b="0">
                <a:solidFill>
                  <a:schemeClr val="accent1"/>
                </a:solidFill>
                <a:latin typeface="Times New Roman" panose="02020603050405020304" pitchFamily="18" charset="0"/>
                <a:cs typeface="Times New Roman" panose="02020603050405020304" pitchFamily="18" charset="0"/>
              </a:defRPr>
            </a:lvl3pPr>
            <a:lvl4pPr marL="1600200" indent="-228600" algn="l" rtl="0" eaLnBrk="1" fontAlgn="base" hangingPunct="1">
              <a:spcBef>
                <a:spcPct val="0"/>
              </a:spcBef>
              <a:spcAft>
                <a:spcPct val="25000"/>
              </a:spcAft>
              <a:buClr>
                <a:schemeClr val="tx2"/>
              </a:buClr>
              <a:buFont typeface="Wingdings" pitchFamily="2" charset="2"/>
              <a:buChar char="§"/>
              <a:defRPr sz="2000" b="0">
                <a:solidFill>
                  <a:schemeClr val="accent1"/>
                </a:solidFill>
                <a:latin typeface="Times New Roman" panose="02020603050405020304" pitchFamily="18" charset="0"/>
                <a:cs typeface="Times New Roman" panose="02020603050405020304" pitchFamily="18" charset="0"/>
              </a:defRPr>
            </a:lvl4pPr>
            <a:lvl5pPr marL="2057400" indent="-228600" algn="l" rtl="0" eaLnBrk="1" fontAlgn="base" hangingPunct="1">
              <a:spcBef>
                <a:spcPct val="0"/>
              </a:spcBef>
              <a:spcAft>
                <a:spcPct val="25000"/>
              </a:spcAft>
              <a:buClr>
                <a:schemeClr val="tx2"/>
              </a:buClr>
              <a:buFont typeface="Wingdings" pitchFamily="2" charset="2"/>
              <a:buChar char="§"/>
              <a:defRPr sz="2000" b="0">
                <a:solidFill>
                  <a:schemeClr val="accent1"/>
                </a:solidFill>
                <a:latin typeface="Times New Roman" panose="02020603050405020304" pitchFamily="18" charset="0"/>
                <a:cs typeface="Times New Roman" panose="02020603050405020304" pitchFamily="18" charset="0"/>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a:lstStyle>
          <a:p>
            <a:pPr marL="514350" indent="-514350">
              <a:buFont typeface="Wingdings" pitchFamily="2" charset="2"/>
              <a:buAutoNum type="arabicPeriod"/>
              <a:defRPr/>
            </a:pPr>
            <a:r>
              <a:rPr lang="en-US" sz="2400" dirty="0" smtClean="0"/>
              <a:t>Which areas of the brain demonstrate </a:t>
            </a:r>
            <a:r>
              <a:rPr lang="en-US" sz="2400" dirty="0" err="1" smtClean="0"/>
              <a:t>hypometabolism</a:t>
            </a:r>
            <a:r>
              <a:rPr lang="en-US" sz="2400" dirty="0" smtClean="0"/>
              <a:t>?</a:t>
            </a:r>
          </a:p>
          <a:p>
            <a:pPr marL="514350" indent="-514350">
              <a:buFont typeface="Wingdings" pitchFamily="2" charset="2"/>
              <a:buAutoNum type="arabicPeriod"/>
              <a:defRPr/>
            </a:pPr>
            <a:r>
              <a:rPr lang="en-US" sz="2400" dirty="0" smtClean="0"/>
              <a:t>What </a:t>
            </a:r>
            <a:r>
              <a:rPr lang="en-US" sz="2400" dirty="0"/>
              <a:t>part of the brainstem connects the </a:t>
            </a:r>
            <a:r>
              <a:rPr lang="en-US" sz="2400" dirty="0" err="1"/>
              <a:t>supratentorial</a:t>
            </a:r>
            <a:r>
              <a:rPr lang="en-US" sz="2400" dirty="0"/>
              <a:t> cerebral lobes with the contralateral cerebellum? </a:t>
            </a:r>
            <a:endParaRPr lang="en-US" u="sng" kern="0" dirty="0" smtClean="0"/>
          </a:p>
          <a:p>
            <a:pPr marL="514350" indent="-514350">
              <a:buFont typeface="Wingdings" pitchFamily="2" charset="2"/>
              <a:buAutoNum type="arabicPeriod"/>
              <a:defRPr/>
            </a:pPr>
            <a:r>
              <a:rPr lang="en-US" sz="2400" kern="0" dirty="0" smtClean="0"/>
              <a:t>What structure separates the parietal and occipital lobes?</a:t>
            </a:r>
            <a:endParaRPr lang="en-US" sz="2000" dirty="0" smtClean="0"/>
          </a:p>
        </p:txBody>
      </p:sp>
      <p:sp>
        <p:nvSpPr>
          <p:cNvPr id="13316" name="TextBox 1"/>
          <p:cNvSpPr txBox="1">
            <a:spLocks noChangeArrowheads="1"/>
          </p:cNvSpPr>
          <p:nvPr/>
        </p:nvSpPr>
        <p:spPr bwMode="auto">
          <a:xfrm>
            <a:off x="5889625" y="5935662"/>
            <a:ext cx="1558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Axial PET- CT</a:t>
            </a:r>
          </a:p>
        </p:txBody>
      </p:sp>
      <p:sp>
        <p:nvSpPr>
          <p:cNvPr id="13317" name="TextBox 6"/>
          <p:cNvSpPr txBox="1">
            <a:spLocks noChangeArrowheads="1"/>
          </p:cNvSpPr>
          <p:nvPr/>
        </p:nvSpPr>
        <p:spPr bwMode="auto">
          <a:xfrm>
            <a:off x="9677400" y="5935662"/>
            <a:ext cx="1857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Coronal PET- CT</a:t>
            </a:r>
          </a:p>
        </p:txBody>
      </p:sp>
      <p:pic>
        <p:nvPicPr>
          <p:cNvPr id="1331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41931" y="2182812"/>
            <a:ext cx="3319444"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856662" y="2182812"/>
            <a:ext cx="32004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9"/>
          <p:cNvPicPr>
            <a:picLocks noChangeAspect="1"/>
          </p:cNvPicPr>
          <p:nvPr/>
        </p:nvPicPr>
        <p:blipFill>
          <a:blip r:embed="rId3">
            <a:extLst>
              <a:ext uri="{28A0092B-C50C-407E-A947-70E740481C1C}">
                <a14:useLocalDpi xmlns:a14="http://schemas.microsoft.com/office/drawing/2010/main" val="0"/>
              </a:ext>
            </a:extLst>
          </a:blip>
          <a:srcRect l="3125" t="7928" r="3125"/>
          <a:stretch>
            <a:fillRect/>
          </a:stretch>
        </p:blipFill>
        <p:spPr bwMode="auto">
          <a:xfrm>
            <a:off x="6511925" y="1660525"/>
            <a:ext cx="4343400" cy="4265613"/>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5" name="Freeform 14"/>
          <p:cNvSpPr/>
          <p:nvPr/>
        </p:nvSpPr>
        <p:spPr>
          <a:xfrm>
            <a:off x="9639300" y="2911475"/>
            <a:ext cx="903288" cy="969963"/>
          </a:xfrm>
          <a:custGeom>
            <a:avLst/>
            <a:gdLst>
              <a:gd name="connsiteX0" fmla="*/ 762935 w 903180"/>
              <a:gd name="connsiteY0" fmla="*/ 0 h 970498"/>
              <a:gd name="connsiteX1" fmla="*/ 734886 w 903180"/>
              <a:gd name="connsiteY1" fmla="*/ 11220 h 970498"/>
              <a:gd name="connsiteX2" fmla="*/ 723666 w 903180"/>
              <a:gd name="connsiteY2" fmla="*/ 44879 h 970498"/>
              <a:gd name="connsiteX3" fmla="*/ 690007 w 903180"/>
              <a:gd name="connsiteY3" fmla="*/ 67318 h 970498"/>
              <a:gd name="connsiteX4" fmla="*/ 577811 w 903180"/>
              <a:gd name="connsiteY4" fmla="*/ 84147 h 970498"/>
              <a:gd name="connsiteX5" fmla="*/ 476834 w 903180"/>
              <a:gd name="connsiteY5" fmla="*/ 78538 h 970498"/>
              <a:gd name="connsiteX6" fmla="*/ 426346 w 903180"/>
              <a:gd name="connsiteY6" fmla="*/ 78538 h 970498"/>
              <a:gd name="connsiteX7" fmla="*/ 392687 w 903180"/>
              <a:gd name="connsiteY7" fmla="*/ 95367 h 970498"/>
              <a:gd name="connsiteX8" fmla="*/ 375858 w 903180"/>
              <a:gd name="connsiteY8" fmla="*/ 106587 h 970498"/>
              <a:gd name="connsiteX9" fmla="*/ 364638 w 903180"/>
              <a:gd name="connsiteY9" fmla="*/ 140246 h 970498"/>
              <a:gd name="connsiteX10" fmla="*/ 359028 w 903180"/>
              <a:gd name="connsiteY10" fmla="*/ 157075 h 970498"/>
              <a:gd name="connsiteX11" fmla="*/ 336589 w 903180"/>
              <a:gd name="connsiteY11" fmla="*/ 190734 h 970498"/>
              <a:gd name="connsiteX12" fmla="*/ 330979 w 903180"/>
              <a:gd name="connsiteY12" fmla="*/ 263661 h 970498"/>
              <a:gd name="connsiteX13" fmla="*/ 297320 w 903180"/>
              <a:gd name="connsiteY13" fmla="*/ 286101 h 970498"/>
              <a:gd name="connsiteX14" fmla="*/ 263661 w 903180"/>
              <a:gd name="connsiteY14" fmla="*/ 302930 h 970498"/>
              <a:gd name="connsiteX15" fmla="*/ 246832 w 903180"/>
              <a:gd name="connsiteY15" fmla="*/ 314150 h 970498"/>
              <a:gd name="connsiteX16" fmla="*/ 235612 w 903180"/>
              <a:gd name="connsiteY16" fmla="*/ 330979 h 970498"/>
              <a:gd name="connsiteX17" fmla="*/ 185124 w 903180"/>
              <a:gd name="connsiteY17" fmla="*/ 359028 h 970498"/>
              <a:gd name="connsiteX18" fmla="*/ 168294 w 903180"/>
              <a:gd name="connsiteY18" fmla="*/ 375858 h 970498"/>
              <a:gd name="connsiteX19" fmla="*/ 151465 w 903180"/>
              <a:gd name="connsiteY19" fmla="*/ 381468 h 970498"/>
              <a:gd name="connsiteX20" fmla="*/ 134635 w 903180"/>
              <a:gd name="connsiteY20" fmla="*/ 392687 h 970498"/>
              <a:gd name="connsiteX21" fmla="*/ 112196 w 903180"/>
              <a:gd name="connsiteY21" fmla="*/ 420736 h 970498"/>
              <a:gd name="connsiteX22" fmla="*/ 89757 w 903180"/>
              <a:gd name="connsiteY22" fmla="*/ 454395 h 970498"/>
              <a:gd name="connsiteX23" fmla="*/ 72928 w 903180"/>
              <a:gd name="connsiteY23" fmla="*/ 471225 h 970498"/>
              <a:gd name="connsiteX24" fmla="*/ 67318 w 903180"/>
              <a:gd name="connsiteY24" fmla="*/ 488054 h 970498"/>
              <a:gd name="connsiteX25" fmla="*/ 33659 w 903180"/>
              <a:gd name="connsiteY25" fmla="*/ 516103 h 970498"/>
              <a:gd name="connsiteX26" fmla="*/ 22439 w 903180"/>
              <a:gd name="connsiteY26" fmla="*/ 549762 h 970498"/>
              <a:gd name="connsiteX27" fmla="*/ 0 w 903180"/>
              <a:gd name="connsiteY27" fmla="*/ 583421 h 970498"/>
              <a:gd name="connsiteX28" fmla="*/ 5610 w 903180"/>
              <a:gd name="connsiteY28" fmla="*/ 600250 h 970498"/>
              <a:gd name="connsiteX29" fmla="*/ 22439 w 903180"/>
              <a:gd name="connsiteY29" fmla="*/ 650739 h 970498"/>
              <a:gd name="connsiteX30" fmla="*/ 56098 w 903180"/>
              <a:gd name="connsiteY30" fmla="*/ 661958 h 970498"/>
              <a:gd name="connsiteX31" fmla="*/ 89757 w 903180"/>
              <a:gd name="connsiteY31" fmla="*/ 684398 h 970498"/>
              <a:gd name="connsiteX32" fmla="*/ 117806 w 903180"/>
              <a:gd name="connsiteY32" fmla="*/ 729276 h 970498"/>
              <a:gd name="connsiteX33" fmla="*/ 157075 w 903180"/>
              <a:gd name="connsiteY33" fmla="*/ 779765 h 970498"/>
              <a:gd name="connsiteX34" fmla="*/ 185124 w 903180"/>
              <a:gd name="connsiteY34" fmla="*/ 807814 h 970498"/>
              <a:gd name="connsiteX35" fmla="*/ 196343 w 903180"/>
              <a:gd name="connsiteY35" fmla="*/ 830253 h 970498"/>
              <a:gd name="connsiteX36" fmla="*/ 246832 w 903180"/>
              <a:gd name="connsiteY36" fmla="*/ 858302 h 970498"/>
              <a:gd name="connsiteX37" fmla="*/ 280491 w 903180"/>
              <a:gd name="connsiteY37" fmla="*/ 880741 h 970498"/>
              <a:gd name="connsiteX38" fmla="*/ 314150 w 903180"/>
              <a:gd name="connsiteY38" fmla="*/ 903180 h 970498"/>
              <a:gd name="connsiteX39" fmla="*/ 347808 w 903180"/>
              <a:gd name="connsiteY39" fmla="*/ 925620 h 970498"/>
              <a:gd name="connsiteX40" fmla="*/ 364638 w 903180"/>
              <a:gd name="connsiteY40" fmla="*/ 936839 h 970498"/>
              <a:gd name="connsiteX41" fmla="*/ 387077 w 903180"/>
              <a:gd name="connsiteY41" fmla="*/ 948059 h 970498"/>
              <a:gd name="connsiteX42" fmla="*/ 420736 w 903180"/>
              <a:gd name="connsiteY42" fmla="*/ 970498 h 970498"/>
              <a:gd name="connsiteX43" fmla="*/ 516103 w 903180"/>
              <a:gd name="connsiteY43" fmla="*/ 964888 h 970498"/>
              <a:gd name="connsiteX44" fmla="*/ 566591 w 903180"/>
              <a:gd name="connsiteY44" fmla="*/ 948059 h 970498"/>
              <a:gd name="connsiteX45" fmla="*/ 583421 w 903180"/>
              <a:gd name="connsiteY45" fmla="*/ 942449 h 970498"/>
              <a:gd name="connsiteX46" fmla="*/ 600250 w 903180"/>
              <a:gd name="connsiteY46" fmla="*/ 931230 h 970498"/>
              <a:gd name="connsiteX47" fmla="*/ 633909 w 903180"/>
              <a:gd name="connsiteY47" fmla="*/ 920010 h 970498"/>
              <a:gd name="connsiteX48" fmla="*/ 650739 w 903180"/>
              <a:gd name="connsiteY48" fmla="*/ 908790 h 970498"/>
              <a:gd name="connsiteX49" fmla="*/ 740496 w 903180"/>
              <a:gd name="connsiteY49" fmla="*/ 897571 h 970498"/>
              <a:gd name="connsiteX50" fmla="*/ 757325 w 903180"/>
              <a:gd name="connsiteY50" fmla="*/ 886351 h 970498"/>
              <a:gd name="connsiteX51" fmla="*/ 774155 w 903180"/>
              <a:gd name="connsiteY51" fmla="*/ 852692 h 970498"/>
              <a:gd name="connsiteX52" fmla="*/ 785374 w 903180"/>
              <a:gd name="connsiteY52" fmla="*/ 835863 h 970498"/>
              <a:gd name="connsiteX53" fmla="*/ 802204 w 903180"/>
              <a:gd name="connsiteY53" fmla="*/ 802204 h 970498"/>
              <a:gd name="connsiteX54" fmla="*/ 835862 w 903180"/>
              <a:gd name="connsiteY54" fmla="*/ 768545 h 970498"/>
              <a:gd name="connsiteX55" fmla="*/ 858302 w 903180"/>
              <a:gd name="connsiteY55" fmla="*/ 718057 h 970498"/>
              <a:gd name="connsiteX56" fmla="*/ 880741 w 903180"/>
              <a:gd name="connsiteY56" fmla="*/ 684398 h 970498"/>
              <a:gd name="connsiteX57" fmla="*/ 886351 w 903180"/>
              <a:gd name="connsiteY57" fmla="*/ 667568 h 970498"/>
              <a:gd name="connsiteX58" fmla="*/ 903180 w 903180"/>
              <a:gd name="connsiteY58" fmla="*/ 633909 h 970498"/>
              <a:gd name="connsiteX59" fmla="*/ 897570 w 903180"/>
              <a:gd name="connsiteY59" fmla="*/ 499274 h 970498"/>
              <a:gd name="connsiteX60" fmla="*/ 886351 w 903180"/>
              <a:gd name="connsiteY60" fmla="*/ 465615 h 970498"/>
              <a:gd name="connsiteX61" fmla="*/ 880741 w 903180"/>
              <a:gd name="connsiteY61" fmla="*/ 448785 h 970498"/>
              <a:gd name="connsiteX62" fmla="*/ 858302 w 903180"/>
              <a:gd name="connsiteY62" fmla="*/ 415126 h 970498"/>
              <a:gd name="connsiteX63" fmla="*/ 841472 w 903180"/>
              <a:gd name="connsiteY63" fmla="*/ 359028 h 970498"/>
              <a:gd name="connsiteX64" fmla="*/ 835862 w 903180"/>
              <a:gd name="connsiteY64" fmla="*/ 274881 h 970498"/>
              <a:gd name="connsiteX65" fmla="*/ 824643 w 903180"/>
              <a:gd name="connsiteY65" fmla="*/ 241222 h 970498"/>
              <a:gd name="connsiteX66" fmla="*/ 819033 w 903180"/>
              <a:gd name="connsiteY66" fmla="*/ 213173 h 970498"/>
              <a:gd name="connsiteX67" fmla="*/ 813423 w 903180"/>
              <a:gd name="connsiteY67" fmla="*/ 196344 h 970498"/>
              <a:gd name="connsiteX68" fmla="*/ 807813 w 903180"/>
              <a:gd name="connsiteY68" fmla="*/ 173904 h 970498"/>
              <a:gd name="connsiteX69" fmla="*/ 796594 w 903180"/>
              <a:gd name="connsiteY69" fmla="*/ 95367 h 970498"/>
              <a:gd name="connsiteX70" fmla="*/ 785374 w 903180"/>
              <a:gd name="connsiteY70" fmla="*/ 61708 h 970498"/>
              <a:gd name="connsiteX71" fmla="*/ 734886 w 903180"/>
              <a:gd name="connsiteY71" fmla="*/ 50488 h 970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3180" h="970498">
                <a:moveTo>
                  <a:pt x="762935" y="0"/>
                </a:moveTo>
                <a:cubicBezTo>
                  <a:pt x="753585" y="3740"/>
                  <a:pt x="741517" y="3642"/>
                  <a:pt x="734886" y="11220"/>
                </a:cubicBezTo>
                <a:cubicBezTo>
                  <a:pt x="727098" y="20120"/>
                  <a:pt x="733506" y="38319"/>
                  <a:pt x="723666" y="44879"/>
                </a:cubicBezTo>
                <a:cubicBezTo>
                  <a:pt x="712446" y="52359"/>
                  <a:pt x="702799" y="63054"/>
                  <a:pt x="690007" y="67318"/>
                </a:cubicBezTo>
                <a:cubicBezTo>
                  <a:pt x="631449" y="86838"/>
                  <a:pt x="668145" y="77696"/>
                  <a:pt x="577811" y="84147"/>
                </a:cubicBezTo>
                <a:cubicBezTo>
                  <a:pt x="544152" y="82277"/>
                  <a:pt x="510393" y="81734"/>
                  <a:pt x="476834" y="78538"/>
                </a:cubicBezTo>
                <a:cubicBezTo>
                  <a:pt x="424103" y="73516"/>
                  <a:pt x="514142" y="63905"/>
                  <a:pt x="426346" y="78538"/>
                </a:cubicBezTo>
                <a:cubicBezTo>
                  <a:pt x="378099" y="110700"/>
                  <a:pt x="439151" y="72134"/>
                  <a:pt x="392687" y="95367"/>
                </a:cubicBezTo>
                <a:cubicBezTo>
                  <a:pt x="386657" y="98382"/>
                  <a:pt x="381468" y="102847"/>
                  <a:pt x="375858" y="106587"/>
                </a:cubicBezTo>
                <a:lnTo>
                  <a:pt x="364638" y="140246"/>
                </a:lnTo>
                <a:cubicBezTo>
                  <a:pt x="362768" y="145856"/>
                  <a:pt x="362308" y="152155"/>
                  <a:pt x="359028" y="157075"/>
                </a:cubicBezTo>
                <a:lnTo>
                  <a:pt x="336589" y="190734"/>
                </a:lnTo>
                <a:cubicBezTo>
                  <a:pt x="334719" y="215043"/>
                  <a:pt x="336892" y="240008"/>
                  <a:pt x="330979" y="263661"/>
                </a:cubicBezTo>
                <a:cubicBezTo>
                  <a:pt x="326421" y="281892"/>
                  <a:pt x="309413" y="280055"/>
                  <a:pt x="297320" y="286101"/>
                </a:cubicBezTo>
                <a:cubicBezTo>
                  <a:pt x="253820" y="307850"/>
                  <a:pt x="305965" y="288829"/>
                  <a:pt x="263661" y="302930"/>
                </a:cubicBezTo>
                <a:cubicBezTo>
                  <a:pt x="258051" y="306670"/>
                  <a:pt x="251599" y="309383"/>
                  <a:pt x="246832" y="314150"/>
                </a:cubicBezTo>
                <a:cubicBezTo>
                  <a:pt x="242065" y="318917"/>
                  <a:pt x="240686" y="326539"/>
                  <a:pt x="235612" y="330979"/>
                </a:cubicBezTo>
                <a:cubicBezTo>
                  <a:pt x="211869" y="351754"/>
                  <a:pt x="208240" y="351324"/>
                  <a:pt x="185124" y="359028"/>
                </a:cubicBezTo>
                <a:cubicBezTo>
                  <a:pt x="179514" y="364638"/>
                  <a:pt x="174895" y="371457"/>
                  <a:pt x="168294" y="375858"/>
                </a:cubicBezTo>
                <a:cubicBezTo>
                  <a:pt x="163374" y="379138"/>
                  <a:pt x="156754" y="378824"/>
                  <a:pt x="151465" y="381468"/>
                </a:cubicBezTo>
                <a:cubicBezTo>
                  <a:pt x="145435" y="384483"/>
                  <a:pt x="140245" y="388947"/>
                  <a:pt x="134635" y="392687"/>
                </a:cubicBezTo>
                <a:cubicBezTo>
                  <a:pt x="122004" y="430587"/>
                  <a:pt x="139522" y="389507"/>
                  <a:pt x="112196" y="420736"/>
                </a:cubicBezTo>
                <a:cubicBezTo>
                  <a:pt x="103316" y="430884"/>
                  <a:pt x="99292" y="444860"/>
                  <a:pt x="89757" y="454395"/>
                </a:cubicBezTo>
                <a:lnTo>
                  <a:pt x="72928" y="471225"/>
                </a:lnTo>
                <a:cubicBezTo>
                  <a:pt x="71058" y="476835"/>
                  <a:pt x="70598" y="483134"/>
                  <a:pt x="67318" y="488054"/>
                </a:cubicBezTo>
                <a:cubicBezTo>
                  <a:pt x="58678" y="501013"/>
                  <a:pt x="46078" y="507824"/>
                  <a:pt x="33659" y="516103"/>
                </a:cubicBezTo>
                <a:cubicBezTo>
                  <a:pt x="29919" y="527323"/>
                  <a:pt x="28999" y="539922"/>
                  <a:pt x="22439" y="549762"/>
                </a:cubicBezTo>
                <a:lnTo>
                  <a:pt x="0" y="583421"/>
                </a:lnTo>
                <a:cubicBezTo>
                  <a:pt x="1870" y="589031"/>
                  <a:pt x="4327" y="594478"/>
                  <a:pt x="5610" y="600250"/>
                </a:cubicBezTo>
                <a:cubicBezTo>
                  <a:pt x="8251" y="612133"/>
                  <a:pt x="7328" y="641295"/>
                  <a:pt x="22439" y="650739"/>
                </a:cubicBezTo>
                <a:cubicBezTo>
                  <a:pt x="32468" y="657007"/>
                  <a:pt x="56098" y="661958"/>
                  <a:pt x="56098" y="661958"/>
                </a:cubicBezTo>
                <a:cubicBezTo>
                  <a:pt x="67318" y="669438"/>
                  <a:pt x="85493" y="671606"/>
                  <a:pt x="89757" y="684398"/>
                </a:cubicBezTo>
                <a:cubicBezTo>
                  <a:pt x="103109" y="724453"/>
                  <a:pt x="91137" y="711497"/>
                  <a:pt x="117806" y="729276"/>
                </a:cubicBezTo>
                <a:cubicBezTo>
                  <a:pt x="174519" y="814346"/>
                  <a:pt x="113134" y="727035"/>
                  <a:pt x="157075" y="779765"/>
                </a:cubicBezTo>
                <a:cubicBezTo>
                  <a:pt x="180449" y="807814"/>
                  <a:pt x="154268" y="787244"/>
                  <a:pt x="185124" y="807814"/>
                </a:cubicBezTo>
                <a:cubicBezTo>
                  <a:pt x="188864" y="815294"/>
                  <a:pt x="190430" y="824340"/>
                  <a:pt x="196343" y="830253"/>
                </a:cubicBezTo>
                <a:cubicBezTo>
                  <a:pt x="215632" y="849542"/>
                  <a:pt x="225669" y="851248"/>
                  <a:pt x="246832" y="858302"/>
                </a:cubicBezTo>
                <a:cubicBezTo>
                  <a:pt x="284179" y="895649"/>
                  <a:pt x="243957" y="860445"/>
                  <a:pt x="280491" y="880741"/>
                </a:cubicBezTo>
                <a:cubicBezTo>
                  <a:pt x="292278" y="887289"/>
                  <a:pt x="302930" y="895700"/>
                  <a:pt x="314150" y="903180"/>
                </a:cubicBezTo>
                <a:lnTo>
                  <a:pt x="347808" y="925620"/>
                </a:lnTo>
                <a:cubicBezTo>
                  <a:pt x="353418" y="929360"/>
                  <a:pt x="358608" y="933824"/>
                  <a:pt x="364638" y="936839"/>
                </a:cubicBezTo>
                <a:cubicBezTo>
                  <a:pt x="372118" y="940579"/>
                  <a:pt x="380272" y="943198"/>
                  <a:pt x="387077" y="948059"/>
                </a:cubicBezTo>
                <a:cubicBezTo>
                  <a:pt x="423845" y="974322"/>
                  <a:pt x="384637" y="958464"/>
                  <a:pt x="420736" y="970498"/>
                </a:cubicBezTo>
                <a:cubicBezTo>
                  <a:pt x="452525" y="968628"/>
                  <a:pt x="484527" y="969007"/>
                  <a:pt x="516103" y="964888"/>
                </a:cubicBezTo>
                <a:cubicBezTo>
                  <a:pt x="516111" y="964887"/>
                  <a:pt x="558172" y="950865"/>
                  <a:pt x="566591" y="948059"/>
                </a:cubicBezTo>
                <a:cubicBezTo>
                  <a:pt x="572201" y="946189"/>
                  <a:pt x="578501" y="945729"/>
                  <a:pt x="583421" y="942449"/>
                </a:cubicBezTo>
                <a:cubicBezTo>
                  <a:pt x="589031" y="938709"/>
                  <a:pt x="594089" y="933968"/>
                  <a:pt x="600250" y="931230"/>
                </a:cubicBezTo>
                <a:cubicBezTo>
                  <a:pt x="611057" y="926427"/>
                  <a:pt x="624069" y="926570"/>
                  <a:pt x="633909" y="920010"/>
                </a:cubicBezTo>
                <a:cubicBezTo>
                  <a:pt x="639519" y="916270"/>
                  <a:pt x="644708" y="911805"/>
                  <a:pt x="650739" y="908790"/>
                </a:cubicBezTo>
                <a:cubicBezTo>
                  <a:pt x="674958" y="896680"/>
                  <a:pt x="726571" y="898642"/>
                  <a:pt x="740496" y="897571"/>
                </a:cubicBezTo>
                <a:cubicBezTo>
                  <a:pt x="746106" y="893831"/>
                  <a:pt x="752558" y="891118"/>
                  <a:pt x="757325" y="886351"/>
                </a:cubicBezTo>
                <a:cubicBezTo>
                  <a:pt x="773403" y="870273"/>
                  <a:pt x="765029" y="870944"/>
                  <a:pt x="774155" y="852692"/>
                </a:cubicBezTo>
                <a:cubicBezTo>
                  <a:pt x="777170" y="846662"/>
                  <a:pt x="782359" y="841893"/>
                  <a:pt x="785374" y="835863"/>
                </a:cubicBezTo>
                <a:cubicBezTo>
                  <a:pt x="796514" y="813582"/>
                  <a:pt x="783829" y="822875"/>
                  <a:pt x="802204" y="802204"/>
                </a:cubicBezTo>
                <a:cubicBezTo>
                  <a:pt x="812745" y="790345"/>
                  <a:pt x="835862" y="768545"/>
                  <a:pt x="835862" y="768545"/>
                </a:cubicBezTo>
                <a:cubicBezTo>
                  <a:pt x="849214" y="728490"/>
                  <a:pt x="840522" y="744726"/>
                  <a:pt x="858302" y="718057"/>
                </a:cubicBezTo>
                <a:cubicBezTo>
                  <a:pt x="871641" y="678039"/>
                  <a:pt x="852727" y="726420"/>
                  <a:pt x="880741" y="684398"/>
                </a:cubicBezTo>
                <a:cubicBezTo>
                  <a:pt x="884021" y="679478"/>
                  <a:pt x="883706" y="672857"/>
                  <a:pt x="886351" y="667568"/>
                </a:cubicBezTo>
                <a:cubicBezTo>
                  <a:pt x="908100" y="624068"/>
                  <a:pt x="889079" y="676213"/>
                  <a:pt x="903180" y="633909"/>
                </a:cubicBezTo>
                <a:cubicBezTo>
                  <a:pt x="901310" y="589031"/>
                  <a:pt x="902039" y="543968"/>
                  <a:pt x="897570" y="499274"/>
                </a:cubicBezTo>
                <a:cubicBezTo>
                  <a:pt x="896393" y="487506"/>
                  <a:pt x="890091" y="476835"/>
                  <a:pt x="886351" y="465615"/>
                </a:cubicBezTo>
                <a:cubicBezTo>
                  <a:pt x="884481" y="460005"/>
                  <a:pt x="884021" y="453705"/>
                  <a:pt x="880741" y="448785"/>
                </a:cubicBezTo>
                <a:cubicBezTo>
                  <a:pt x="873261" y="437565"/>
                  <a:pt x="862566" y="427918"/>
                  <a:pt x="858302" y="415126"/>
                </a:cubicBezTo>
                <a:cubicBezTo>
                  <a:pt x="844644" y="374153"/>
                  <a:pt x="849950" y="392941"/>
                  <a:pt x="841472" y="359028"/>
                </a:cubicBezTo>
                <a:cubicBezTo>
                  <a:pt x="839602" y="330979"/>
                  <a:pt x="839837" y="302710"/>
                  <a:pt x="835862" y="274881"/>
                </a:cubicBezTo>
                <a:cubicBezTo>
                  <a:pt x="834190" y="263173"/>
                  <a:pt x="826962" y="252819"/>
                  <a:pt x="824643" y="241222"/>
                </a:cubicBezTo>
                <a:cubicBezTo>
                  <a:pt x="822773" y="231872"/>
                  <a:pt x="821346" y="222423"/>
                  <a:pt x="819033" y="213173"/>
                </a:cubicBezTo>
                <a:cubicBezTo>
                  <a:pt x="817599" y="207436"/>
                  <a:pt x="815048" y="202030"/>
                  <a:pt x="813423" y="196344"/>
                </a:cubicBezTo>
                <a:cubicBezTo>
                  <a:pt x="811305" y="188930"/>
                  <a:pt x="809683" y="181384"/>
                  <a:pt x="807813" y="173904"/>
                </a:cubicBezTo>
                <a:cubicBezTo>
                  <a:pt x="803915" y="134914"/>
                  <a:pt x="805746" y="125871"/>
                  <a:pt x="796594" y="95367"/>
                </a:cubicBezTo>
                <a:cubicBezTo>
                  <a:pt x="793196" y="84039"/>
                  <a:pt x="796594" y="65448"/>
                  <a:pt x="785374" y="61708"/>
                </a:cubicBezTo>
                <a:cubicBezTo>
                  <a:pt x="746393" y="48714"/>
                  <a:pt x="763542" y="50488"/>
                  <a:pt x="734886" y="50488"/>
                </a:cubicBezTo>
              </a:path>
            </a:pathLst>
          </a:custGeom>
          <a:solidFill>
            <a:srgbClr val="0070C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364" name="Title 1"/>
          <p:cNvSpPr>
            <a:spLocks noGrp="1"/>
          </p:cNvSpPr>
          <p:nvPr>
            <p:ph type="title"/>
          </p:nvPr>
        </p:nvSpPr>
        <p:spPr/>
        <p:txBody>
          <a:bodyPr/>
          <a:lstStyle/>
          <a:p>
            <a:r>
              <a:rPr lang="en-US" altLang="en-US" smtClean="0"/>
              <a:t>Case 1: Answers</a:t>
            </a:r>
          </a:p>
        </p:txBody>
      </p:sp>
      <p:pic>
        <p:nvPicPr>
          <p:cNvPr id="1536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3800" y="1676400"/>
            <a:ext cx="42672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TextBox 2"/>
          <p:cNvSpPr txBox="1">
            <a:spLocks noChangeArrowheads="1"/>
          </p:cNvSpPr>
          <p:nvPr/>
        </p:nvSpPr>
        <p:spPr bwMode="auto">
          <a:xfrm>
            <a:off x="1231900" y="5954713"/>
            <a:ext cx="4003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r>
              <a:rPr lang="en-US" altLang="en-US">
                <a:solidFill>
                  <a:schemeClr val="accent1"/>
                </a:solidFill>
              </a:rPr>
              <a:t>Sagittal T1 without contrast- midline</a:t>
            </a:r>
          </a:p>
        </p:txBody>
      </p:sp>
      <p:sp>
        <p:nvSpPr>
          <p:cNvPr id="15367" name="TextBox 6"/>
          <p:cNvSpPr txBox="1">
            <a:spLocks noChangeArrowheads="1"/>
          </p:cNvSpPr>
          <p:nvPr/>
        </p:nvSpPr>
        <p:spPr bwMode="auto">
          <a:xfrm>
            <a:off x="6524625" y="5903913"/>
            <a:ext cx="4535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r>
              <a:rPr lang="en-US" altLang="en-US">
                <a:solidFill>
                  <a:schemeClr val="accent1"/>
                </a:solidFill>
              </a:rPr>
              <a:t>Sagittal T1 without contrast- para midline</a:t>
            </a:r>
          </a:p>
        </p:txBody>
      </p:sp>
      <p:sp>
        <p:nvSpPr>
          <p:cNvPr id="9" name="Freeform 8"/>
          <p:cNvSpPr/>
          <p:nvPr/>
        </p:nvSpPr>
        <p:spPr>
          <a:xfrm>
            <a:off x="4271963" y="3144838"/>
            <a:ext cx="619125" cy="522287"/>
          </a:xfrm>
          <a:custGeom>
            <a:avLst/>
            <a:gdLst>
              <a:gd name="connsiteX0" fmla="*/ 0 w 619125"/>
              <a:gd name="connsiteY0" fmla="*/ 521494 h 521494"/>
              <a:gd name="connsiteX1" fmla="*/ 11906 w 619125"/>
              <a:gd name="connsiteY1" fmla="*/ 509588 h 521494"/>
              <a:gd name="connsiteX2" fmla="*/ 16668 w 619125"/>
              <a:gd name="connsiteY2" fmla="*/ 502444 h 521494"/>
              <a:gd name="connsiteX3" fmla="*/ 30956 w 619125"/>
              <a:gd name="connsiteY3" fmla="*/ 497682 h 521494"/>
              <a:gd name="connsiteX4" fmla="*/ 38100 w 619125"/>
              <a:gd name="connsiteY4" fmla="*/ 495300 h 521494"/>
              <a:gd name="connsiteX5" fmla="*/ 45243 w 619125"/>
              <a:gd name="connsiteY5" fmla="*/ 488157 h 521494"/>
              <a:gd name="connsiteX6" fmla="*/ 52387 w 619125"/>
              <a:gd name="connsiteY6" fmla="*/ 473869 h 521494"/>
              <a:gd name="connsiteX7" fmla="*/ 66675 w 619125"/>
              <a:gd name="connsiteY7" fmla="*/ 464344 h 521494"/>
              <a:gd name="connsiteX8" fmla="*/ 83343 w 619125"/>
              <a:gd name="connsiteY8" fmla="*/ 445294 h 521494"/>
              <a:gd name="connsiteX9" fmla="*/ 100012 w 619125"/>
              <a:gd name="connsiteY9" fmla="*/ 426244 h 521494"/>
              <a:gd name="connsiteX10" fmla="*/ 111918 w 619125"/>
              <a:gd name="connsiteY10" fmla="*/ 414338 h 521494"/>
              <a:gd name="connsiteX11" fmla="*/ 116681 w 619125"/>
              <a:gd name="connsiteY11" fmla="*/ 407194 h 521494"/>
              <a:gd name="connsiteX12" fmla="*/ 119062 w 619125"/>
              <a:gd name="connsiteY12" fmla="*/ 400050 h 521494"/>
              <a:gd name="connsiteX13" fmla="*/ 133350 w 619125"/>
              <a:gd name="connsiteY13" fmla="*/ 390525 h 521494"/>
              <a:gd name="connsiteX14" fmla="*/ 135731 w 619125"/>
              <a:gd name="connsiteY14" fmla="*/ 383382 h 521494"/>
              <a:gd name="connsiteX15" fmla="*/ 150018 w 619125"/>
              <a:gd name="connsiteY15" fmla="*/ 376238 h 521494"/>
              <a:gd name="connsiteX16" fmla="*/ 152400 w 619125"/>
              <a:gd name="connsiteY16" fmla="*/ 369094 h 521494"/>
              <a:gd name="connsiteX17" fmla="*/ 159543 w 619125"/>
              <a:gd name="connsiteY17" fmla="*/ 366713 h 521494"/>
              <a:gd name="connsiteX18" fmla="*/ 166687 w 619125"/>
              <a:gd name="connsiteY18" fmla="*/ 359569 h 521494"/>
              <a:gd name="connsiteX19" fmla="*/ 176212 w 619125"/>
              <a:gd name="connsiteY19" fmla="*/ 352425 h 521494"/>
              <a:gd name="connsiteX20" fmla="*/ 185737 w 619125"/>
              <a:gd name="connsiteY20" fmla="*/ 338138 h 521494"/>
              <a:gd name="connsiteX21" fmla="*/ 195262 w 619125"/>
              <a:gd name="connsiteY21" fmla="*/ 323850 h 521494"/>
              <a:gd name="connsiteX22" fmla="*/ 200025 w 619125"/>
              <a:gd name="connsiteY22" fmla="*/ 316707 h 521494"/>
              <a:gd name="connsiteX23" fmla="*/ 207168 w 619125"/>
              <a:gd name="connsiteY23" fmla="*/ 311944 h 521494"/>
              <a:gd name="connsiteX24" fmla="*/ 223837 w 619125"/>
              <a:gd name="connsiteY24" fmla="*/ 290513 h 521494"/>
              <a:gd name="connsiteX25" fmla="*/ 230981 w 619125"/>
              <a:gd name="connsiteY25" fmla="*/ 276225 h 521494"/>
              <a:gd name="connsiteX26" fmla="*/ 238125 w 619125"/>
              <a:gd name="connsiteY26" fmla="*/ 261938 h 521494"/>
              <a:gd name="connsiteX27" fmla="*/ 245268 w 619125"/>
              <a:gd name="connsiteY27" fmla="*/ 254794 h 521494"/>
              <a:gd name="connsiteX28" fmla="*/ 257175 w 619125"/>
              <a:gd name="connsiteY28" fmla="*/ 242888 h 521494"/>
              <a:gd name="connsiteX29" fmla="*/ 264318 w 619125"/>
              <a:gd name="connsiteY29" fmla="*/ 228600 h 521494"/>
              <a:gd name="connsiteX30" fmla="*/ 269081 w 619125"/>
              <a:gd name="connsiteY30" fmla="*/ 221457 h 521494"/>
              <a:gd name="connsiteX31" fmla="*/ 278606 w 619125"/>
              <a:gd name="connsiteY31" fmla="*/ 209550 h 521494"/>
              <a:gd name="connsiteX32" fmla="*/ 280987 w 619125"/>
              <a:gd name="connsiteY32" fmla="*/ 202407 h 521494"/>
              <a:gd name="connsiteX33" fmla="*/ 295275 w 619125"/>
              <a:gd name="connsiteY33" fmla="*/ 190500 h 521494"/>
              <a:gd name="connsiteX34" fmla="*/ 304800 w 619125"/>
              <a:gd name="connsiteY34" fmla="*/ 176213 h 521494"/>
              <a:gd name="connsiteX35" fmla="*/ 307181 w 619125"/>
              <a:gd name="connsiteY35" fmla="*/ 169069 h 521494"/>
              <a:gd name="connsiteX36" fmla="*/ 316706 w 619125"/>
              <a:gd name="connsiteY36" fmla="*/ 154782 h 521494"/>
              <a:gd name="connsiteX37" fmla="*/ 326231 w 619125"/>
              <a:gd name="connsiteY37" fmla="*/ 140494 h 521494"/>
              <a:gd name="connsiteX38" fmla="*/ 340518 w 619125"/>
              <a:gd name="connsiteY38" fmla="*/ 119063 h 521494"/>
              <a:gd name="connsiteX39" fmla="*/ 345281 w 619125"/>
              <a:gd name="connsiteY39" fmla="*/ 111919 h 521494"/>
              <a:gd name="connsiteX40" fmla="*/ 350043 w 619125"/>
              <a:gd name="connsiteY40" fmla="*/ 97632 h 521494"/>
              <a:gd name="connsiteX41" fmla="*/ 366712 w 619125"/>
              <a:gd name="connsiteY41" fmla="*/ 76200 h 521494"/>
              <a:gd name="connsiteX42" fmla="*/ 376237 w 619125"/>
              <a:gd name="connsiteY42" fmla="*/ 66675 h 521494"/>
              <a:gd name="connsiteX43" fmla="*/ 378618 w 619125"/>
              <a:gd name="connsiteY43" fmla="*/ 59532 h 521494"/>
              <a:gd name="connsiteX44" fmla="*/ 385762 w 619125"/>
              <a:gd name="connsiteY44" fmla="*/ 57150 h 521494"/>
              <a:gd name="connsiteX45" fmla="*/ 400050 w 619125"/>
              <a:gd name="connsiteY45" fmla="*/ 50007 h 521494"/>
              <a:gd name="connsiteX46" fmla="*/ 414337 w 619125"/>
              <a:gd name="connsiteY46" fmla="*/ 40482 h 521494"/>
              <a:gd name="connsiteX47" fmla="*/ 421481 w 619125"/>
              <a:gd name="connsiteY47" fmla="*/ 35719 h 521494"/>
              <a:gd name="connsiteX48" fmla="*/ 442912 w 619125"/>
              <a:gd name="connsiteY48" fmla="*/ 28575 h 521494"/>
              <a:gd name="connsiteX49" fmla="*/ 450056 w 619125"/>
              <a:gd name="connsiteY49" fmla="*/ 26194 h 521494"/>
              <a:gd name="connsiteX50" fmla="*/ 495300 w 619125"/>
              <a:gd name="connsiteY50" fmla="*/ 21432 h 521494"/>
              <a:gd name="connsiteX51" fmla="*/ 531018 w 619125"/>
              <a:gd name="connsiteY51" fmla="*/ 16669 h 521494"/>
              <a:gd name="connsiteX52" fmla="*/ 552450 w 619125"/>
              <a:gd name="connsiteY52" fmla="*/ 14288 h 521494"/>
              <a:gd name="connsiteX53" fmla="*/ 569118 w 619125"/>
              <a:gd name="connsiteY53" fmla="*/ 11907 h 521494"/>
              <a:gd name="connsiteX54" fmla="*/ 597693 w 619125"/>
              <a:gd name="connsiteY54" fmla="*/ 2382 h 521494"/>
              <a:gd name="connsiteX55" fmla="*/ 604837 w 619125"/>
              <a:gd name="connsiteY55" fmla="*/ 0 h 521494"/>
              <a:gd name="connsiteX56" fmla="*/ 619125 w 619125"/>
              <a:gd name="connsiteY56" fmla="*/ 0 h 521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19125" h="521494">
                <a:moveTo>
                  <a:pt x="0" y="521494"/>
                </a:moveTo>
                <a:cubicBezTo>
                  <a:pt x="3969" y="517525"/>
                  <a:pt x="8210" y="513812"/>
                  <a:pt x="11906" y="509588"/>
                </a:cubicBezTo>
                <a:cubicBezTo>
                  <a:pt x="13791" y="507434"/>
                  <a:pt x="14241" y="503961"/>
                  <a:pt x="16668" y="502444"/>
                </a:cubicBezTo>
                <a:cubicBezTo>
                  <a:pt x="20925" y="499783"/>
                  <a:pt x="26193" y="499270"/>
                  <a:pt x="30956" y="497682"/>
                </a:cubicBezTo>
                <a:lnTo>
                  <a:pt x="38100" y="495300"/>
                </a:lnTo>
                <a:cubicBezTo>
                  <a:pt x="40481" y="492919"/>
                  <a:pt x="43375" y="490959"/>
                  <a:pt x="45243" y="488157"/>
                </a:cubicBezTo>
                <a:cubicBezTo>
                  <a:pt x="51016" y="479498"/>
                  <a:pt x="43399" y="481734"/>
                  <a:pt x="52387" y="473869"/>
                </a:cubicBezTo>
                <a:cubicBezTo>
                  <a:pt x="56695" y="470100"/>
                  <a:pt x="66675" y="464344"/>
                  <a:pt x="66675" y="464344"/>
                </a:cubicBezTo>
                <a:cubicBezTo>
                  <a:pt x="77787" y="447676"/>
                  <a:pt x="71438" y="453232"/>
                  <a:pt x="83343" y="445294"/>
                </a:cubicBezTo>
                <a:cubicBezTo>
                  <a:pt x="94456" y="428626"/>
                  <a:pt x="88106" y="434182"/>
                  <a:pt x="100012" y="426244"/>
                </a:cubicBezTo>
                <a:cubicBezTo>
                  <a:pt x="112714" y="407192"/>
                  <a:pt x="96043" y="430213"/>
                  <a:pt x="111918" y="414338"/>
                </a:cubicBezTo>
                <a:cubicBezTo>
                  <a:pt x="113942" y="412314"/>
                  <a:pt x="115093" y="409575"/>
                  <a:pt x="116681" y="407194"/>
                </a:cubicBezTo>
                <a:cubicBezTo>
                  <a:pt x="117475" y="404813"/>
                  <a:pt x="117287" y="401825"/>
                  <a:pt x="119062" y="400050"/>
                </a:cubicBezTo>
                <a:cubicBezTo>
                  <a:pt x="123109" y="396003"/>
                  <a:pt x="133350" y="390525"/>
                  <a:pt x="133350" y="390525"/>
                </a:cubicBezTo>
                <a:cubicBezTo>
                  <a:pt x="134144" y="388144"/>
                  <a:pt x="134163" y="385342"/>
                  <a:pt x="135731" y="383382"/>
                </a:cubicBezTo>
                <a:cubicBezTo>
                  <a:pt x="139089" y="379185"/>
                  <a:pt x="145311" y="377807"/>
                  <a:pt x="150018" y="376238"/>
                </a:cubicBezTo>
                <a:cubicBezTo>
                  <a:pt x="150812" y="373857"/>
                  <a:pt x="150625" y="370869"/>
                  <a:pt x="152400" y="369094"/>
                </a:cubicBezTo>
                <a:cubicBezTo>
                  <a:pt x="154175" y="367319"/>
                  <a:pt x="157455" y="368105"/>
                  <a:pt x="159543" y="366713"/>
                </a:cubicBezTo>
                <a:cubicBezTo>
                  <a:pt x="162345" y="364845"/>
                  <a:pt x="164130" y="361761"/>
                  <a:pt x="166687" y="359569"/>
                </a:cubicBezTo>
                <a:cubicBezTo>
                  <a:pt x="169700" y="356986"/>
                  <a:pt x="173575" y="355391"/>
                  <a:pt x="176212" y="352425"/>
                </a:cubicBezTo>
                <a:cubicBezTo>
                  <a:pt x="180015" y="348147"/>
                  <a:pt x="182562" y="342900"/>
                  <a:pt x="185737" y="338138"/>
                </a:cubicBezTo>
                <a:lnTo>
                  <a:pt x="195262" y="323850"/>
                </a:lnTo>
                <a:cubicBezTo>
                  <a:pt x="196849" y="321469"/>
                  <a:pt x="197644" y="318295"/>
                  <a:pt x="200025" y="316707"/>
                </a:cubicBezTo>
                <a:cubicBezTo>
                  <a:pt x="202406" y="315119"/>
                  <a:pt x="204970" y="313776"/>
                  <a:pt x="207168" y="311944"/>
                </a:cubicBezTo>
                <a:cubicBezTo>
                  <a:pt x="212857" y="307202"/>
                  <a:pt x="221795" y="296640"/>
                  <a:pt x="223837" y="290513"/>
                </a:cubicBezTo>
                <a:cubicBezTo>
                  <a:pt x="227123" y="280654"/>
                  <a:pt x="224826" y="285457"/>
                  <a:pt x="230981" y="276225"/>
                </a:cubicBezTo>
                <a:cubicBezTo>
                  <a:pt x="233368" y="269064"/>
                  <a:pt x="232995" y="268094"/>
                  <a:pt x="238125" y="261938"/>
                </a:cubicBezTo>
                <a:cubicBezTo>
                  <a:pt x="240281" y="259351"/>
                  <a:pt x="243112" y="257381"/>
                  <a:pt x="245268" y="254794"/>
                </a:cubicBezTo>
                <a:cubicBezTo>
                  <a:pt x="255188" y="242890"/>
                  <a:pt x="244081" y="251616"/>
                  <a:pt x="257175" y="242888"/>
                </a:cubicBezTo>
                <a:cubicBezTo>
                  <a:pt x="270831" y="222400"/>
                  <a:pt x="254452" y="248331"/>
                  <a:pt x="264318" y="228600"/>
                </a:cubicBezTo>
                <a:cubicBezTo>
                  <a:pt x="265598" y="226040"/>
                  <a:pt x="267493" y="223838"/>
                  <a:pt x="269081" y="221457"/>
                </a:cubicBezTo>
                <a:cubicBezTo>
                  <a:pt x="275065" y="203503"/>
                  <a:pt x="266297" y="224936"/>
                  <a:pt x="278606" y="209550"/>
                </a:cubicBezTo>
                <a:cubicBezTo>
                  <a:pt x="280174" y="207590"/>
                  <a:pt x="279595" y="204495"/>
                  <a:pt x="280987" y="202407"/>
                </a:cubicBezTo>
                <a:cubicBezTo>
                  <a:pt x="284654" y="196907"/>
                  <a:pt x="290004" y="194014"/>
                  <a:pt x="295275" y="190500"/>
                </a:cubicBezTo>
                <a:cubicBezTo>
                  <a:pt x="298450" y="185738"/>
                  <a:pt x="302990" y="181643"/>
                  <a:pt x="304800" y="176213"/>
                </a:cubicBezTo>
                <a:cubicBezTo>
                  <a:pt x="305594" y="173832"/>
                  <a:pt x="305962" y="171263"/>
                  <a:pt x="307181" y="169069"/>
                </a:cubicBezTo>
                <a:cubicBezTo>
                  <a:pt x="309961" y="164066"/>
                  <a:pt x="313531" y="159544"/>
                  <a:pt x="316706" y="154782"/>
                </a:cubicBezTo>
                <a:lnTo>
                  <a:pt x="326231" y="140494"/>
                </a:lnTo>
                <a:lnTo>
                  <a:pt x="340518" y="119063"/>
                </a:lnTo>
                <a:lnTo>
                  <a:pt x="345281" y="111919"/>
                </a:lnTo>
                <a:cubicBezTo>
                  <a:pt x="346868" y="107157"/>
                  <a:pt x="347259" y="101809"/>
                  <a:pt x="350043" y="97632"/>
                </a:cubicBezTo>
                <a:cubicBezTo>
                  <a:pt x="361436" y="80542"/>
                  <a:pt x="355521" y="87391"/>
                  <a:pt x="366712" y="76200"/>
                </a:cubicBezTo>
                <a:cubicBezTo>
                  <a:pt x="373061" y="57154"/>
                  <a:pt x="363538" y="79374"/>
                  <a:pt x="376237" y="66675"/>
                </a:cubicBezTo>
                <a:cubicBezTo>
                  <a:pt x="378012" y="64900"/>
                  <a:pt x="376843" y="61307"/>
                  <a:pt x="378618" y="59532"/>
                </a:cubicBezTo>
                <a:cubicBezTo>
                  <a:pt x="380393" y="57757"/>
                  <a:pt x="383517" y="58273"/>
                  <a:pt x="385762" y="57150"/>
                </a:cubicBezTo>
                <a:cubicBezTo>
                  <a:pt x="404220" y="47921"/>
                  <a:pt x="382100" y="55990"/>
                  <a:pt x="400050" y="50007"/>
                </a:cubicBezTo>
                <a:lnTo>
                  <a:pt x="414337" y="40482"/>
                </a:lnTo>
                <a:cubicBezTo>
                  <a:pt x="416718" y="38894"/>
                  <a:pt x="418766" y="36624"/>
                  <a:pt x="421481" y="35719"/>
                </a:cubicBezTo>
                <a:lnTo>
                  <a:pt x="442912" y="28575"/>
                </a:lnTo>
                <a:cubicBezTo>
                  <a:pt x="445293" y="27781"/>
                  <a:pt x="447571" y="26549"/>
                  <a:pt x="450056" y="26194"/>
                </a:cubicBezTo>
                <a:cubicBezTo>
                  <a:pt x="481214" y="21743"/>
                  <a:pt x="452571" y="25502"/>
                  <a:pt x="495300" y="21432"/>
                </a:cubicBezTo>
                <a:cubicBezTo>
                  <a:pt x="538443" y="17323"/>
                  <a:pt x="498280" y="21034"/>
                  <a:pt x="531018" y="16669"/>
                </a:cubicBezTo>
                <a:cubicBezTo>
                  <a:pt x="538143" y="15719"/>
                  <a:pt x="545318" y="15179"/>
                  <a:pt x="552450" y="14288"/>
                </a:cubicBezTo>
                <a:cubicBezTo>
                  <a:pt x="558019" y="13592"/>
                  <a:pt x="563562" y="12701"/>
                  <a:pt x="569118" y="11907"/>
                </a:cubicBezTo>
                <a:lnTo>
                  <a:pt x="597693" y="2382"/>
                </a:lnTo>
                <a:cubicBezTo>
                  <a:pt x="600074" y="1588"/>
                  <a:pt x="602327" y="0"/>
                  <a:pt x="604837" y="0"/>
                </a:cubicBezTo>
                <a:lnTo>
                  <a:pt x="619125" y="0"/>
                </a:lnTo>
              </a:path>
            </a:pathLst>
          </a:cu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Freeform 10"/>
          <p:cNvSpPr/>
          <p:nvPr/>
        </p:nvSpPr>
        <p:spPr>
          <a:xfrm>
            <a:off x="9621838" y="2900363"/>
            <a:ext cx="774700" cy="600075"/>
          </a:xfrm>
          <a:custGeom>
            <a:avLst/>
            <a:gdLst>
              <a:gd name="connsiteX0" fmla="*/ 774155 w 774155"/>
              <a:gd name="connsiteY0" fmla="*/ 0 h 600251"/>
              <a:gd name="connsiteX1" fmla="*/ 746106 w 774155"/>
              <a:gd name="connsiteY1" fmla="*/ 16830 h 600251"/>
              <a:gd name="connsiteX2" fmla="*/ 729277 w 774155"/>
              <a:gd name="connsiteY2" fmla="*/ 33659 h 600251"/>
              <a:gd name="connsiteX3" fmla="*/ 712447 w 774155"/>
              <a:gd name="connsiteY3" fmla="*/ 44879 h 600251"/>
              <a:gd name="connsiteX4" fmla="*/ 701227 w 774155"/>
              <a:gd name="connsiteY4" fmla="*/ 61708 h 600251"/>
              <a:gd name="connsiteX5" fmla="*/ 684398 w 774155"/>
              <a:gd name="connsiteY5" fmla="*/ 67318 h 600251"/>
              <a:gd name="connsiteX6" fmla="*/ 661959 w 774155"/>
              <a:gd name="connsiteY6" fmla="*/ 89758 h 600251"/>
              <a:gd name="connsiteX7" fmla="*/ 611470 w 774155"/>
              <a:gd name="connsiteY7" fmla="*/ 84148 h 600251"/>
              <a:gd name="connsiteX8" fmla="*/ 594641 w 774155"/>
              <a:gd name="connsiteY8" fmla="*/ 78538 h 600251"/>
              <a:gd name="connsiteX9" fmla="*/ 555372 w 774155"/>
              <a:gd name="connsiteY9" fmla="*/ 72928 h 600251"/>
              <a:gd name="connsiteX10" fmla="*/ 516104 w 774155"/>
              <a:gd name="connsiteY10" fmla="*/ 61708 h 600251"/>
              <a:gd name="connsiteX11" fmla="*/ 465615 w 774155"/>
              <a:gd name="connsiteY11" fmla="*/ 67318 h 600251"/>
              <a:gd name="connsiteX12" fmla="*/ 454396 w 774155"/>
              <a:gd name="connsiteY12" fmla="*/ 84148 h 600251"/>
              <a:gd name="connsiteX13" fmla="*/ 437566 w 774155"/>
              <a:gd name="connsiteY13" fmla="*/ 89758 h 600251"/>
              <a:gd name="connsiteX14" fmla="*/ 403907 w 774155"/>
              <a:gd name="connsiteY14" fmla="*/ 106587 h 600251"/>
              <a:gd name="connsiteX15" fmla="*/ 387078 w 774155"/>
              <a:gd name="connsiteY15" fmla="*/ 117807 h 600251"/>
              <a:gd name="connsiteX16" fmla="*/ 364638 w 774155"/>
              <a:gd name="connsiteY16" fmla="*/ 140246 h 600251"/>
              <a:gd name="connsiteX17" fmla="*/ 353419 w 774155"/>
              <a:gd name="connsiteY17" fmla="*/ 157075 h 600251"/>
              <a:gd name="connsiteX18" fmla="*/ 347809 w 774155"/>
              <a:gd name="connsiteY18" fmla="*/ 263662 h 600251"/>
              <a:gd name="connsiteX19" fmla="*/ 342199 w 774155"/>
              <a:gd name="connsiteY19" fmla="*/ 280491 h 600251"/>
              <a:gd name="connsiteX20" fmla="*/ 325370 w 774155"/>
              <a:gd name="connsiteY20" fmla="*/ 286101 h 600251"/>
              <a:gd name="connsiteX21" fmla="*/ 314150 w 774155"/>
              <a:gd name="connsiteY21" fmla="*/ 302931 h 600251"/>
              <a:gd name="connsiteX22" fmla="*/ 252442 w 774155"/>
              <a:gd name="connsiteY22" fmla="*/ 330980 h 600251"/>
              <a:gd name="connsiteX23" fmla="*/ 235613 w 774155"/>
              <a:gd name="connsiteY23" fmla="*/ 342199 h 600251"/>
              <a:gd name="connsiteX24" fmla="*/ 218783 w 774155"/>
              <a:gd name="connsiteY24" fmla="*/ 347809 h 600251"/>
              <a:gd name="connsiteX25" fmla="*/ 201954 w 774155"/>
              <a:gd name="connsiteY25" fmla="*/ 364639 h 600251"/>
              <a:gd name="connsiteX26" fmla="*/ 168295 w 774155"/>
              <a:gd name="connsiteY26" fmla="*/ 387078 h 600251"/>
              <a:gd name="connsiteX27" fmla="*/ 145856 w 774155"/>
              <a:gd name="connsiteY27" fmla="*/ 420737 h 600251"/>
              <a:gd name="connsiteX28" fmla="*/ 134636 w 774155"/>
              <a:gd name="connsiteY28" fmla="*/ 437566 h 600251"/>
              <a:gd name="connsiteX29" fmla="*/ 100977 w 774155"/>
              <a:gd name="connsiteY29" fmla="*/ 460005 h 600251"/>
              <a:gd name="connsiteX30" fmla="*/ 84148 w 774155"/>
              <a:gd name="connsiteY30" fmla="*/ 471225 h 600251"/>
              <a:gd name="connsiteX31" fmla="*/ 61708 w 774155"/>
              <a:gd name="connsiteY31" fmla="*/ 521713 h 600251"/>
              <a:gd name="connsiteX32" fmla="*/ 56099 w 774155"/>
              <a:gd name="connsiteY32" fmla="*/ 549762 h 600251"/>
              <a:gd name="connsiteX33" fmla="*/ 39269 w 774155"/>
              <a:gd name="connsiteY33" fmla="*/ 560982 h 600251"/>
              <a:gd name="connsiteX34" fmla="*/ 22440 w 774155"/>
              <a:gd name="connsiteY34" fmla="*/ 577812 h 600251"/>
              <a:gd name="connsiteX35" fmla="*/ 0 w 774155"/>
              <a:gd name="connsiteY35" fmla="*/ 600251 h 60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74155" h="600251">
                <a:moveTo>
                  <a:pt x="774155" y="0"/>
                </a:moveTo>
                <a:cubicBezTo>
                  <a:pt x="764805" y="5610"/>
                  <a:pt x="754829" y="10288"/>
                  <a:pt x="746106" y="16830"/>
                </a:cubicBezTo>
                <a:cubicBezTo>
                  <a:pt x="739759" y="21590"/>
                  <a:pt x="735372" y="28580"/>
                  <a:pt x="729277" y="33659"/>
                </a:cubicBezTo>
                <a:cubicBezTo>
                  <a:pt x="724097" y="37975"/>
                  <a:pt x="718057" y="41139"/>
                  <a:pt x="712447" y="44879"/>
                </a:cubicBezTo>
                <a:cubicBezTo>
                  <a:pt x="708707" y="50489"/>
                  <a:pt x="706492" y="57496"/>
                  <a:pt x="701227" y="61708"/>
                </a:cubicBezTo>
                <a:cubicBezTo>
                  <a:pt x="696610" y="65402"/>
                  <a:pt x="688579" y="63137"/>
                  <a:pt x="684398" y="67318"/>
                </a:cubicBezTo>
                <a:cubicBezTo>
                  <a:pt x="654480" y="97238"/>
                  <a:pt x="706835" y="74798"/>
                  <a:pt x="661959" y="89758"/>
                </a:cubicBezTo>
                <a:cubicBezTo>
                  <a:pt x="645129" y="87888"/>
                  <a:pt x="628173" y="86932"/>
                  <a:pt x="611470" y="84148"/>
                </a:cubicBezTo>
                <a:cubicBezTo>
                  <a:pt x="605637" y="83176"/>
                  <a:pt x="600439" y="79698"/>
                  <a:pt x="594641" y="78538"/>
                </a:cubicBezTo>
                <a:cubicBezTo>
                  <a:pt x="581675" y="75945"/>
                  <a:pt x="568462" y="74798"/>
                  <a:pt x="555372" y="72928"/>
                </a:cubicBezTo>
                <a:cubicBezTo>
                  <a:pt x="547436" y="70282"/>
                  <a:pt x="523148" y="61708"/>
                  <a:pt x="516104" y="61708"/>
                </a:cubicBezTo>
                <a:cubicBezTo>
                  <a:pt x="499171" y="61708"/>
                  <a:pt x="482445" y="65448"/>
                  <a:pt x="465615" y="67318"/>
                </a:cubicBezTo>
                <a:cubicBezTo>
                  <a:pt x="461875" y="72928"/>
                  <a:pt x="459661" y="79936"/>
                  <a:pt x="454396" y="84148"/>
                </a:cubicBezTo>
                <a:cubicBezTo>
                  <a:pt x="449778" y="87842"/>
                  <a:pt x="442855" y="87113"/>
                  <a:pt x="437566" y="89758"/>
                </a:cubicBezTo>
                <a:cubicBezTo>
                  <a:pt x="394066" y="111507"/>
                  <a:pt x="446211" y="92486"/>
                  <a:pt x="403907" y="106587"/>
                </a:cubicBezTo>
                <a:cubicBezTo>
                  <a:pt x="398297" y="110327"/>
                  <a:pt x="391290" y="112542"/>
                  <a:pt x="387078" y="117807"/>
                </a:cubicBezTo>
                <a:cubicBezTo>
                  <a:pt x="365319" y="145005"/>
                  <a:pt x="401357" y="128006"/>
                  <a:pt x="364638" y="140246"/>
                </a:cubicBezTo>
                <a:cubicBezTo>
                  <a:pt x="360898" y="145856"/>
                  <a:pt x="354330" y="150395"/>
                  <a:pt x="353419" y="157075"/>
                </a:cubicBezTo>
                <a:cubicBezTo>
                  <a:pt x="348612" y="192327"/>
                  <a:pt x="351030" y="228230"/>
                  <a:pt x="347809" y="263662"/>
                </a:cubicBezTo>
                <a:cubicBezTo>
                  <a:pt x="347274" y="269551"/>
                  <a:pt x="346380" y="276310"/>
                  <a:pt x="342199" y="280491"/>
                </a:cubicBezTo>
                <a:cubicBezTo>
                  <a:pt x="338018" y="284672"/>
                  <a:pt x="330980" y="284231"/>
                  <a:pt x="325370" y="286101"/>
                </a:cubicBezTo>
                <a:cubicBezTo>
                  <a:pt x="321630" y="291711"/>
                  <a:pt x="319224" y="298491"/>
                  <a:pt x="314150" y="302931"/>
                </a:cubicBezTo>
                <a:cubicBezTo>
                  <a:pt x="285395" y="328091"/>
                  <a:pt x="284636" y="324541"/>
                  <a:pt x="252442" y="330980"/>
                </a:cubicBezTo>
                <a:cubicBezTo>
                  <a:pt x="246832" y="334720"/>
                  <a:pt x="241643" y="339184"/>
                  <a:pt x="235613" y="342199"/>
                </a:cubicBezTo>
                <a:cubicBezTo>
                  <a:pt x="230324" y="344844"/>
                  <a:pt x="223703" y="344529"/>
                  <a:pt x="218783" y="347809"/>
                </a:cubicBezTo>
                <a:cubicBezTo>
                  <a:pt x="212182" y="352210"/>
                  <a:pt x="208216" y="359768"/>
                  <a:pt x="201954" y="364639"/>
                </a:cubicBezTo>
                <a:cubicBezTo>
                  <a:pt x="191310" y="372918"/>
                  <a:pt x="168295" y="387078"/>
                  <a:pt x="168295" y="387078"/>
                </a:cubicBezTo>
                <a:cubicBezTo>
                  <a:pt x="158436" y="416652"/>
                  <a:pt x="169200" y="392724"/>
                  <a:pt x="145856" y="420737"/>
                </a:cubicBezTo>
                <a:cubicBezTo>
                  <a:pt x="141540" y="425916"/>
                  <a:pt x="139710" y="433126"/>
                  <a:pt x="134636" y="437566"/>
                </a:cubicBezTo>
                <a:cubicBezTo>
                  <a:pt x="124488" y="446445"/>
                  <a:pt x="112197" y="452525"/>
                  <a:pt x="100977" y="460005"/>
                </a:cubicBezTo>
                <a:lnTo>
                  <a:pt x="84148" y="471225"/>
                </a:lnTo>
                <a:cubicBezTo>
                  <a:pt x="70796" y="511280"/>
                  <a:pt x="79488" y="495044"/>
                  <a:pt x="61708" y="521713"/>
                </a:cubicBezTo>
                <a:cubicBezTo>
                  <a:pt x="59838" y="531063"/>
                  <a:pt x="60830" y="541483"/>
                  <a:pt x="56099" y="549762"/>
                </a:cubicBezTo>
                <a:cubicBezTo>
                  <a:pt x="52754" y="555616"/>
                  <a:pt x="44449" y="556666"/>
                  <a:pt x="39269" y="560982"/>
                </a:cubicBezTo>
                <a:cubicBezTo>
                  <a:pt x="33174" y="566061"/>
                  <a:pt x="28535" y="572733"/>
                  <a:pt x="22440" y="577812"/>
                </a:cubicBezTo>
                <a:cubicBezTo>
                  <a:pt x="-772" y="597155"/>
                  <a:pt x="10425" y="579401"/>
                  <a:pt x="0" y="600251"/>
                </a:cubicBezTo>
              </a:path>
            </a:pathLst>
          </a:cu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Freeform 11"/>
          <p:cNvSpPr/>
          <p:nvPr/>
        </p:nvSpPr>
        <p:spPr>
          <a:xfrm>
            <a:off x="9785350" y="3314700"/>
            <a:ext cx="290513" cy="241300"/>
          </a:xfrm>
          <a:custGeom>
            <a:avLst/>
            <a:gdLst>
              <a:gd name="connsiteX0" fmla="*/ 0 w 291711"/>
              <a:gd name="connsiteY0" fmla="*/ 0 h 241222"/>
              <a:gd name="connsiteX1" fmla="*/ 33659 w 291711"/>
              <a:gd name="connsiteY1" fmla="*/ 61708 h 241222"/>
              <a:gd name="connsiteX2" fmla="*/ 67318 w 291711"/>
              <a:gd name="connsiteY2" fmla="*/ 78537 h 241222"/>
              <a:gd name="connsiteX3" fmla="*/ 140246 w 291711"/>
              <a:gd name="connsiteY3" fmla="*/ 84147 h 241222"/>
              <a:gd name="connsiteX4" fmla="*/ 157075 w 291711"/>
              <a:gd name="connsiteY4" fmla="*/ 117806 h 241222"/>
              <a:gd name="connsiteX5" fmla="*/ 168295 w 291711"/>
              <a:gd name="connsiteY5" fmla="*/ 157075 h 241222"/>
              <a:gd name="connsiteX6" fmla="*/ 190734 w 291711"/>
              <a:gd name="connsiteY6" fmla="*/ 168294 h 241222"/>
              <a:gd name="connsiteX7" fmla="*/ 224393 w 291711"/>
              <a:gd name="connsiteY7" fmla="*/ 185124 h 241222"/>
              <a:gd name="connsiteX8" fmla="*/ 230003 w 291711"/>
              <a:gd name="connsiteY8" fmla="*/ 201953 h 241222"/>
              <a:gd name="connsiteX9" fmla="*/ 246832 w 291711"/>
              <a:gd name="connsiteY9" fmla="*/ 207563 h 241222"/>
              <a:gd name="connsiteX10" fmla="*/ 263661 w 291711"/>
              <a:gd name="connsiteY10" fmla="*/ 218783 h 241222"/>
              <a:gd name="connsiteX11" fmla="*/ 274881 w 291711"/>
              <a:gd name="connsiteY11" fmla="*/ 235612 h 241222"/>
              <a:gd name="connsiteX12" fmla="*/ 291711 w 291711"/>
              <a:gd name="connsiteY12" fmla="*/ 241222 h 24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1711" h="241222">
                <a:moveTo>
                  <a:pt x="0" y="0"/>
                </a:moveTo>
                <a:cubicBezTo>
                  <a:pt x="55552" y="33330"/>
                  <a:pt x="6543" y="-6082"/>
                  <a:pt x="33659" y="61708"/>
                </a:cubicBezTo>
                <a:cubicBezTo>
                  <a:pt x="36296" y="68302"/>
                  <a:pt x="60855" y="77729"/>
                  <a:pt x="67318" y="78537"/>
                </a:cubicBezTo>
                <a:cubicBezTo>
                  <a:pt x="91511" y="81561"/>
                  <a:pt x="115937" y="82277"/>
                  <a:pt x="140246" y="84147"/>
                </a:cubicBezTo>
                <a:cubicBezTo>
                  <a:pt x="152538" y="102586"/>
                  <a:pt x="151269" y="97485"/>
                  <a:pt x="157075" y="117806"/>
                </a:cubicBezTo>
                <a:cubicBezTo>
                  <a:pt x="157133" y="118010"/>
                  <a:pt x="165605" y="154385"/>
                  <a:pt x="168295" y="157075"/>
                </a:cubicBezTo>
                <a:cubicBezTo>
                  <a:pt x="174208" y="162988"/>
                  <a:pt x="183473" y="164145"/>
                  <a:pt x="190734" y="168294"/>
                </a:cubicBezTo>
                <a:cubicBezTo>
                  <a:pt x="221186" y="185695"/>
                  <a:pt x="193534" y="174838"/>
                  <a:pt x="224393" y="185124"/>
                </a:cubicBezTo>
                <a:cubicBezTo>
                  <a:pt x="226263" y="190734"/>
                  <a:pt x="225822" y="197772"/>
                  <a:pt x="230003" y="201953"/>
                </a:cubicBezTo>
                <a:cubicBezTo>
                  <a:pt x="234184" y="206134"/>
                  <a:pt x="241543" y="204918"/>
                  <a:pt x="246832" y="207563"/>
                </a:cubicBezTo>
                <a:cubicBezTo>
                  <a:pt x="252862" y="210578"/>
                  <a:pt x="258051" y="215043"/>
                  <a:pt x="263661" y="218783"/>
                </a:cubicBezTo>
                <a:cubicBezTo>
                  <a:pt x="267401" y="224393"/>
                  <a:pt x="269616" y="231400"/>
                  <a:pt x="274881" y="235612"/>
                </a:cubicBezTo>
                <a:cubicBezTo>
                  <a:pt x="279499" y="239306"/>
                  <a:pt x="291711" y="241222"/>
                  <a:pt x="291711" y="241222"/>
                </a:cubicBezTo>
              </a:path>
            </a:pathLst>
          </a:custGeom>
          <a:noFill/>
          <a:ln>
            <a:solidFill>
              <a:srgbClr val="0070C0">
                <a:alpha val="45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Freeform 15"/>
          <p:cNvSpPr/>
          <p:nvPr/>
        </p:nvSpPr>
        <p:spPr>
          <a:xfrm>
            <a:off x="9494043" y="2055018"/>
            <a:ext cx="873125" cy="1341438"/>
          </a:xfrm>
          <a:custGeom>
            <a:avLst/>
            <a:gdLst>
              <a:gd name="connsiteX0" fmla="*/ 181795 w 872567"/>
              <a:gd name="connsiteY0" fmla="*/ 1108 h 1341854"/>
              <a:gd name="connsiteX1" fmla="*/ 198625 w 872567"/>
              <a:gd name="connsiteY1" fmla="*/ 29157 h 1341854"/>
              <a:gd name="connsiteX2" fmla="*/ 215454 w 872567"/>
              <a:gd name="connsiteY2" fmla="*/ 62816 h 1341854"/>
              <a:gd name="connsiteX3" fmla="*/ 237893 w 872567"/>
              <a:gd name="connsiteY3" fmla="*/ 68426 h 1341854"/>
              <a:gd name="connsiteX4" fmla="*/ 260333 w 872567"/>
              <a:gd name="connsiteY4" fmla="*/ 135744 h 1341854"/>
              <a:gd name="connsiteX5" fmla="*/ 265942 w 872567"/>
              <a:gd name="connsiteY5" fmla="*/ 152573 h 1341854"/>
              <a:gd name="connsiteX6" fmla="*/ 282772 w 872567"/>
              <a:gd name="connsiteY6" fmla="*/ 186232 h 1341854"/>
              <a:gd name="connsiteX7" fmla="*/ 282772 w 872567"/>
              <a:gd name="connsiteY7" fmla="*/ 281599 h 1341854"/>
              <a:gd name="connsiteX8" fmla="*/ 265942 w 872567"/>
              <a:gd name="connsiteY8" fmla="*/ 320868 h 1341854"/>
              <a:gd name="connsiteX9" fmla="*/ 249113 w 872567"/>
              <a:gd name="connsiteY9" fmla="*/ 332087 h 1341854"/>
              <a:gd name="connsiteX10" fmla="*/ 232284 w 872567"/>
              <a:gd name="connsiteY10" fmla="*/ 365746 h 1341854"/>
              <a:gd name="connsiteX11" fmla="*/ 221064 w 872567"/>
              <a:gd name="connsiteY11" fmla="*/ 399405 h 1341854"/>
              <a:gd name="connsiteX12" fmla="*/ 187405 w 872567"/>
              <a:gd name="connsiteY12" fmla="*/ 427454 h 1341854"/>
              <a:gd name="connsiteX13" fmla="*/ 153746 w 872567"/>
              <a:gd name="connsiteY13" fmla="*/ 494772 h 1341854"/>
              <a:gd name="connsiteX14" fmla="*/ 136917 w 872567"/>
              <a:gd name="connsiteY14" fmla="*/ 505992 h 1341854"/>
              <a:gd name="connsiteX15" fmla="*/ 114477 w 872567"/>
              <a:gd name="connsiteY15" fmla="*/ 534041 h 1341854"/>
              <a:gd name="connsiteX16" fmla="*/ 92038 w 872567"/>
              <a:gd name="connsiteY16" fmla="*/ 556480 h 1341854"/>
              <a:gd name="connsiteX17" fmla="*/ 80819 w 872567"/>
              <a:gd name="connsiteY17" fmla="*/ 573309 h 1341854"/>
              <a:gd name="connsiteX18" fmla="*/ 63989 w 872567"/>
              <a:gd name="connsiteY18" fmla="*/ 584529 h 1341854"/>
              <a:gd name="connsiteX19" fmla="*/ 41550 w 872567"/>
              <a:gd name="connsiteY19" fmla="*/ 618188 h 1341854"/>
              <a:gd name="connsiteX20" fmla="*/ 7891 w 872567"/>
              <a:gd name="connsiteY20" fmla="*/ 629407 h 1341854"/>
              <a:gd name="connsiteX21" fmla="*/ 7891 w 872567"/>
              <a:gd name="connsiteY21" fmla="*/ 702335 h 1341854"/>
              <a:gd name="connsiteX22" fmla="*/ 19111 w 872567"/>
              <a:gd name="connsiteY22" fmla="*/ 719165 h 1341854"/>
              <a:gd name="connsiteX23" fmla="*/ 35940 w 872567"/>
              <a:gd name="connsiteY23" fmla="*/ 724774 h 1341854"/>
              <a:gd name="connsiteX24" fmla="*/ 58379 w 872567"/>
              <a:gd name="connsiteY24" fmla="*/ 747214 h 1341854"/>
              <a:gd name="connsiteX25" fmla="*/ 63989 w 872567"/>
              <a:gd name="connsiteY25" fmla="*/ 764043 h 1341854"/>
              <a:gd name="connsiteX26" fmla="*/ 75209 w 872567"/>
              <a:gd name="connsiteY26" fmla="*/ 780873 h 1341854"/>
              <a:gd name="connsiteX27" fmla="*/ 92038 w 872567"/>
              <a:gd name="connsiteY27" fmla="*/ 814531 h 1341854"/>
              <a:gd name="connsiteX28" fmla="*/ 108868 w 872567"/>
              <a:gd name="connsiteY28" fmla="*/ 825751 h 1341854"/>
              <a:gd name="connsiteX29" fmla="*/ 153746 w 872567"/>
              <a:gd name="connsiteY29" fmla="*/ 876239 h 1341854"/>
              <a:gd name="connsiteX30" fmla="*/ 181795 w 872567"/>
              <a:gd name="connsiteY30" fmla="*/ 926728 h 1341854"/>
              <a:gd name="connsiteX31" fmla="*/ 193015 w 872567"/>
              <a:gd name="connsiteY31" fmla="*/ 943557 h 1341854"/>
              <a:gd name="connsiteX32" fmla="*/ 198625 w 872567"/>
              <a:gd name="connsiteY32" fmla="*/ 960387 h 1341854"/>
              <a:gd name="connsiteX33" fmla="*/ 215454 w 872567"/>
              <a:gd name="connsiteY33" fmla="*/ 1033314 h 1341854"/>
              <a:gd name="connsiteX34" fmla="*/ 204235 w 872567"/>
              <a:gd name="connsiteY34" fmla="*/ 1083803 h 1341854"/>
              <a:gd name="connsiteX35" fmla="*/ 176185 w 872567"/>
              <a:gd name="connsiteY35" fmla="*/ 1117461 h 1341854"/>
              <a:gd name="connsiteX36" fmla="*/ 164966 w 872567"/>
              <a:gd name="connsiteY36" fmla="*/ 1134291 h 1341854"/>
              <a:gd name="connsiteX37" fmla="*/ 148136 w 872567"/>
              <a:gd name="connsiteY37" fmla="*/ 1167950 h 1341854"/>
              <a:gd name="connsiteX38" fmla="*/ 131307 w 872567"/>
              <a:gd name="connsiteY38" fmla="*/ 1201609 h 1341854"/>
              <a:gd name="connsiteX39" fmla="*/ 114477 w 872567"/>
              <a:gd name="connsiteY39" fmla="*/ 1235268 h 1341854"/>
              <a:gd name="connsiteX40" fmla="*/ 103258 w 872567"/>
              <a:gd name="connsiteY40" fmla="*/ 1302585 h 1341854"/>
              <a:gd name="connsiteX41" fmla="*/ 108868 w 872567"/>
              <a:gd name="connsiteY41" fmla="*/ 1336244 h 1341854"/>
              <a:gd name="connsiteX42" fmla="*/ 125697 w 872567"/>
              <a:gd name="connsiteY42" fmla="*/ 1341854 h 1341854"/>
              <a:gd name="connsiteX43" fmla="*/ 164966 w 872567"/>
              <a:gd name="connsiteY43" fmla="*/ 1336244 h 1341854"/>
              <a:gd name="connsiteX44" fmla="*/ 181795 w 872567"/>
              <a:gd name="connsiteY44" fmla="*/ 1330634 h 1341854"/>
              <a:gd name="connsiteX45" fmla="*/ 204235 w 872567"/>
              <a:gd name="connsiteY45" fmla="*/ 1296976 h 1341854"/>
              <a:gd name="connsiteX46" fmla="*/ 237893 w 872567"/>
              <a:gd name="connsiteY46" fmla="*/ 1274536 h 1341854"/>
              <a:gd name="connsiteX47" fmla="*/ 271552 w 872567"/>
              <a:gd name="connsiteY47" fmla="*/ 1246487 h 1341854"/>
              <a:gd name="connsiteX48" fmla="*/ 310821 w 872567"/>
              <a:gd name="connsiteY48" fmla="*/ 1195999 h 1341854"/>
              <a:gd name="connsiteX49" fmla="*/ 316431 w 872567"/>
              <a:gd name="connsiteY49" fmla="*/ 1179169 h 1341854"/>
              <a:gd name="connsiteX50" fmla="*/ 350090 w 872567"/>
              <a:gd name="connsiteY50" fmla="*/ 1167950 h 1341854"/>
              <a:gd name="connsiteX51" fmla="*/ 366919 w 872567"/>
              <a:gd name="connsiteY51" fmla="*/ 1156730 h 1341854"/>
              <a:gd name="connsiteX52" fmla="*/ 394968 w 872567"/>
              <a:gd name="connsiteY52" fmla="*/ 1151120 h 1341854"/>
              <a:gd name="connsiteX53" fmla="*/ 411798 w 872567"/>
              <a:gd name="connsiteY53" fmla="*/ 1145511 h 1341854"/>
              <a:gd name="connsiteX54" fmla="*/ 439847 w 872567"/>
              <a:gd name="connsiteY54" fmla="*/ 1117461 h 1341854"/>
              <a:gd name="connsiteX55" fmla="*/ 456676 w 872567"/>
              <a:gd name="connsiteY55" fmla="*/ 1083803 h 1341854"/>
              <a:gd name="connsiteX56" fmla="*/ 467896 w 872567"/>
              <a:gd name="connsiteY56" fmla="*/ 1066973 h 1341854"/>
              <a:gd name="connsiteX57" fmla="*/ 479115 w 872567"/>
              <a:gd name="connsiteY57" fmla="*/ 982826 h 1341854"/>
              <a:gd name="connsiteX58" fmla="*/ 501555 w 872567"/>
              <a:gd name="connsiteY58" fmla="*/ 949167 h 1341854"/>
              <a:gd name="connsiteX59" fmla="*/ 518384 w 872567"/>
              <a:gd name="connsiteY59" fmla="*/ 943557 h 1341854"/>
              <a:gd name="connsiteX60" fmla="*/ 552043 w 872567"/>
              <a:gd name="connsiteY60" fmla="*/ 921118 h 1341854"/>
              <a:gd name="connsiteX61" fmla="*/ 585702 w 872567"/>
              <a:gd name="connsiteY61" fmla="*/ 909898 h 1341854"/>
              <a:gd name="connsiteX62" fmla="*/ 619361 w 872567"/>
              <a:gd name="connsiteY62" fmla="*/ 898679 h 1341854"/>
              <a:gd name="connsiteX63" fmla="*/ 636190 w 872567"/>
              <a:gd name="connsiteY63" fmla="*/ 893069 h 1341854"/>
              <a:gd name="connsiteX64" fmla="*/ 653020 w 872567"/>
              <a:gd name="connsiteY64" fmla="*/ 898679 h 1341854"/>
              <a:gd name="connsiteX65" fmla="*/ 703508 w 872567"/>
              <a:gd name="connsiteY65" fmla="*/ 909898 h 1341854"/>
              <a:gd name="connsiteX66" fmla="*/ 725947 w 872567"/>
              <a:gd name="connsiteY66" fmla="*/ 915508 h 1341854"/>
              <a:gd name="connsiteX67" fmla="*/ 815704 w 872567"/>
              <a:gd name="connsiteY67" fmla="*/ 909898 h 1341854"/>
              <a:gd name="connsiteX68" fmla="*/ 832534 w 872567"/>
              <a:gd name="connsiteY68" fmla="*/ 904288 h 1341854"/>
              <a:gd name="connsiteX69" fmla="*/ 838144 w 872567"/>
              <a:gd name="connsiteY69" fmla="*/ 887459 h 1341854"/>
              <a:gd name="connsiteX70" fmla="*/ 860583 w 872567"/>
              <a:gd name="connsiteY70" fmla="*/ 853800 h 1341854"/>
              <a:gd name="connsiteX71" fmla="*/ 866193 w 872567"/>
              <a:gd name="connsiteY71" fmla="*/ 831361 h 1341854"/>
              <a:gd name="connsiteX72" fmla="*/ 871803 w 872567"/>
              <a:gd name="connsiteY72" fmla="*/ 814531 h 1341854"/>
              <a:gd name="connsiteX73" fmla="*/ 854973 w 872567"/>
              <a:gd name="connsiteY73" fmla="*/ 724774 h 1341854"/>
              <a:gd name="connsiteX74" fmla="*/ 838144 w 872567"/>
              <a:gd name="connsiteY74" fmla="*/ 713555 h 1341854"/>
              <a:gd name="connsiteX75" fmla="*/ 821314 w 872567"/>
              <a:gd name="connsiteY75" fmla="*/ 674286 h 1341854"/>
              <a:gd name="connsiteX76" fmla="*/ 815704 w 872567"/>
              <a:gd name="connsiteY76" fmla="*/ 651847 h 1341854"/>
              <a:gd name="connsiteX77" fmla="*/ 804485 w 872567"/>
              <a:gd name="connsiteY77" fmla="*/ 618188 h 1341854"/>
              <a:gd name="connsiteX78" fmla="*/ 787655 w 872567"/>
              <a:gd name="connsiteY78" fmla="*/ 567699 h 1341854"/>
              <a:gd name="connsiteX79" fmla="*/ 770826 w 872567"/>
              <a:gd name="connsiteY79" fmla="*/ 517211 h 1341854"/>
              <a:gd name="connsiteX80" fmla="*/ 765216 w 872567"/>
              <a:gd name="connsiteY80" fmla="*/ 500382 h 1341854"/>
              <a:gd name="connsiteX81" fmla="*/ 742777 w 872567"/>
              <a:gd name="connsiteY81" fmla="*/ 466723 h 1341854"/>
              <a:gd name="connsiteX82" fmla="*/ 737167 w 872567"/>
              <a:gd name="connsiteY82" fmla="*/ 449893 h 1341854"/>
              <a:gd name="connsiteX83" fmla="*/ 709118 w 872567"/>
              <a:gd name="connsiteY83" fmla="*/ 416234 h 1341854"/>
              <a:gd name="connsiteX84" fmla="*/ 697898 w 872567"/>
              <a:gd name="connsiteY84" fmla="*/ 399405 h 1341854"/>
              <a:gd name="connsiteX85" fmla="*/ 692289 w 872567"/>
              <a:gd name="connsiteY85" fmla="*/ 382576 h 1341854"/>
              <a:gd name="connsiteX86" fmla="*/ 681069 w 872567"/>
              <a:gd name="connsiteY86" fmla="*/ 365746 h 1341854"/>
              <a:gd name="connsiteX87" fmla="*/ 669849 w 872567"/>
              <a:gd name="connsiteY87" fmla="*/ 326477 h 1341854"/>
              <a:gd name="connsiteX88" fmla="*/ 630581 w 872567"/>
              <a:gd name="connsiteY88" fmla="*/ 275989 h 1341854"/>
              <a:gd name="connsiteX89" fmla="*/ 619361 w 872567"/>
              <a:gd name="connsiteY89" fmla="*/ 242330 h 1341854"/>
              <a:gd name="connsiteX90" fmla="*/ 585702 w 872567"/>
              <a:gd name="connsiteY90" fmla="*/ 225501 h 1341854"/>
              <a:gd name="connsiteX91" fmla="*/ 552043 w 872567"/>
              <a:gd name="connsiteY91" fmla="*/ 208671 h 1341854"/>
              <a:gd name="connsiteX92" fmla="*/ 451066 w 872567"/>
              <a:gd name="connsiteY92" fmla="*/ 214281 h 1341854"/>
              <a:gd name="connsiteX93" fmla="*/ 428627 w 872567"/>
              <a:gd name="connsiteY93" fmla="*/ 242330 h 1341854"/>
              <a:gd name="connsiteX94" fmla="*/ 411798 w 872567"/>
              <a:gd name="connsiteY94" fmla="*/ 247940 h 1341854"/>
              <a:gd name="connsiteX95" fmla="*/ 394968 w 872567"/>
              <a:gd name="connsiteY95" fmla="*/ 236720 h 1341854"/>
              <a:gd name="connsiteX96" fmla="*/ 389358 w 872567"/>
              <a:gd name="connsiteY96" fmla="*/ 219891 h 1341854"/>
              <a:gd name="connsiteX97" fmla="*/ 400578 w 872567"/>
              <a:gd name="connsiteY97" fmla="*/ 152573 h 1341854"/>
              <a:gd name="connsiteX98" fmla="*/ 394968 w 872567"/>
              <a:gd name="connsiteY98" fmla="*/ 68426 h 1341854"/>
              <a:gd name="connsiteX99" fmla="*/ 389358 w 872567"/>
              <a:gd name="connsiteY99" fmla="*/ 51596 h 1341854"/>
              <a:gd name="connsiteX100" fmla="*/ 372529 w 872567"/>
              <a:gd name="connsiteY100" fmla="*/ 40377 h 1341854"/>
              <a:gd name="connsiteX101" fmla="*/ 338870 w 872567"/>
              <a:gd name="connsiteY101" fmla="*/ 34767 h 1341854"/>
              <a:gd name="connsiteX102" fmla="*/ 322041 w 872567"/>
              <a:gd name="connsiteY102" fmla="*/ 29157 h 1341854"/>
              <a:gd name="connsiteX103" fmla="*/ 254723 w 872567"/>
              <a:gd name="connsiteY103" fmla="*/ 17938 h 1341854"/>
              <a:gd name="connsiteX104" fmla="*/ 237893 w 872567"/>
              <a:gd name="connsiteY104" fmla="*/ 6718 h 1341854"/>
              <a:gd name="connsiteX105" fmla="*/ 181795 w 872567"/>
              <a:gd name="connsiteY105" fmla="*/ 1108 h 1341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872567" h="1341854">
                <a:moveTo>
                  <a:pt x="181795" y="1108"/>
                </a:moveTo>
                <a:cubicBezTo>
                  <a:pt x="175251" y="4848"/>
                  <a:pt x="193749" y="19405"/>
                  <a:pt x="198625" y="29157"/>
                </a:cubicBezTo>
                <a:cubicBezTo>
                  <a:pt x="204225" y="40357"/>
                  <a:pt x="203397" y="54778"/>
                  <a:pt x="215454" y="62816"/>
                </a:cubicBezTo>
                <a:cubicBezTo>
                  <a:pt x="221869" y="67093"/>
                  <a:pt x="230413" y="66556"/>
                  <a:pt x="237893" y="68426"/>
                </a:cubicBezTo>
                <a:lnTo>
                  <a:pt x="260333" y="135744"/>
                </a:lnTo>
                <a:cubicBezTo>
                  <a:pt x="262203" y="141354"/>
                  <a:pt x="262662" y="147653"/>
                  <a:pt x="265942" y="152573"/>
                </a:cubicBezTo>
                <a:cubicBezTo>
                  <a:pt x="280442" y="174323"/>
                  <a:pt x="275030" y="163007"/>
                  <a:pt x="282772" y="186232"/>
                </a:cubicBezTo>
                <a:cubicBezTo>
                  <a:pt x="288561" y="244115"/>
                  <a:pt x="291840" y="231727"/>
                  <a:pt x="282772" y="281599"/>
                </a:cubicBezTo>
                <a:cubicBezTo>
                  <a:pt x="279911" y="297335"/>
                  <a:pt x="277605" y="309205"/>
                  <a:pt x="265942" y="320868"/>
                </a:cubicBezTo>
                <a:cubicBezTo>
                  <a:pt x="261175" y="325635"/>
                  <a:pt x="254723" y="328347"/>
                  <a:pt x="249113" y="332087"/>
                </a:cubicBezTo>
                <a:cubicBezTo>
                  <a:pt x="228654" y="393464"/>
                  <a:pt x="261282" y="300501"/>
                  <a:pt x="232284" y="365746"/>
                </a:cubicBezTo>
                <a:cubicBezTo>
                  <a:pt x="227481" y="376553"/>
                  <a:pt x="230904" y="392845"/>
                  <a:pt x="221064" y="399405"/>
                </a:cubicBezTo>
                <a:cubicBezTo>
                  <a:pt x="197634" y="415026"/>
                  <a:pt x="209003" y="405858"/>
                  <a:pt x="187405" y="427454"/>
                </a:cubicBezTo>
                <a:cubicBezTo>
                  <a:pt x="181005" y="446654"/>
                  <a:pt x="172388" y="482343"/>
                  <a:pt x="153746" y="494772"/>
                </a:cubicBezTo>
                <a:lnTo>
                  <a:pt x="136917" y="505992"/>
                </a:lnTo>
                <a:cubicBezTo>
                  <a:pt x="122816" y="548294"/>
                  <a:pt x="143478" y="497789"/>
                  <a:pt x="114477" y="534041"/>
                </a:cubicBezTo>
                <a:cubicBezTo>
                  <a:pt x="92718" y="561240"/>
                  <a:pt x="128759" y="544240"/>
                  <a:pt x="92038" y="556480"/>
                </a:cubicBezTo>
                <a:cubicBezTo>
                  <a:pt x="88298" y="562090"/>
                  <a:pt x="85586" y="568542"/>
                  <a:pt x="80819" y="573309"/>
                </a:cubicBezTo>
                <a:cubicBezTo>
                  <a:pt x="76051" y="578077"/>
                  <a:pt x="68429" y="579455"/>
                  <a:pt x="63989" y="584529"/>
                </a:cubicBezTo>
                <a:cubicBezTo>
                  <a:pt x="55110" y="594677"/>
                  <a:pt x="54342" y="613924"/>
                  <a:pt x="41550" y="618188"/>
                </a:cubicBezTo>
                <a:lnTo>
                  <a:pt x="7891" y="629407"/>
                </a:lnTo>
                <a:cubicBezTo>
                  <a:pt x="-2155" y="659544"/>
                  <a:pt x="-3097" y="654722"/>
                  <a:pt x="7891" y="702335"/>
                </a:cubicBezTo>
                <a:cubicBezTo>
                  <a:pt x="9407" y="708905"/>
                  <a:pt x="13846" y="714953"/>
                  <a:pt x="19111" y="719165"/>
                </a:cubicBezTo>
                <a:cubicBezTo>
                  <a:pt x="23728" y="722859"/>
                  <a:pt x="30330" y="722904"/>
                  <a:pt x="35940" y="724774"/>
                </a:cubicBezTo>
                <a:cubicBezTo>
                  <a:pt x="50900" y="769653"/>
                  <a:pt x="28461" y="717296"/>
                  <a:pt x="58379" y="747214"/>
                </a:cubicBezTo>
                <a:cubicBezTo>
                  <a:pt x="62560" y="751395"/>
                  <a:pt x="61344" y="758754"/>
                  <a:pt x="63989" y="764043"/>
                </a:cubicBezTo>
                <a:cubicBezTo>
                  <a:pt x="67004" y="770074"/>
                  <a:pt x="72194" y="774842"/>
                  <a:pt x="75209" y="780873"/>
                </a:cubicBezTo>
                <a:cubicBezTo>
                  <a:pt x="84333" y="799121"/>
                  <a:pt x="75963" y="798456"/>
                  <a:pt x="92038" y="814531"/>
                </a:cubicBezTo>
                <a:cubicBezTo>
                  <a:pt x="96806" y="819299"/>
                  <a:pt x="103258" y="822011"/>
                  <a:pt x="108868" y="825751"/>
                </a:cubicBezTo>
                <a:cubicBezTo>
                  <a:pt x="136493" y="867189"/>
                  <a:pt x="120520" y="851319"/>
                  <a:pt x="153746" y="876239"/>
                </a:cubicBezTo>
                <a:cubicBezTo>
                  <a:pt x="163620" y="905860"/>
                  <a:pt x="156076" y="888151"/>
                  <a:pt x="181795" y="926728"/>
                </a:cubicBezTo>
                <a:lnTo>
                  <a:pt x="193015" y="943557"/>
                </a:lnTo>
                <a:cubicBezTo>
                  <a:pt x="194885" y="949167"/>
                  <a:pt x="197295" y="954625"/>
                  <a:pt x="198625" y="960387"/>
                </a:cubicBezTo>
                <a:cubicBezTo>
                  <a:pt x="217193" y="1040849"/>
                  <a:pt x="201894" y="992637"/>
                  <a:pt x="215454" y="1033314"/>
                </a:cubicBezTo>
                <a:cubicBezTo>
                  <a:pt x="213301" y="1046233"/>
                  <a:pt x="211138" y="1069997"/>
                  <a:pt x="204235" y="1083803"/>
                </a:cubicBezTo>
                <a:cubicBezTo>
                  <a:pt x="193790" y="1104694"/>
                  <a:pt x="191692" y="1098852"/>
                  <a:pt x="176185" y="1117461"/>
                </a:cubicBezTo>
                <a:cubicBezTo>
                  <a:pt x="171869" y="1122641"/>
                  <a:pt x="167981" y="1128261"/>
                  <a:pt x="164966" y="1134291"/>
                </a:cubicBezTo>
                <a:cubicBezTo>
                  <a:pt x="141745" y="1180735"/>
                  <a:pt x="180286" y="1119725"/>
                  <a:pt x="148136" y="1167950"/>
                </a:cubicBezTo>
                <a:cubicBezTo>
                  <a:pt x="134040" y="1210242"/>
                  <a:pt x="153053" y="1158118"/>
                  <a:pt x="131307" y="1201609"/>
                </a:cubicBezTo>
                <a:cubicBezTo>
                  <a:pt x="108080" y="1248061"/>
                  <a:pt x="146633" y="1187034"/>
                  <a:pt x="114477" y="1235268"/>
                </a:cubicBezTo>
                <a:cubicBezTo>
                  <a:pt x="105701" y="1261599"/>
                  <a:pt x="103258" y="1265011"/>
                  <a:pt x="103258" y="1302585"/>
                </a:cubicBezTo>
                <a:cubicBezTo>
                  <a:pt x="103258" y="1313959"/>
                  <a:pt x="103225" y="1326368"/>
                  <a:pt x="108868" y="1336244"/>
                </a:cubicBezTo>
                <a:cubicBezTo>
                  <a:pt x="111802" y="1341378"/>
                  <a:pt x="120087" y="1339984"/>
                  <a:pt x="125697" y="1341854"/>
                </a:cubicBezTo>
                <a:cubicBezTo>
                  <a:pt x="138787" y="1339984"/>
                  <a:pt x="152000" y="1338837"/>
                  <a:pt x="164966" y="1336244"/>
                </a:cubicBezTo>
                <a:cubicBezTo>
                  <a:pt x="170764" y="1335084"/>
                  <a:pt x="177614" y="1334815"/>
                  <a:pt x="181795" y="1330634"/>
                </a:cubicBezTo>
                <a:cubicBezTo>
                  <a:pt x="191330" y="1321099"/>
                  <a:pt x="193016" y="1304456"/>
                  <a:pt x="204235" y="1296976"/>
                </a:cubicBezTo>
                <a:lnTo>
                  <a:pt x="237893" y="1274536"/>
                </a:lnTo>
                <a:cubicBezTo>
                  <a:pt x="252858" y="1264560"/>
                  <a:pt x="259918" y="1261445"/>
                  <a:pt x="271552" y="1246487"/>
                </a:cubicBezTo>
                <a:cubicBezTo>
                  <a:pt x="318518" y="1186102"/>
                  <a:pt x="272617" y="1234203"/>
                  <a:pt x="310821" y="1195999"/>
                </a:cubicBezTo>
                <a:cubicBezTo>
                  <a:pt x="312691" y="1190389"/>
                  <a:pt x="311619" y="1182606"/>
                  <a:pt x="316431" y="1179169"/>
                </a:cubicBezTo>
                <a:cubicBezTo>
                  <a:pt x="326055" y="1172295"/>
                  <a:pt x="350090" y="1167950"/>
                  <a:pt x="350090" y="1167950"/>
                </a:cubicBezTo>
                <a:cubicBezTo>
                  <a:pt x="355700" y="1164210"/>
                  <a:pt x="360606" y="1159097"/>
                  <a:pt x="366919" y="1156730"/>
                </a:cubicBezTo>
                <a:cubicBezTo>
                  <a:pt x="375847" y="1153382"/>
                  <a:pt x="385718" y="1153432"/>
                  <a:pt x="394968" y="1151120"/>
                </a:cubicBezTo>
                <a:cubicBezTo>
                  <a:pt x="400705" y="1149686"/>
                  <a:pt x="406188" y="1147381"/>
                  <a:pt x="411798" y="1145511"/>
                </a:cubicBezTo>
                <a:cubicBezTo>
                  <a:pt x="441712" y="1100636"/>
                  <a:pt x="402451" y="1154857"/>
                  <a:pt x="439847" y="1117461"/>
                </a:cubicBezTo>
                <a:cubicBezTo>
                  <a:pt x="455922" y="1101386"/>
                  <a:pt x="447552" y="1102051"/>
                  <a:pt x="456676" y="1083803"/>
                </a:cubicBezTo>
                <a:cubicBezTo>
                  <a:pt x="459691" y="1077772"/>
                  <a:pt x="464156" y="1072583"/>
                  <a:pt x="467896" y="1066973"/>
                </a:cubicBezTo>
                <a:cubicBezTo>
                  <a:pt x="467945" y="1066528"/>
                  <a:pt x="475302" y="991978"/>
                  <a:pt x="479115" y="982826"/>
                </a:cubicBezTo>
                <a:cubicBezTo>
                  <a:pt x="484301" y="970379"/>
                  <a:pt x="488763" y="953431"/>
                  <a:pt x="501555" y="949167"/>
                </a:cubicBezTo>
                <a:cubicBezTo>
                  <a:pt x="507165" y="947297"/>
                  <a:pt x="513215" y="946429"/>
                  <a:pt x="518384" y="943557"/>
                </a:cubicBezTo>
                <a:cubicBezTo>
                  <a:pt x="530171" y="937008"/>
                  <a:pt x="539251" y="925382"/>
                  <a:pt x="552043" y="921118"/>
                </a:cubicBezTo>
                <a:lnTo>
                  <a:pt x="585702" y="909898"/>
                </a:lnTo>
                <a:lnTo>
                  <a:pt x="619361" y="898679"/>
                </a:lnTo>
                <a:lnTo>
                  <a:pt x="636190" y="893069"/>
                </a:lnTo>
                <a:cubicBezTo>
                  <a:pt x="641800" y="894939"/>
                  <a:pt x="647334" y="897055"/>
                  <a:pt x="653020" y="898679"/>
                </a:cubicBezTo>
                <a:cubicBezTo>
                  <a:pt x="676952" y="905516"/>
                  <a:pt x="677493" y="904117"/>
                  <a:pt x="703508" y="909898"/>
                </a:cubicBezTo>
                <a:cubicBezTo>
                  <a:pt x="711034" y="911571"/>
                  <a:pt x="718467" y="913638"/>
                  <a:pt x="725947" y="915508"/>
                </a:cubicBezTo>
                <a:cubicBezTo>
                  <a:pt x="755866" y="913638"/>
                  <a:pt x="785891" y="913036"/>
                  <a:pt x="815704" y="909898"/>
                </a:cubicBezTo>
                <a:cubicBezTo>
                  <a:pt x="821585" y="909279"/>
                  <a:pt x="828352" y="908469"/>
                  <a:pt x="832534" y="904288"/>
                </a:cubicBezTo>
                <a:cubicBezTo>
                  <a:pt x="836715" y="900107"/>
                  <a:pt x="835272" y="892628"/>
                  <a:pt x="838144" y="887459"/>
                </a:cubicBezTo>
                <a:cubicBezTo>
                  <a:pt x="844693" y="875672"/>
                  <a:pt x="860583" y="853800"/>
                  <a:pt x="860583" y="853800"/>
                </a:cubicBezTo>
                <a:cubicBezTo>
                  <a:pt x="862453" y="846320"/>
                  <a:pt x="864075" y="838774"/>
                  <a:pt x="866193" y="831361"/>
                </a:cubicBezTo>
                <a:cubicBezTo>
                  <a:pt x="867818" y="825675"/>
                  <a:pt x="871803" y="820444"/>
                  <a:pt x="871803" y="814531"/>
                </a:cubicBezTo>
                <a:cubicBezTo>
                  <a:pt x="871803" y="785747"/>
                  <a:pt x="878023" y="747824"/>
                  <a:pt x="854973" y="724774"/>
                </a:cubicBezTo>
                <a:cubicBezTo>
                  <a:pt x="850206" y="720007"/>
                  <a:pt x="843754" y="717295"/>
                  <a:pt x="838144" y="713555"/>
                </a:cubicBezTo>
                <a:cubicBezTo>
                  <a:pt x="822039" y="649133"/>
                  <a:pt x="844559" y="728521"/>
                  <a:pt x="821314" y="674286"/>
                </a:cubicBezTo>
                <a:cubicBezTo>
                  <a:pt x="818277" y="667200"/>
                  <a:pt x="817919" y="659232"/>
                  <a:pt x="815704" y="651847"/>
                </a:cubicBezTo>
                <a:cubicBezTo>
                  <a:pt x="812306" y="640519"/>
                  <a:pt x="808225" y="629408"/>
                  <a:pt x="804485" y="618188"/>
                </a:cubicBezTo>
                <a:lnTo>
                  <a:pt x="787655" y="567699"/>
                </a:lnTo>
                <a:lnTo>
                  <a:pt x="770826" y="517211"/>
                </a:lnTo>
                <a:cubicBezTo>
                  <a:pt x="768956" y="511601"/>
                  <a:pt x="768496" y="505302"/>
                  <a:pt x="765216" y="500382"/>
                </a:cubicBezTo>
                <a:cubicBezTo>
                  <a:pt x="757736" y="489162"/>
                  <a:pt x="747041" y="479515"/>
                  <a:pt x="742777" y="466723"/>
                </a:cubicBezTo>
                <a:cubicBezTo>
                  <a:pt x="740907" y="461113"/>
                  <a:pt x="739812" y="455182"/>
                  <a:pt x="737167" y="449893"/>
                </a:cubicBezTo>
                <a:cubicBezTo>
                  <a:pt x="726723" y="429006"/>
                  <a:pt x="724622" y="434839"/>
                  <a:pt x="709118" y="416234"/>
                </a:cubicBezTo>
                <a:cubicBezTo>
                  <a:pt x="704802" y="411055"/>
                  <a:pt x="701638" y="405015"/>
                  <a:pt x="697898" y="399405"/>
                </a:cubicBezTo>
                <a:cubicBezTo>
                  <a:pt x="696028" y="393795"/>
                  <a:pt x="694933" y="387865"/>
                  <a:pt x="692289" y="382576"/>
                </a:cubicBezTo>
                <a:cubicBezTo>
                  <a:pt x="689274" y="376545"/>
                  <a:pt x="683725" y="371943"/>
                  <a:pt x="681069" y="365746"/>
                </a:cubicBezTo>
                <a:cubicBezTo>
                  <a:pt x="675622" y="353038"/>
                  <a:pt x="676672" y="338758"/>
                  <a:pt x="669849" y="326477"/>
                </a:cubicBezTo>
                <a:cubicBezTo>
                  <a:pt x="653075" y="296285"/>
                  <a:pt x="651022" y="296431"/>
                  <a:pt x="630581" y="275989"/>
                </a:cubicBezTo>
                <a:cubicBezTo>
                  <a:pt x="626841" y="264769"/>
                  <a:pt x="629202" y="248890"/>
                  <a:pt x="619361" y="242330"/>
                </a:cubicBezTo>
                <a:cubicBezTo>
                  <a:pt x="571114" y="210168"/>
                  <a:pt x="632166" y="248734"/>
                  <a:pt x="585702" y="225501"/>
                </a:cubicBezTo>
                <a:cubicBezTo>
                  <a:pt x="542206" y="203752"/>
                  <a:pt x="594343" y="222771"/>
                  <a:pt x="552043" y="208671"/>
                </a:cubicBezTo>
                <a:cubicBezTo>
                  <a:pt x="518384" y="210541"/>
                  <a:pt x="484438" y="209513"/>
                  <a:pt x="451066" y="214281"/>
                </a:cubicBezTo>
                <a:cubicBezTo>
                  <a:pt x="422013" y="218432"/>
                  <a:pt x="442775" y="228182"/>
                  <a:pt x="428627" y="242330"/>
                </a:cubicBezTo>
                <a:cubicBezTo>
                  <a:pt x="424446" y="246511"/>
                  <a:pt x="417408" y="246070"/>
                  <a:pt x="411798" y="247940"/>
                </a:cubicBezTo>
                <a:cubicBezTo>
                  <a:pt x="406188" y="244200"/>
                  <a:pt x="399180" y="241985"/>
                  <a:pt x="394968" y="236720"/>
                </a:cubicBezTo>
                <a:cubicBezTo>
                  <a:pt x="391274" y="232103"/>
                  <a:pt x="389358" y="225804"/>
                  <a:pt x="389358" y="219891"/>
                </a:cubicBezTo>
                <a:cubicBezTo>
                  <a:pt x="389358" y="182315"/>
                  <a:pt x="391801" y="178905"/>
                  <a:pt x="400578" y="152573"/>
                </a:cubicBezTo>
                <a:cubicBezTo>
                  <a:pt x="398708" y="124524"/>
                  <a:pt x="398072" y="96365"/>
                  <a:pt x="394968" y="68426"/>
                </a:cubicBezTo>
                <a:cubicBezTo>
                  <a:pt x="394315" y="62549"/>
                  <a:pt x="393052" y="56214"/>
                  <a:pt x="389358" y="51596"/>
                </a:cubicBezTo>
                <a:cubicBezTo>
                  <a:pt x="385146" y="46331"/>
                  <a:pt x="378925" y="42509"/>
                  <a:pt x="372529" y="40377"/>
                </a:cubicBezTo>
                <a:cubicBezTo>
                  <a:pt x="361738" y="36780"/>
                  <a:pt x="350090" y="36637"/>
                  <a:pt x="338870" y="34767"/>
                </a:cubicBezTo>
                <a:cubicBezTo>
                  <a:pt x="333260" y="32897"/>
                  <a:pt x="327874" y="30129"/>
                  <a:pt x="322041" y="29157"/>
                </a:cubicBezTo>
                <a:cubicBezTo>
                  <a:pt x="246881" y="16630"/>
                  <a:pt x="294179" y="31089"/>
                  <a:pt x="254723" y="17938"/>
                </a:cubicBezTo>
                <a:cubicBezTo>
                  <a:pt x="249113" y="14198"/>
                  <a:pt x="243924" y="9733"/>
                  <a:pt x="237893" y="6718"/>
                </a:cubicBezTo>
                <a:cubicBezTo>
                  <a:pt x="232604" y="4073"/>
                  <a:pt x="188339" y="-2632"/>
                  <a:pt x="181795" y="1108"/>
                </a:cubicBezTo>
                <a:close/>
              </a:path>
            </a:pathLst>
          </a:custGeom>
          <a:solidFill>
            <a:srgbClr val="FFC0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smtClean="0"/>
              <a:t>Case 2 - MRI</a:t>
            </a:r>
          </a:p>
        </p:txBody>
      </p:sp>
      <p:sp>
        <p:nvSpPr>
          <p:cNvPr id="8" name="Content Placeholder 2"/>
          <p:cNvSpPr txBox="1">
            <a:spLocks/>
          </p:cNvSpPr>
          <p:nvPr/>
        </p:nvSpPr>
        <p:spPr bwMode="auto">
          <a:xfrm>
            <a:off x="787400" y="1295400"/>
            <a:ext cx="446405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2767" tIns="61384" rIns="122767" bIns="61384">
            <a:spAutoFit/>
          </a:bodyPr>
          <a:lstStyle>
            <a:lvl1pPr marL="342900" indent="-342900" algn="l" rtl="0" eaLnBrk="1" fontAlgn="base" hangingPunct="1">
              <a:spcBef>
                <a:spcPct val="0"/>
              </a:spcBef>
              <a:spcAft>
                <a:spcPct val="25000"/>
              </a:spcAft>
              <a:buClr>
                <a:schemeClr val="tx2"/>
              </a:buClr>
              <a:buFont typeface="Wingdings" pitchFamily="2" charset="2"/>
              <a:buChar char="§"/>
              <a:defRPr sz="2800" b="0">
                <a:solidFill>
                  <a:schemeClr val="accent1"/>
                </a:solidFill>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0"/>
              </a:spcBef>
              <a:spcAft>
                <a:spcPct val="25000"/>
              </a:spcAft>
              <a:buClr>
                <a:schemeClr val="tx2"/>
              </a:buClr>
              <a:buFont typeface="Wingdings" pitchFamily="2" charset="2"/>
              <a:buChar char="§"/>
              <a:defRPr sz="2800" b="0">
                <a:solidFill>
                  <a:schemeClr val="accent1"/>
                </a:solidFill>
                <a:latin typeface="Times New Roman" panose="02020603050405020304" pitchFamily="18" charset="0"/>
                <a:cs typeface="Times New Roman" panose="02020603050405020304" pitchFamily="18" charset="0"/>
              </a:defRPr>
            </a:lvl2pPr>
            <a:lvl3pPr marL="1143000" indent="-228600" algn="l" rtl="0" eaLnBrk="1" fontAlgn="base" hangingPunct="1">
              <a:spcBef>
                <a:spcPct val="0"/>
              </a:spcBef>
              <a:spcAft>
                <a:spcPct val="25000"/>
              </a:spcAft>
              <a:buClr>
                <a:schemeClr val="tx2"/>
              </a:buClr>
              <a:buFont typeface="Wingdings" pitchFamily="2" charset="2"/>
              <a:buChar char="§"/>
              <a:defRPr sz="2400" b="0">
                <a:solidFill>
                  <a:schemeClr val="accent1"/>
                </a:solidFill>
                <a:latin typeface="Times New Roman" panose="02020603050405020304" pitchFamily="18" charset="0"/>
                <a:cs typeface="Times New Roman" panose="02020603050405020304" pitchFamily="18" charset="0"/>
              </a:defRPr>
            </a:lvl3pPr>
            <a:lvl4pPr marL="1600200" indent="-228600" algn="l" rtl="0" eaLnBrk="1" fontAlgn="base" hangingPunct="1">
              <a:spcBef>
                <a:spcPct val="0"/>
              </a:spcBef>
              <a:spcAft>
                <a:spcPct val="25000"/>
              </a:spcAft>
              <a:buClr>
                <a:schemeClr val="tx2"/>
              </a:buClr>
              <a:buFont typeface="Wingdings" pitchFamily="2" charset="2"/>
              <a:buChar char="§"/>
              <a:defRPr sz="2000" b="0">
                <a:solidFill>
                  <a:schemeClr val="accent1"/>
                </a:solidFill>
                <a:latin typeface="Times New Roman" panose="02020603050405020304" pitchFamily="18" charset="0"/>
                <a:cs typeface="Times New Roman" panose="02020603050405020304" pitchFamily="18" charset="0"/>
              </a:defRPr>
            </a:lvl4pPr>
            <a:lvl5pPr marL="2057400" indent="-228600" algn="l" rtl="0" eaLnBrk="1" fontAlgn="base" hangingPunct="1">
              <a:spcBef>
                <a:spcPct val="0"/>
              </a:spcBef>
              <a:spcAft>
                <a:spcPct val="25000"/>
              </a:spcAft>
              <a:buClr>
                <a:schemeClr val="tx2"/>
              </a:buClr>
              <a:buFont typeface="Wingdings" pitchFamily="2" charset="2"/>
              <a:buChar char="§"/>
              <a:defRPr sz="2000" b="0">
                <a:solidFill>
                  <a:schemeClr val="accent1"/>
                </a:solidFill>
                <a:latin typeface="Times New Roman" panose="02020603050405020304" pitchFamily="18" charset="0"/>
                <a:cs typeface="Times New Roman" panose="02020603050405020304" pitchFamily="18" charset="0"/>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a:lstStyle>
          <a:p>
            <a:pPr marL="514350" indent="-514350">
              <a:buFont typeface="Wingdings" pitchFamily="2" charset="2"/>
              <a:buAutoNum type="arabicPeriod"/>
              <a:defRPr/>
            </a:pPr>
            <a:r>
              <a:rPr lang="en-US" dirty="0" smtClean="0"/>
              <a:t>In which lobe is the infarct denoted by the arrow?</a:t>
            </a:r>
          </a:p>
          <a:p>
            <a:pPr marL="514350" indent="-514350">
              <a:buFont typeface="Wingdings" pitchFamily="2" charset="2"/>
              <a:buAutoNum type="arabicPeriod"/>
              <a:defRPr/>
            </a:pPr>
            <a:r>
              <a:rPr lang="en-US" kern="0" dirty="0" smtClean="0"/>
              <a:t>What anatomic structure separates the frontal and parietal lobes?</a:t>
            </a:r>
          </a:p>
          <a:p>
            <a:pPr marL="514350" indent="-514350">
              <a:buFont typeface="Wingdings" pitchFamily="2" charset="2"/>
              <a:buAutoNum type="arabicPeriod"/>
              <a:defRPr/>
            </a:pPr>
            <a:r>
              <a:rPr lang="en-US" kern="0" dirty="0" smtClean="0"/>
              <a:t>Is this motor or sensory?</a:t>
            </a:r>
          </a:p>
          <a:p>
            <a:pPr marL="514350" indent="-514350">
              <a:buFont typeface="Wingdings" pitchFamily="2" charset="2"/>
              <a:buAutoNum type="arabicPeriod"/>
              <a:defRPr/>
            </a:pPr>
            <a:r>
              <a:rPr lang="en-US" kern="0" dirty="0" smtClean="0"/>
              <a:t>What is the hand motor knob?</a:t>
            </a:r>
          </a:p>
        </p:txBody>
      </p:sp>
      <p:pic>
        <p:nvPicPr>
          <p:cNvPr id="17412" name="Picture 3"/>
          <p:cNvPicPr>
            <a:picLocks noChangeAspect="1"/>
          </p:cNvPicPr>
          <p:nvPr/>
        </p:nvPicPr>
        <p:blipFill>
          <a:blip r:embed="rId3">
            <a:extLst>
              <a:ext uri="{28A0092B-C50C-407E-A947-70E740481C1C}">
                <a14:useLocalDpi xmlns:a14="http://schemas.microsoft.com/office/drawing/2010/main" val="0"/>
              </a:ext>
            </a:extLst>
          </a:blip>
          <a:srcRect l="15266" t="14418" r="11450" b="6192"/>
          <a:stretch>
            <a:fillRect/>
          </a:stretch>
        </p:blipFill>
        <p:spPr bwMode="auto">
          <a:xfrm>
            <a:off x="5105400" y="1627188"/>
            <a:ext cx="358775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Straight Arrow Connector 14"/>
          <p:cNvCxnSpPr/>
          <p:nvPr/>
        </p:nvCxnSpPr>
        <p:spPr>
          <a:xfrm>
            <a:off x="6946900" y="3390900"/>
            <a:ext cx="407988" cy="358775"/>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7414" name="Picture 6"/>
          <p:cNvPicPr>
            <a:picLocks noChangeAspect="1"/>
          </p:cNvPicPr>
          <p:nvPr/>
        </p:nvPicPr>
        <p:blipFill>
          <a:blip r:embed="rId4">
            <a:extLst>
              <a:ext uri="{28A0092B-C50C-407E-A947-70E740481C1C}">
                <a14:useLocalDpi xmlns:a14="http://schemas.microsoft.com/office/drawing/2010/main" val="0"/>
              </a:ext>
            </a:extLst>
          </a:blip>
          <a:srcRect l="14407" t="12675" r="15767" b="6197"/>
          <a:stretch>
            <a:fillRect/>
          </a:stretch>
        </p:blipFill>
        <p:spPr bwMode="auto">
          <a:xfrm>
            <a:off x="8688388" y="1838325"/>
            <a:ext cx="2984500" cy="346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Arrow Connector 10"/>
          <p:cNvCxnSpPr/>
          <p:nvPr/>
        </p:nvCxnSpPr>
        <p:spPr>
          <a:xfrm>
            <a:off x="10088563" y="3570288"/>
            <a:ext cx="600075" cy="236537"/>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416" name="Rectangle 2"/>
          <p:cNvSpPr>
            <a:spLocks noChangeArrowheads="1"/>
          </p:cNvSpPr>
          <p:nvPr/>
        </p:nvSpPr>
        <p:spPr bwMode="auto">
          <a:xfrm>
            <a:off x="5494338" y="5329238"/>
            <a:ext cx="2809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Diffusion weighted image</a:t>
            </a:r>
          </a:p>
        </p:txBody>
      </p:sp>
      <p:sp>
        <p:nvSpPr>
          <p:cNvPr id="17417" name="Rectangle 12"/>
          <p:cNvSpPr>
            <a:spLocks noChangeArrowheads="1"/>
          </p:cNvSpPr>
          <p:nvPr/>
        </p:nvSpPr>
        <p:spPr bwMode="auto">
          <a:xfrm>
            <a:off x="9023350" y="5353050"/>
            <a:ext cx="24733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Apparent diffusion </a:t>
            </a:r>
          </a:p>
          <a:p>
            <a:pPr>
              <a:spcAft>
                <a:spcPct val="0"/>
              </a:spcAft>
              <a:buClrTx/>
              <a:buFontTx/>
              <a:buNone/>
            </a:pPr>
            <a:r>
              <a:rPr lang="en-US" altLang="en-US" sz="1800"/>
              <a:t>coefficient (ADC) map</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smtClean="0"/>
              <a:t>Case 2: Answers</a:t>
            </a:r>
          </a:p>
        </p:txBody>
      </p:sp>
      <p:pic>
        <p:nvPicPr>
          <p:cNvPr id="19459" name="Picture 3"/>
          <p:cNvPicPr>
            <a:picLocks noChangeAspect="1"/>
          </p:cNvPicPr>
          <p:nvPr/>
        </p:nvPicPr>
        <p:blipFill>
          <a:blip r:embed="rId3">
            <a:extLst>
              <a:ext uri="{28A0092B-C50C-407E-A947-70E740481C1C}">
                <a14:useLocalDpi xmlns:a14="http://schemas.microsoft.com/office/drawing/2010/main" val="0"/>
              </a:ext>
            </a:extLst>
          </a:blip>
          <a:srcRect l="15625" t="10883" r="15625" b="6252"/>
          <a:stretch>
            <a:fillRect/>
          </a:stretch>
        </p:blipFill>
        <p:spPr bwMode="auto">
          <a:xfrm>
            <a:off x="5638800" y="1371600"/>
            <a:ext cx="4151313" cy="500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6"/>
          <p:cNvSpPr/>
          <p:nvPr/>
        </p:nvSpPr>
        <p:spPr>
          <a:xfrm>
            <a:off x="7494588" y="4933950"/>
            <a:ext cx="655637" cy="179388"/>
          </a:xfrm>
          <a:custGeom>
            <a:avLst/>
            <a:gdLst>
              <a:gd name="connsiteX0" fmla="*/ 297416 w 655556"/>
              <a:gd name="connsiteY0" fmla="*/ 19050 h 179070"/>
              <a:gd name="connsiteX1" fmla="*/ 266936 w 655556"/>
              <a:gd name="connsiteY1" fmla="*/ 30480 h 179070"/>
              <a:gd name="connsiteX2" fmla="*/ 232646 w 655556"/>
              <a:gd name="connsiteY2" fmla="*/ 38100 h 179070"/>
              <a:gd name="connsiteX3" fmla="*/ 209786 w 655556"/>
              <a:gd name="connsiteY3" fmla="*/ 41910 h 179070"/>
              <a:gd name="connsiteX4" fmla="*/ 194546 w 655556"/>
              <a:gd name="connsiteY4" fmla="*/ 45720 h 179070"/>
              <a:gd name="connsiteX5" fmla="*/ 114536 w 655556"/>
              <a:gd name="connsiteY5" fmla="*/ 49530 h 179070"/>
              <a:gd name="connsiteX6" fmla="*/ 95486 w 655556"/>
              <a:gd name="connsiteY6" fmla="*/ 45720 h 179070"/>
              <a:gd name="connsiteX7" fmla="*/ 72626 w 655556"/>
              <a:gd name="connsiteY7" fmla="*/ 38100 h 179070"/>
              <a:gd name="connsiteX8" fmla="*/ 61196 w 655556"/>
              <a:gd name="connsiteY8" fmla="*/ 26670 h 179070"/>
              <a:gd name="connsiteX9" fmla="*/ 49766 w 655556"/>
              <a:gd name="connsiteY9" fmla="*/ 22860 h 179070"/>
              <a:gd name="connsiteX10" fmla="*/ 42146 w 655556"/>
              <a:gd name="connsiteY10" fmla="*/ 11430 h 179070"/>
              <a:gd name="connsiteX11" fmla="*/ 19286 w 655556"/>
              <a:gd name="connsiteY11" fmla="*/ 0 h 179070"/>
              <a:gd name="connsiteX12" fmla="*/ 236 w 655556"/>
              <a:gd name="connsiteY12" fmla="*/ 15240 h 179070"/>
              <a:gd name="connsiteX13" fmla="*/ 11666 w 655556"/>
              <a:gd name="connsiteY13" fmla="*/ 41910 h 179070"/>
              <a:gd name="connsiteX14" fmla="*/ 15476 w 655556"/>
              <a:gd name="connsiteY14" fmla="*/ 53340 h 179070"/>
              <a:gd name="connsiteX15" fmla="*/ 23096 w 655556"/>
              <a:gd name="connsiteY15" fmla="*/ 64770 h 179070"/>
              <a:gd name="connsiteX16" fmla="*/ 26906 w 655556"/>
              <a:gd name="connsiteY16" fmla="*/ 76200 h 179070"/>
              <a:gd name="connsiteX17" fmla="*/ 34526 w 655556"/>
              <a:gd name="connsiteY17" fmla="*/ 87630 h 179070"/>
              <a:gd name="connsiteX18" fmla="*/ 38336 w 655556"/>
              <a:gd name="connsiteY18" fmla="*/ 99060 h 179070"/>
              <a:gd name="connsiteX19" fmla="*/ 49766 w 655556"/>
              <a:gd name="connsiteY19" fmla="*/ 102870 h 179070"/>
              <a:gd name="connsiteX20" fmla="*/ 61196 w 655556"/>
              <a:gd name="connsiteY20" fmla="*/ 110490 h 179070"/>
              <a:gd name="connsiteX21" fmla="*/ 282176 w 655556"/>
              <a:gd name="connsiteY21" fmla="*/ 114300 h 179070"/>
              <a:gd name="connsiteX22" fmla="*/ 305036 w 655556"/>
              <a:gd name="connsiteY22" fmla="*/ 121920 h 179070"/>
              <a:gd name="connsiteX23" fmla="*/ 316466 w 655556"/>
              <a:gd name="connsiteY23" fmla="*/ 125730 h 179070"/>
              <a:gd name="connsiteX24" fmla="*/ 327896 w 655556"/>
              <a:gd name="connsiteY24" fmla="*/ 137160 h 179070"/>
              <a:gd name="connsiteX25" fmla="*/ 339326 w 655556"/>
              <a:gd name="connsiteY25" fmla="*/ 140970 h 179070"/>
              <a:gd name="connsiteX26" fmla="*/ 350756 w 655556"/>
              <a:gd name="connsiteY26" fmla="*/ 148590 h 179070"/>
              <a:gd name="connsiteX27" fmla="*/ 362186 w 655556"/>
              <a:gd name="connsiteY27" fmla="*/ 152400 h 179070"/>
              <a:gd name="connsiteX28" fmla="*/ 373616 w 655556"/>
              <a:gd name="connsiteY28" fmla="*/ 160020 h 179070"/>
              <a:gd name="connsiteX29" fmla="*/ 396476 w 655556"/>
              <a:gd name="connsiteY29" fmla="*/ 167640 h 179070"/>
              <a:gd name="connsiteX30" fmla="*/ 423146 w 655556"/>
              <a:gd name="connsiteY30" fmla="*/ 175260 h 179070"/>
              <a:gd name="connsiteX31" fmla="*/ 446006 w 655556"/>
              <a:gd name="connsiteY31" fmla="*/ 179070 h 179070"/>
              <a:gd name="connsiteX32" fmla="*/ 541256 w 655556"/>
              <a:gd name="connsiteY32" fmla="*/ 175260 h 179070"/>
              <a:gd name="connsiteX33" fmla="*/ 575546 w 655556"/>
              <a:gd name="connsiteY33" fmla="*/ 163830 h 179070"/>
              <a:gd name="connsiteX34" fmla="*/ 602216 w 655556"/>
              <a:gd name="connsiteY34" fmla="*/ 160020 h 179070"/>
              <a:gd name="connsiteX35" fmla="*/ 613646 w 655556"/>
              <a:gd name="connsiteY35" fmla="*/ 156210 h 179070"/>
              <a:gd name="connsiteX36" fmla="*/ 647936 w 655556"/>
              <a:gd name="connsiteY36" fmla="*/ 129540 h 179070"/>
              <a:gd name="connsiteX37" fmla="*/ 651746 w 655556"/>
              <a:gd name="connsiteY37" fmla="*/ 87630 h 179070"/>
              <a:gd name="connsiteX38" fmla="*/ 655556 w 655556"/>
              <a:gd name="connsiteY38" fmla="*/ 76200 h 179070"/>
              <a:gd name="connsiteX39" fmla="*/ 651746 w 655556"/>
              <a:gd name="connsiteY39" fmla="*/ 22860 h 179070"/>
              <a:gd name="connsiteX40" fmla="*/ 632696 w 655556"/>
              <a:gd name="connsiteY40" fmla="*/ 80010 h 179070"/>
              <a:gd name="connsiteX41" fmla="*/ 628886 w 655556"/>
              <a:gd name="connsiteY41" fmla="*/ 91440 h 179070"/>
              <a:gd name="connsiteX42" fmla="*/ 606026 w 655556"/>
              <a:gd name="connsiteY42" fmla="*/ 102870 h 179070"/>
              <a:gd name="connsiteX43" fmla="*/ 579356 w 655556"/>
              <a:gd name="connsiteY43" fmla="*/ 110490 h 179070"/>
              <a:gd name="connsiteX44" fmla="*/ 556496 w 655556"/>
              <a:gd name="connsiteY44" fmla="*/ 118110 h 179070"/>
              <a:gd name="connsiteX45" fmla="*/ 545066 w 655556"/>
              <a:gd name="connsiteY45" fmla="*/ 125730 h 179070"/>
              <a:gd name="connsiteX46" fmla="*/ 495536 w 655556"/>
              <a:gd name="connsiteY46" fmla="*/ 137160 h 179070"/>
              <a:gd name="connsiteX47" fmla="*/ 426956 w 655556"/>
              <a:gd name="connsiteY47" fmla="*/ 133350 h 179070"/>
              <a:gd name="connsiteX48" fmla="*/ 400286 w 655556"/>
              <a:gd name="connsiteY48" fmla="*/ 125730 h 179070"/>
              <a:gd name="connsiteX49" fmla="*/ 385046 w 655556"/>
              <a:gd name="connsiteY49" fmla="*/ 102870 h 179070"/>
              <a:gd name="connsiteX50" fmla="*/ 377426 w 655556"/>
              <a:gd name="connsiteY50" fmla="*/ 91440 h 179070"/>
              <a:gd name="connsiteX51" fmla="*/ 373616 w 655556"/>
              <a:gd name="connsiteY51" fmla="*/ 80010 h 179070"/>
              <a:gd name="connsiteX52" fmla="*/ 346946 w 655556"/>
              <a:gd name="connsiteY52" fmla="*/ 45720 h 179070"/>
              <a:gd name="connsiteX53" fmla="*/ 324086 w 655556"/>
              <a:gd name="connsiteY53" fmla="*/ 34290 h 179070"/>
              <a:gd name="connsiteX54" fmla="*/ 297416 w 655556"/>
              <a:gd name="connsiteY54" fmla="*/ 19050 h 17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55556" h="179070">
                <a:moveTo>
                  <a:pt x="297416" y="19050"/>
                </a:moveTo>
                <a:cubicBezTo>
                  <a:pt x="287891" y="18415"/>
                  <a:pt x="277388" y="27494"/>
                  <a:pt x="266936" y="30480"/>
                </a:cubicBezTo>
                <a:cubicBezTo>
                  <a:pt x="256234" y="33538"/>
                  <a:pt x="243449" y="36136"/>
                  <a:pt x="232646" y="38100"/>
                </a:cubicBezTo>
                <a:cubicBezTo>
                  <a:pt x="225045" y="39482"/>
                  <a:pt x="217361" y="40395"/>
                  <a:pt x="209786" y="41910"/>
                </a:cubicBezTo>
                <a:cubicBezTo>
                  <a:pt x="204651" y="42937"/>
                  <a:pt x="199766" y="45302"/>
                  <a:pt x="194546" y="45720"/>
                </a:cubicBezTo>
                <a:cubicBezTo>
                  <a:pt x="167931" y="47849"/>
                  <a:pt x="141206" y="48260"/>
                  <a:pt x="114536" y="49530"/>
                </a:cubicBezTo>
                <a:cubicBezTo>
                  <a:pt x="108186" y="48260"/>
                  <a:pt x="101734" y="47424"/>
                  <a:pt x="95486" y="45720"/>
                </a:cubicBezTo>
                <a:cubicBezTo>
                  <a:pt x="87737" y="43607"/>
                  <a:pt x="72626" y="38100"/>
                  <a:pt x="72626" y="38100"/>
                </a:cubicBezTo>
                <a:cubicBezTo>
                  <a:pt x="68816" y="34290"/>
                  <a:pt x="65679" y="29659"/>
                  <a:pt x="61196" y="26670"/>
                </a:cubicBezTo>
                <a:cubicBezTo>
                  <a:pt x="57854" y="24442"/>
                  <a:pt x="52902" y="25369"/>
                  <a:pt x="49766" y="22860"/>
                </a:cubicBezTo>
                <a:cubicBezTo>
                  <a:pt x="46190" y="19999"/>
                  <a:pt x="45384" y="14668"/>
                  <a:pt x="42146" y="11430"/>
                </a:cubicBezTo>
                <a:cubicBezTo>
                  <a:pt x="34760" y="4044"/>
                  <a:pt x="28582" y="3099"/>
                  <a:pt x="19286" y="0"/>
                </a:cubicBezTo>
                <a:cubicBezTo>
                  <a:pt x="10637" y="2883"/>
                  <a:pt x="1959" y="3177"/>
                  <a:pt x="236" y="15240"/>
                </a:cubicBezTo>
                <a:cubicBezTo>
                  <a:pt x="-1526" y="27575"/>
                  <a:pt x="6985" y="32548"/>
                  <a:pt x="11666" y="41910"/>
                </a:cubicBezTo>
                <a:cubicBezTo>
                  <a:pt x="13462" y="45502"/>
                  <a:pt x="13680" y="49748"/>
                  <a:pt x="15476" y="53340"/>
                </a:cubicBezTo>
                <a:cubicBezTo>
                  <a:pt x="17524" y="57436"/>
                  <a:pt x="21048" y="60674"/>
                  <a:pt x="23096" y="64770"/>
                </a:cubicBezTo>
                <a:cubicBezTo>
                  <a:pt x="24892" y="68362"/>
                  <a:pt x="25110" y="72608"/>
                  <a:pt x="26906" y="76200"/>
                </a:cubicBezTo>
                <a:cubicBezTo>
                  <a:pt x="28954" y="80296"/>
                  <a:pt x="32478" y="83534"/>
                  <a:pt x="34526" y="87630"/>
                </a:cubicBezTo>
                <a:cubicBezTo>
                  <a:pt x="36322" y="91222"/>
                  <a:pt x="35496" y="96220"/>
                  <a:pt x="38336" y="99060"/>
                </a:cubicBezTo>
                <a:cubicBezTo>
                  <a:pt x="41176" y="101900"/>
                  <a:pt x="46174" y="101074"/>
                  <a:pt x="49766" y="102870"/>
                </a:cubicBezTo>
                <a:cubicBezTo>
                  <a:pt x="53862" y="104918"/>
                  <a:pt x="56622" y="110265"/>
                  <a:pt x="61196" y="110490"/>
                </a:cubicBezTo>
                <a:cubicBezTo>
                  <a:pt x="134778" y="114109"/>
                  <a:pt x="208516" y="113030"/>
                  <a:pt x="282176" y="114300"/>
                </a:cubicBezTo>
                <a:lnTo>
                  <a:pt x="305036" y="121920"/>
                </a:lnTo>
                <a:lnTo>
                  <a:pt x="316466" y="125730"/>
                </a:lnTo>
                <a:cubicBezTo>
                  <a:pt x="320276" y="129540"/>
                  <a:pt x="323413" y="134171"/>
                  <a:pt x="327896" y="137160"/>
                </a:cubicBezTo>
                <a:cubicBezTo>
                  <a:pt x="331238" y="139388"/>
                  <a:pt x="335734" y="139174"/>
                  <a:pt x="339326" y="140970"/>
                </a:cubicBezTo>
                <a:cubicBezTo>
                  <a:pt x="343422" y="143018"/>
                  <a:pt x="346660" y="146542"/>
                  <a:pt x="350756" y="148590"/>
                </a:cubicBezTo>
                <a:cubicBezTo>
                  <a:pt x="354348" y="150386"/>
                  <a:pt x="358594" y="150604"/>
                  <a:pt x="362186" y="152400"/>
                </a:cubicBezTo>
                <a:cubicBezTo>
                  <a:pt x="366282" y="154448"/>
                  <a:pt x="369432" y="158160"/>
                  <a:pt x="373616" y="160020"/>
                </a:cubicBezTo>
                <a:cubicBezTo>
                  <a:pt x="380956" y="163282"/>
                  <a:pt x="388856" y="165100"/>
                  <a:pt x="396476" y="167640"/>
                </a:cubicBezTo>
                <a:cubicBezTo>
                  <a:pt x="407370" y="171271"/>
                  <a:pt x="411186" y="172868"/>
                  <a:pt x="423146" y="175260"/>
                </a:cubicBezTo>
                <a:cubicBezTo>
                  <a:pt x="430721" y="176775"/>
                  <a:pt x="438386" y="177800"/>
                  <a:pt x="446006" y="179070"/>
                </a:cubicBezTo>
                <a:cubicBezTo>
                  <a:pt x="477756" y="177800"/>
                  <a:pt x="509628" y="178321"/>
                  <a:pt x="541256" y="175260"/>
                </a:cubicBezTo>
                <a:cubicBezTo>
                  <a:pt x="588500" y="170688"/>
                  <a:pt x="546209" y="168021"/>
                  <a:pt x="575546" y="163830"/>
                </a:cubicBezTo>
                <a:lnTo>
                  <a:pt x="602216" y="160020"/>
                </a:lnTo>
                <a:cubicBezTo>
                  <a:pt x="606026" y="158750"/>
                  <a:pt x="610135" y="158160"/>
                  <a:pt x="613646" y="156210"/>
                </a:cubicBezTo>
                <a:cubicBezTo>
                  <a:pt x="634153" y="144817"/>
                  <a:pt x="634052" y="143424"/>
                  <a:pt x="647936" y="129540"/>
                </a:cubicBezTo>
                <a:cubicBezTo>
                  <a:pt x="649206" y="115570"/>
                  <a:pt x="649762" y="101517"/>
                  <a:pt x="651746" y="87630"/>
                </a:cubicBezTo>
                <a:cubicBezTo>
                  <a:pt x="652314" y="83654"/>
                  <a:pt x="655556" y="80216"/>
                  <a:pt x="655556" y="76200"/>
                </a:cubicBezTo>
                <a:cubicBezTo>
                  <a:pt x="655556" y="58375"/>
                  <a:pt x="653016" y="40640"/>
                  <a:pt x="651746" y="22860"/>
                </a:cubicBezTo>
                <a:lnTo>
                  <a:pt x="632696" y="80010"/>
                </a:lnTo>
                <a:cubicBezTo>
                  <a:pt x="631426" y="83820"/>
                  <a:pt x="632696" y="90170"/>
                  <a:pt x="628886" y="91440"/>
                </a:cubicBezTo>
                <a:cubicBezTo>
                  <a:pt x="600156" y="101017"/>
                  <a:pt x="635569" y="88098"/>
                  <a:pt x="606026" y="102870"/>
                </a:cubicBezTo>
                <a:cubicBezTo>
                  <a:pt x="599624" y="106071"/>
                  <a:pt x="585460" y="108659"/>
                  <a:pt x="579356" y="110490"/>
                </a:cubicBezTo>
                <a:cubicBezTo>
                  <a:pt x="571663" y="112798"/>
                  <a:pt x="563179" y="113655"/>
                  <a:pt x="556496" y="118110"/>
                </a:cubicBezTo>
                <a:cubicBezTo>
                  <a:pt x="552686" y="120650"/>
                  <a:pt x="549250" y="123870"/>
                  <a:pt x="545066" y="125730"/>
                </a:cubicBezTo>
                <a:cubicBezTo>
                  <a:pt x="525247" y="134538"/>
                  <a:pt x="517232" y="134061"/>
                  <a:pt x="495536" y="137160"/>
                </a:cubicBezTo>
                <a:cubicBezTo>
                  <a:pt x="472676" y="135890"/>
                  <a:pt x="449757" y="135423"/>
                  <a:pt x="426956" y="133350"/>
                </a:cubicBezTo>
                <a:cubicBezTo>
                  <a:pt x="420378" y="132752"/>
                  <a:pt x="407052" y="127985"/>
                  <a:pt x="400286" y="125730"/>
                </a:cubicBezTo>
                <a:lnTo>
                  <a:pt x="385046" y="102870"/>
                </a:lnTo>
                <a:cubicBezTo>
                  <a:pt x="382506" y="99060"/>
                  <a:pt x="378874" y="95784"/>
                  <a:pt x="377426" y="91440"/>
                </a:cubicBezTo>
                <a:cubicBezTo>
                  <a:pt x="376156" y="87630"/>
                  <a:pt x="375566" y="83521"/>
                  <a:pt x="373616" y="80010"/>
                </a:cubicBezTo>
                <a:cubicBezTo>
                  <a:pt x="366292" y="66826"/>
                  <a:pt x="358436" y="55295"/>
                  <a:pt x="346946" y="45720"/>
                </a:cubicBezTo>
                <a:cubicBezTo>
                  <a:pt x="330568" y="32071"/>
                  <a:pt x="341269" y="42882"/>
                  <a:pt x="324086" y="34290"/>
                </a:cubicBezTo>
                <a:cubicBezTo>
                  <a:pt x="303210" y="23852"/>
                  <a:pt x="306941" y="19685"/>
                  <a:pt x="297416" y="19050"/>
                </a:cubicBezTo>
                <a:close/>
              </a:path>
            </a:pathLst>
          </a:custGeom>
          <a:solidFill>
            <a:srgbClr val="92D05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12" name="Group 11"/>
          <p:cNvGrpSpPr>
            <a:grpSpLocks/>
          </p:cNvGrpSpPr>
          <p:nvPr/>
        </p:nvGrpSpPr>
        <p:grpSpPr bwMode="auto">
          <a:xfrm>
            <a:off x="6372225" y="4019550"/>
            <a:ext cx="2705100" cy="731838"/>
            <a:chOff x="1943100" y="4110968"/>
            <a:chExt cx="2705100" cy="731542"/>
          </a:xfrm>
        </p:grpSpPr>
        <p:sp>
          <p:nvSpPr>
            <p:cNvPr id="8" name="Freeform 7"/>
            <p:cNvSpPr/>
            <p:nvPr/>
          </p:nvSpPr>
          <p:spPr>
            <a:xfrm>
              <a:off x="1943100" y="4323607"/>
              <a:ext cx="1203325" cy="507795"/>
            </a:xfrm>
            <a:custGeom>
              <a:avLst/>
              <a:gdLst>
                <a:gd name="connsiteX0" fmla="*/ 1203960 w 1203960"/>
                <a:gd name="connsiteY0" fmla="*/ 499110 h 506730"/>
                <a:gd name="connsiteX1" fmla="*/ 1173480 w 1203960"/>
                <a:gd name="connsiteY1" fmla="*/ 491490 h 506730"/>
                <a:gd name="connsiteX2" fmla="*/ 1162050 w 1203960"/>
                <a:gd name="connsiteY2" fmla="*/ 483870 h 506730"/>
                <a:gd name="connsiteX3" fmla="*/ 1143000 w 1203960"/>
                <a:gd name="connsiteY3" fmla="*/ 449580 h 506730"/>
                <a:gd name="connsiteX4" fmla="*/ 1131570 w 1203960"/>
                <a:gd name="connsiteY4" fmla="*/ 445770 h 506730"/>
                <a:gd name="connsiteX5" fmla="*/ 1089660 w 1203960"/>
                <a:gd name="connsiteY5" fmla="*/ 426720 h 506730"/>
                <a:gd name="connsiteX6" fmla="*/ 1036320 w 1203960"/>
                <a:gd name="connsiteY6" fmla="*/ 430530 h 506730"/>
                <a:gd name="connsiteX7" fmla="*/ 1013460 w 1203960"/>
                <a:gd name="connsiteY7" fmla="*/ 438150 h 506730"/>
                <a:gd name="connsiteX8" fmla="*/ 982980 w 1203960"/>
                <a:gd name="connsiteY8" fmla="*/ 457200 h 506730"/>
                <a:gd name="connsiteX9" fmla="*/ 971550 w 1203960"/>
                <a:gd name="connsiteY9" fmla="*/ 461010 h 506730"/>
                <a:gd name="connsiteX10" fmla="*/ 929640 w 1203960"/>
                <a:gd name="connsiteY10" fmla="*/ 453390 h 506730"/>
                <a:gd name="connsiteX11" fmla="*/ 918210 w 1203960"/>
                <a:gd name="connsiteY11" fmla="*/ 441960 h 506730"/>
                <a:gd name="connsiteX12" fmla="*/ 906780 w 1203960"/>
                <a:gd name="connsiteY12" fmla="*/ 438150 h 506730"/>
                <a:gd name="connsiteX13" fmla="*/ 895350 w 1203960"/>
                <a:gd name="connsiteY13" fmla="*/ 430530 h 506730"/>
                <a:gd name="connsiteX14" fmla="*/ 883920 w 1203960"/>
                <a:gd name="connsiteY14" fmla="*/ 426720 h 506730"/>
                <a:gd name="connsiteX15" fmla="*/ 872490 w 1203960"/>
                <a:gd name="connsiteY15" fmla="*/ 419100 h 506730"/>
                <a:gd name="connsiteX16" fmla="*/ 861060 w 1203960"/>
                <a:gd name="connsiteY16" fmla="*/ 415290 h 506730"/>
                <a:gd name="connsiteX17" fmla="*/ 838200 w 1203960"/>
                <a:gd name="connsiteY17" fmla="*/ 400050 h 506730"/>
                <a:gd name="connsiteX18" fmla="*/ 826770 w 1203960"/>
                <a:gd name="connsiteY18" fmla="*/ 392430 h 506730"/>
                <a:gd name="connsiteX19" fmla="*/ 819150 w 1203960"/>
                <a:gd name="connsiteY19" fmla="*/ 381000 h 506730"/>
                <a:gd name="connsiteX20" fmla="*/ 800100 w 1203960"/>
                <a:gd name="connsiteY20" fmla="*/ 377190 h 506730"/>
                <a:gd name="connsiteX21" fmla="*/ 742950 w 1203960"/>
                <a:gd name="connsiteY21" fmla="*/ 373380 h 506730"/>
                <a:gd name="connsiteX22" fmla="*/ 723900 w 1203960"/>
                <a:gd name="connsiteY22" fmla="*/ 358140 h 506730"/>
                <a:gd name="connsiteX23" fmla="*/ 670560 w 1203960"/>
                <a:gd name="connsiteY23" fmla="*/ 346710 h 506730"/>
                <a:gd name="connsiteX24" fmla="*/ 628650 w 1203960"/>
                <a:gd name="connsiteY24" fmla="*/ 354330 h 506730"/>
                <a:gd name="connsiteX25" fmla="*/ 617220 w 1203960"/>
                <a:gd name="connsiteY25" fmla="*/ 361950 h 506730"/>
                <a:gd name="connsiteX26" fmla="*/ 613410 w 1203960"/>
                <a:gd name="connsiteY26" fmla="*/ 373380 h 506730"/>
                <a:gd name="connsiteX27" fmla="*/ 598170 w 1203960"/>
                <a:gd name="connsiteY27" fmla="*/ 396240 h 506730"/>
                <a:gd name="connsiteX28" fmla="*/ 582930 w 1203960"/>
                <a:gd name="connsiteY28" fmla="*/ 430530 h 506730"/>
                <a:gd name="connsiteX29" fmla="*/ 571500 w 1203960"/>
                <a:gd name="connsiteY29" fmla="*/ 441960 h 506730"/>
                <a:gd name="connsiteX30" fmla="*/ 560070 w 1203960"/>
                <a:gd name="connsiteY30" fmla="*/ 445770 h 506730"/>
                <a:gd name="connsiteX31" fmla="*/ 548640 w 1203960"/>
                <a:gd name="connsiteY31" fmla="*/ 453390 h 506730"/>
                <a:gd name="connsiteX32" fmla="*/ 525780 w 1203960"/>
                <a:gd name="connsiteY32" fmla="*/ 461010 h 506730"/>
                <a:gd name="connsiteX33" fmla="*/ 514350 w 1203960"/>
                <a:gd name="connsiteY33" fmla="*/ 464820 h 506730"/>
                <a:gd name="connsiteX34" fmla="*/ 495300 w 1203960"/>
                <a:gd name="connsiteY34" fmla="*/ 480060 h 506730"/>
                <a:gd name="connsiteX35" fmla="*/ 472440 w 1203960"/>
                <a:gd name="connsiteY35" fmla="*/ 495300 h 506730"/>
                <a:gd name="connsiteX36" fmla="*/ 461010 w 1203960"/>
                <a:gd name="connsiteY36" fmla="*/ 502920 h 506730"/>
                <a:gd name="connsiteX37" fmla="*/ 449580 w 1203960"/>
                <a:gd name="connsiteY37" fmla="*/ 506730 h 506730"/>
                <a:gd name="connsiteX38" fmla="*/ 354330 w 1203960"/>
                <a:gd name="connsiteY38" fmla="*/ 502920 h 506730"/>
                <a:gd name="connsiteX39" fmla="*/ 342900 w 1203960"/>
                <a:gd name="connsiteY39" fmla="*/ 499110 h 506730"/>
                <a:gd name="connsiteX40" fmla="*/ 320040 w 1203960"/>
                <a:gd name="connsiteY40" fmla="*/ 483870 h 506730"/>
                <a:gd name="connsiteX41" fmla="*/ 308610 w 1203960"/>
                <a:gd name="connsiteY41" fmla="*/ 438150 h 506730"/>
                <a:gd name="connsiteX42" fmla="*/ 293370 w 1203960"/>
                <a:gd name="connsiteY42" fmla="*/ 415290 h 506730"/>
                <a:gd name="connsiteX43" fmla="*/ 285750 w 1203960"/>
                <a:gd name="connsiteY43" fmla="*/ 392430 h 506730"/>
                <a:gd name="connsiteX44" fmla="*/ 266700 w 1203960"/>
                <a:gd name="connsiteY44" fmla="*/ 358140 h 506730"/>
                <a:gd name="connsiteX45" fmla="*/ 270510 w 1203960"/>
                <a:gd name="connsiteY45" fmla="*/ 304800 h 506730"/>
                <a:gd name="connsiteX46" fmla="*/ 278130 w 1203960"/>
                <a:gd name="connsiteY46" fmla="*/ 281940 h 506730"/>
                <a:gd name="connsiteX47" fmla="*/ 285750 w 1203960"/>
                <a:gd name="connsiteY47" fmla="*/ 255270 h 506730"/>
                <a:gd name="connsiteX48" fmla="*/ 281940 w 1203960"/>
                <a:gd name="connsiteY48" fmla="*/ 194310 h 506730"/>
                <a:gd name="connsiteX49" fmla="*/ 274320 w 1203960"/>
                <a:gd name="connsiteY49" fmla="*/ 171450 h 506730"/>
                <a:gd name="connsiteX50" fmla="*/ 240030 w 1203960"/>
                <a:gd name="connsiteY50" fmla="*/ 144780 h 506730"/>
                <a:gd name="connsiteX51" fmla="*/ 228600 w 1203960"/>
                <a:gd name="connsiteY51" fmla="*/ 137160 h 506730"/>
                <a:gd name="connsiteX52" fmla="*/ 217170 w 1203960"/>
                <a:gd name="connsiteY52" fmla="*/ 129540 h 506730"/>
                <a:gd name="connsiteX53" fmla="*/ 213360 w 1203960"/>
                <a:gd name="connsiteY53" fmla="*/ 118110 h 506730"/>
                <a:gd name="connsiteX54" fmla="*/ 198120 w 1203960"/>
                <a:gd name="connsiteY54" fmla="*/ 114300 h 506730"/>
                <a:gd name="connsiteX55" fmla="*/ 186690 w 1203960"/>
                <a:gd name="connsiteY55" fmla="*/ 106680 h 506730"/>
                <a:gd name="connsiteX56" fmla="*/ 175260 w 1203960"/>
                <a:gd name="connsiteY56" fmla="*/ 102870 h 506730"/>
                <a:gd name="connsiteX57" fmla="*/ 152400 w 1203960"/>
                <a:gd name="connsiteY57" fmla="*/ 87630 h 506730"/>
                <a:gd name="connsiteX58" fmla="*/ 140970 w 1203960"/>
                <a:gd name="connsiteY58" fmla="*/ 80010 h 506730"/>
                <a:gd name="connsiteX59" fmla="*/ 102870 w 1203960"/>
                <a:gd name="connsiteY59" fmla="*/ 64770 h 506730"/>
                <a:gd name="connsiteX60" fmla="*/ 72390 w 1203960"/>
                <a:gd name="connsiteY60" fmla="*/ 38100 h 506730"/>
                <a:gd name="connsiteX61" fmla="*/ 60960 w 1203960"/>
                <a:gd name="connsiteY61" fmla="*/ 30480 h 506730"/>
                <a:gd name="connsiteX62" fmla="*/ 49530 w 1203960"/>
                <a:gd name="connsiteY62" fmla="*/ 22860 h 506730"/>
                <a:gd name="connsiteX63" fmla="*/ 26670 w 1203960"/>
                <a:gd name="connsiteY63" fmla="*/ 15240 h 506730"/>
                <a:gd name="connsiteX64" fmla="*/ 15240 w 1203960"/>
                <a:gd name="connsiteY64" fmla="*/ 11430 h 506730"/>
                <a:gd name="connsiteX65" fmla="*/ 0 w 1203960"/>
                <a:gd name="connsiteY65" fmla="*/ 0 h 50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203960" h="506730">
                  <a:moveTo>
                    <a:pt x="1203960" y="499110"/>
                  </a:moveTo>
                  <a:cubicBezTo>
                    <a:pt x="1196714" y="497661"/>
                    <a:pt x="1181290" y="495395"/>
                    <a:pt x="1173480" y="491490"/>
                  </a:cubicBezTo>
                  <a:cubicBezTo>
                    <a:pt x="1169384" y="489442"/>
                    <a:pt x="1165860" y="486410"/>
                    <a:pt x="1162050" y="483870"/>
                  </a:cubicBezTo>
                  <a:cubicBezTo>
                    <a:pt x="1158695" y="473806"/>
                    <a:pt x="1152826" y="452855"/>
                    <a:pt x="1143000" y="449580"/>
                  </a:cubicBezTo>
                  <a:cubicBezTo>
                    <a:pt x="1139190" y="448310"/>
                    <a:pt x="1135081" y="447720"/>
                    <a:pt x="1131570" y="445770"/>
                  </a:cubicBezTo>
                  <a:cubicBezTo>
                    <a:pt x="1094494" y="425172"/>
                    <a:pt x="1123932" y="433574"/>
                    <a:pt x="1089660" y="426720"/>
                  </a:cubicBezTo>
                  <a:cubicBezTo>
                    <a:pt x="1071880" y="427990"/>
                    <a:pt x="1053948" y="427886"/>
                    <a:pt x="1036320" y="430530"/>
                  </a:cubicBezTo>
                  <a:cubicBezTo>
                    <a:pt x="1028377" y="431721"/>
                    <a:pt x="1013460" y="438150"/>
                    <a:pt x="1013460" y="438150"/>
                  </a:cubicBezTo>
                  <a:cubicBezTo>
                    <a:pt x="1001385" y="456263"/>
                    <a:pt x="1010184" y="448132"/>
                    <a:pt x="982980" y="457200"/>
                  </a:cubicBezTo>
                  <a:lnTo>
                    <a:pt x="971550" y="461010"/>
                  </a:lnTo>
                  <a:cubicBezTo>
                    <a:pt x="970258" y="460848"/>
                    <a:pt x="937772" y="458811"/>
                    <a:pt x="929640" y="453390"/>
                  </a:cubicBezTo>
                  <a:cubicBezTo>
                    <a:pt x="925157" y="450401"/>
                    <a:pt x="922693" y="444949"/>
                    <a:pt x="918210" y="441960"/>
                  </a:cubicBezTo>
                  <a:cubicBezTo>
                    <a:pt x="914868" y="439732"/>
                    <a:pt x="910372" y="439946"/>
                    <a:pt x="906780" y="438150"/>
                  </a:cubicBezTo>
                  <a:cubicBezTo>
                    <a:pt x="902684" y="436102"/>
                    <a:pt x="899446" y="432578"/>
                    <a:pt x="895350" y="430530"/>
                  </a:cubicBezTo>
                  <a:cubicBezTo>
                    <a:pt x="891758" y="428734"/>
                    <a:pt x="887512" y="428516"/>
                    <a:pt x="883920" y="426720"/>
                  </a:cubicBezTo>
                  <a:cubicBezTo>
                    <a:pt x="879824" y="424672"/>
                    <a:pt x="876586" y="421148"/>
                    <a:pt x="872490" y="419100"/>
                  </a:cubicBezTo>
                  <a:cubicBezTo>
                    <a:pt x="868898" y="417304"/>
                    <a:pt x="864571" y="417240"/>
                    <a:pt x="861060" y="415290"/>
                  </a:cubicBezTo>
                  <a:cubicBezTo>
                    <a:pt x="853054" y="410842"/>
                    <a:pt x="845820" y="405130"/>
                    <a:pt x="838200" y="400050"/>
                  </a:cubicBezTo>
                  <a:lnTo>
                    <a:pt x="826770" y="392430"/>
                  </a:lnTo>
                  <a:cubicBezTo>
                    <a:pt x="824230" y="388620"/>
                    <a:pt x="823126" y="383272"/>
                    <a:pt x="819150" y="381000"/>
                  </a:cubicBezTo>
                  <a:cubicBezTo>
                    <a:pt x="813527" y="377787"/>
                    <a:pt x="806544" y="377834"/>
                    <a:pt x="800100" y="377190"/>
                  </a:cubicBezTo>
                  <a:cubicBezTo>
                    <a:pt x="781102" y="375290"/>
                    <a:pt x="762000" y="374650"/>
                    <a:pt x="742950" y="373380"/>
                  </a:cubicBezTo>
                  <a:cubicBezTo>
                    <a:pt x="701265" y="359485"/>
                    <a:pt x="763291" y="382759"/>
                    <a:pt x="723900" y="358140"/>
                  </a:cubicBezTo>
                  <a:cubicBezTo>
                    <a:pt x="710328" y="349657"/>
                    <a:pt x="684788" y="348489"/>
                    <a:pt x="670560" y="346710"/>
                  </a:cubicBezTo>
                  <a:cubicBezTo>
                    <a:pt x="660053" y="348023"/>
                    <a:pt x="640396" y="348457"/>
                    <a:pt x="628650" y="354330"/>
                  </a:cubicBezTo>
                  <a:cubicBezTo>
                    <a:pt x="624554" y="356378"/>
                    <a:pt x="621030" y="359410"/>
                    <a:pt x="617220" y="361950"/>
                  </a:cubicBezTo>
                  <a:cubicBezTo>
                    <a:pt x="615950" y="365760"/>
                    <a:pt x="615360" y="369869"/>
                    <a:pt x="613410" y="373380"/>
                  </a:cubicBezTo>
                  <a:cubicBezTo>
                    <a:pt x="608962" y="381386"/>
                    <a:pt x="601066" y="387552"/>
                    <a:pt x="598170" y="396240"/>
                  </a:cubicBezTo>
                  <a:cubicBezTo>
                    <a:pt x="592632" y="412853"/>
                    <a:pt x="592993" y="418455"/>
                    <a:pt x="582930" y="430530"/>
                  </a:cubicBezTo>
                  <a:cubicBezTo>
                    <a:pt x="579481" y="434669"/>
                    <a:pt x="575983" y="438971"/>
                    <a:pt x="571500" y="441960"/>
                  </a:cubicBezTo>
                  <a:cubicBezTo>
                    <a:pt x="568158" y="444188"/>
                    <a:pt x="563662" y="443974"/>
                    <a:pt x="560070" y="445770"/>
                  </a:cubicBezTo>
                  <a:cubicBezTo>
                    <a:pt x="555974" y="447818"/>
                    <a:pt x="552824" y="451530"/>
                    <a:pt x="548640" y="453390"/>
                  </a:cubicBezTo>
                  <a:cubicBezTo>
                    <a:pt x="541300" y="456652"/>
                    <a:pt x="533400" y="458470"/>
                    <a:pt x="525780" y="461010"/>
                  </a:cubicBezTo>
                  <a:lnTo>
                    <a:pt x="514350" y="464820"/>
                  </a:lnTo>
                  <a:cubicBezTo>
                    <a:pt x="500270" y="485939"/>
                    <a:pt x="514786" y="469235"/>
                    <a:pt x="495300" y="480060"/>
                  </a:cubicBezTo>
                  <a:cubicBezTo>
                    <a:pt x="487294" y="484508"/>
                    <a:pt x="480060" y="490220"/>
                    <a:pt x="472440" y="495300"/>
                  </a:cubicBezTo>
                  <a:cubicBezTo>
                    <a:pt x="468630" y="497840"/>
                    <a:pt x="465354" y="501472"/>
                    <a:pt x="461010" y="502920"/>
                  </a:cubicBezTo>
                  <a:lnTo>
                    <a:pt x="449580" y="506730"/>
                  </a:lnTo>
                  <a:cubicBezTo>
                    <a:pt x="417830" y="505460"/>
                    <a:pt x="386025" y="505184"/>
                    <a:pt x="354330" y="502920"/>
                  </a:cubicBezTo>
                  <a:cubicBezTo>
                    <a:pt x="350324" y="502634"/>
                    <a:pt x="346411" y="501060"/>
                    <a:pt x="342900" y="499110"/>
                  </a:cubicBezTo>
                  <a:cubicBezTo>
                    <a:pt x="334894" y="494662"/>
                    <a:pt x="320040" y="483870"/>
                    <a:pt x="320040" y="483870"/>
                  </a:cubicBezTo>
                  <a:cubicBezTo>
                    <a:pt x="318136" y="472443"/>
                    <a:pt x="315319" y="448213"/>
                    <a:pt x="308610" y="438150"/>
                  </a:cubicBezTo>
                  <a:cubicBezTo>
                    <a:pt x="303530" y="430530"/>
                    <a:pt x="296266" y="423978"/>
                    <a:pt x="293370" y="415290"/>
                  </a:cubicBezTo>
                  <a:cubicBezTo>
                    <a:pt x="290830" y="407670"/>
                    <a:pt x="290205" y="399113"/>
                    <a:pt x="285750" y="392430"/>
                  </a:cubicBezTo>
                  <a:cubicBezTo>
                    <a:pt x="268282" y="366228"/>
                    <a:pt x="273406" y="378258"/>
                    <a:pt x="266700" y="358140"/>
                  </a:cubicBezTo>
                  <a:cubicBezTo>
                    <a:pt x="267970" y="340360"/>
                    <a:pt x="267866" y="322428"/>
                    <a:pt x="270510" y="304800"/>
                  </a:cubicBezTo>
                  <a:cubicBezTo>
                    <a:pt x="271701" y="296857"/>
                    <a:pt x="276182" y="289732"/>
                    <a:pt x="278130" y="281940"/>
                  </a:cubicBezTo>
                  <a:cubicBezTo>
                    <a:pt x="282914" y="262804"/>
                    <a:pt x="280284" y="271668"/>
                    <a:pt x="285750" y="255270"/>
                  </a:cubicBezTo>
                  <a:cubicBezTo>
                    <a:pt x="284480" y="234950"/>
                    <a:pt x="284691" y="214483"/>
                    <a:pt x="281940" y="194310"/>
                  </a:cubicBezTo>
                  <a:cubicBezTo>
                    <a:pt x="280855" y="186351"/>
                    <a:pt x="280000" y="177130"/>
                    <a:pt x="274320" y="171450"/>
                  </a:cubicBezTo>
                  <a:cubicBezTo>
                    <a:pt x="256414" y="153544"/>
                    <a:pt x="267373" y="163009"/>
                    <a:pt x="240030" y="144780"/>
                  </a:cubicBezTo>
                  <a:lnTo>
                    <a:pt x="228600" y="137160"/>
                  </a:lnTo>
                  <a:lnTo>
                    <a:pt x="217170" y="129540"/>
                  </a:lnTo>
                  <a:cubicBezTo>
                    <a:pt x="215900" y="125730"/>
                    <a:pt x="216496" y="120619"/>
                    <a:pt x="213360" y="118110"/>
                  </a:cubicBezTo>
                  <a:cubicBezTo>
                    <a:pt x="209271" y="114839"/>
                    <a:pt x="202933" y="116363"/>
                    <a:pt x="198120" y="114300"/>
                  </a:cubicBezTo>
                  <a:cubicBezTo>
                    <a:pt x="193911" y="112496"/>
                    <a:pt x="190786" y="108728"/>
                    <a:pt x="186690" y="106680"/>
                  </a:cubicBezTo>
                  <a:cubicBezTo>
                    <a:pt x="183098" y="104884"/>
                    <a:pt x="178771" y="104820"/>
                    <a:pt x="175260" y="102870"/>
                  </a:cubicBezTo>
                  <a:cubicBezTo>
                    <a:pt x="167254" y="98422"/>
                    <a:pt x="160020" y="92710"/>
                    <a:pt x="152400" y="87630"/>
                  </a:cubicBezTo>
                  <a:cubicBezTo>
                    <a:pt x="148590" y="85090"/>
                    <a:pt x="145314" y="81458"/>
                    <a:pt x="140970" y="80010"/>
                  </a:cubicBezTo>
                  <a:cubicBezTo>
                    <a:pt x="112722" y="70594"/>
                    <a:pt x="125294" y="75982"/>
                    <a:pt x="102870" y="64770"/>
                  </a:cubicBezTo>
                  <a:cubicBezTo>
                    <a:pt x="90170" y="45720"/>
                    <a:pt x="99060" y="55880"/>
                    <a:pt x="72390" y="38100"/>
                  </a:cubicBezTo>
                  <a:lnTo>
                    <a:pt x="60960" y="30480"/>
                  </a:lnTo>
                  <a:cubicBezTo>
                    <a:pt x="57150" y="27940"/>
                    <a:pt x="53874" y="24308"/>
                    <a:pt x="49530" y="22860"/>
                  </a:cubicBezTo>
                  <a:lnTo>
                    <a:pt x="26670" y="15240"/>
                  </a:lnTo>
                  <a:cubicBezTo>
                    <a:pt x="22860" y="13970"/>
                    <a:pt x="18582" y="13658"/>
                    <a:pt x="15240" y="11430"/>
                  </a:cubicBezTo>
                  <a:cubicBezTo>
                    <a:pt x="2316" y="2814"/>
                    <a:pt x="7048" y="7048"/>
                    <a:pt x="0" y="0"/>
                  </a:cubicBez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Freeform 8"/>
            <p:cNvSpPr/>
            <p:nvPr/>
          </p:nvSpPr>
          <p:spPr>
            <a:xfrm>
              <a:off x="3616325" y="4110968"/>
              <a:ext cx="1031875" cy="731542"/>
            </a:xfrm>
            <a:custGeom>
              <a:avLst/>
              <a:gdLst>
                <a:gd name="connsiteX0" fmla="*/ 0 w 1032510"/>
                <a:gd name="connsiteY0" fmla="*/ 731542 h 731542"/>
                <a:gd name="connsiteX1" fmla="*/ 22860 w 1032510"/>
                <a:gd name="connsiteY1" fmla="*/ 701062 h 731542"/>
                <a:gd name="connsiteX2" fmla="*/ 38100 w 1032510"/>
                <a:gd name="connsiteY2" fmla="*/ 682012 h 731542"/>
                <a:gd name="connsiteX3" fmla="*/ 53340 w 1032510"/>
                <a:gd name="connsiteY3" fmla="*/ 659152 h 731542"/>
                <a:gd name="connsiteX4" fmla="*/ 60960 w 1032510"/>
                <a:gd name="connsiteY4" fmla="*/ 647722 h 731542"/>
                <a:gd name="connsiteX5" fmla="*/ 83820 w 1032510"/>
                <a:gd name="connsiteY5" fmla="*/ 632482 h 731542"/>
                <a:gd name="connsiteX6" fmla="*/ 95250 w 1032510"/>
                <a:gd name="connsiteY6" fmla="*/ 624862 h 731542"/>
                <a:gd name="connsiteX7" fmla="*/ 106680 w 1032510"/>
                <a:gd name="connsiteY7" fmla="*/ 621052 h 731542"/>
                <a:gd name="connsiteX8" fmla="*/ 114300 w 1032510"/>
                <a:gd name="connsiteY8" fmla="*/ 609622 h 731542"/>
                <a:gd name="connsiteX9" fmla="*/ 140970 w 1032510"/>
                <a:gd name="connsiteY9" fmla="*/ 598192 h 731542"/>
                <a:gd name="connsiteX10" fmla="*/ 156210 w 1032510"/>
                <a:gd name="connsiteY10" fmla="*/ 575332 h 731542"/>
                <a:gd name="connsiteX11" fmla="*/ 163830 w 1032510"/>
                <a:gd name="connsiteY11" fmla="*/ 563902 h 731542"/>
                <a:gd name="connsiteX12" fmla="*/ 175260 w 1032510"/>
                <a:gd name="connsiteY12" fmla="*/ 556282 h 731542"/>
                <a:gd name="connsiteX13" fmla="*/ 186690 w 1032510"/>
                <a:gd name="connsiteY13" fmla="*/ 544852 h 731542"/>
                <a:gd name="connsiteX14" fmla="*/ 194310 w 1032510"/>
                <a:gd name="connsiteY14" fmla="*/ 533422 h 731542"/>
                <a:gd name="connsiteX15" fmla="*/ 217170 w 1032510"/>
                <a:gd name="connsiteY15" fmla="*/ 525802 h 731542"/>
                <a:gd name="connsiteX16" fmla="*/ 266700 w 1032510"/>
                <a:gd name="connsiteY16" fmla="*/ 529612 h 731542"/>
                <a:gd name="connsiteX17" fmla="*/ 285750 w 1032510"/>
                <a:gd name="connsiteY17" fmla="*/ 548662 h 731542"/>
                <a:gd name="connsiteX18" fmla="*/ 297180 w 1032510"/>
                <a:gd name="connsiteY18" fmla="*/ 556282 h 731542"/>
                <a:gd name="connsiteX19" fmla="*/ 304800 w 1032510"/>
                <a:gd name="connsiteY19" fmla="*/ 567712 h 731542"/>
                <a:gd name="connsiteX20" fmla="*/ 308610 w 1032510"/>
                <a:gd name="connsiteY20" fmla="*/ 582952 h 731542"/>
                <a:gd name="connsiteX21" fmla="*/ 354330 w 1032510"/>
                <a:gd name="connsiteY21" fmla="*/ 602002 h 731542"/>
                <a:gd name="connsiteX22" fmla="*/ 365760 w 1032510"/>
                <a:gd name="connsiteY22" fmla="*/ 605812 h 731542"/>
                <a:gd name="connsiteX23" fmla="*/ 384810 w 1032510"/>
                <a:gd name="connsiteY23" fmla="*/ 609622 h 731542"/>
                <a:gd name="connsiteX24" fmla="*/ 434340 w 1032510"/>
                <a:gd name="connsiteY24" fmla="*/ 605812 h 731542"/>
                <a:gd name="connsiteX25" fmla="*/ 445770 w 1032510"/>
                <a:gd name="connsiteY25" fmla="*/ 602002 h 731542"/>
                <a:gd name="connsiteX26" fmla="*/ 453390 w 1032510"/>
                <a:gd name="connsiteY26" fmla="*/ 590572 h 731542"/>
                <a:gd name="connsiteX27" fmla="*/ 464820 w 1032510"/>
                <a:gd name="connsiteY27" fmla="*/ 579142 h 731542"/>
                <a:gd name="connsiteX28" fmla="*/ 487680 w 1032510"/>
                <a:gd name="connsiteY28" fmla="*/ 563902 h 731542"/>
                <a:gd name="connsiteX29" fmla="*/ 510540 w 1032510"/>
                <a:gd name="connsiteY29" fmla="*/ 552472 h 731542"/>
                <a:gd name="connsiteX30" fmla="*/ 521970 w 1032510"/>
                <a:gd name="connsiteY30" fmla="*/ 529612 h 731542"/>
                <a:gd name="connsiteX31" fmla="*/ 525780 w 1032510"/>
                <a:gd name="connsiteY31" fmla="*/ 518182 h 731542"/>
                <a:gd name="connsiteX32" fmla="*/ 533400 w 1032510"/>
                <a:gd name="connsiteY32" fmla="*/ 506752 h 731542"/>
                <a:gd name="connsiteX33" fmla="*/ 537210 w 1032510"/>
                <a:gd name="connsiteY33" fmla="*/ 495322 h 731542"/>
                <a:gd name="connsiteX34" fmla="*/ 552450 w 1032510"/>
                <a:gd name="connsiteY34" fmla="*/ 472462 h 731542"/>
                <a:gd name="connsiteX35" fmla="*/ 560070 w 1032510"/>
                <a:gd name="connsiteY35" fmla="*/ 457222 h 731542"/>
                <a:gd name="connsiteX36" fmla="*/ 579120 w 1032510"/>
                <a:gd name="connsiteY36" fmla="*/ 422932 h 731542"/>
                <a:gd name="connsiteX37" fmla="*/ 590550 w 1032510"/>
                <a:gd name="connsiteY37" fmla="*/ 415312 h 731542"/>
                <a:gd name="connsiteX38" fmla="*/ 601980 w 1032510"/>
                <a:gd name="connsiteY38" fmla="*/ 422932 h 731542"/>
                <a:gd name="connsiteX39" fmla="*/ 613410 w 1032510"/>
                <a:gd name="connsiteY39" fmla="*/ 434362 h 731542"/>
                <a:gd name="connsiteX40" fmla="*/ 716280 w 1032510"/>
                <a:gd name="connsiteY40" fmla="*/ 445792 h 731542"/>
                <a:gd name="connsiteX41" fmla="*/ 777240 w 1032510"/>
                <a:gd name="connsiteY41" fmla="*/ 438172 h 731542"/>
                <a:gd name="connsiteX42" fmla="*/ 788670 w 1032510"/>
                <a:gd name="connsiteY42" fmla="*/ 430552 h 731542"/>
                <a:gd name="connsiteX43" fmla="*/ 800100 w 1032510"/>
                <a:gd name="connsiteY43" fmla="*/ 426742 h 731542"/>
                <a:gd name="connsiteX44" fmla="*/ 822960 w 1032510"/>
                <a:gd name="connsiteY44" fmla="*/ 411502 h 731542"/>
                <a:gd name="connsiteX45" fmla="*/ 838200 w 1032510"/>
                <a:gd name="connsiteY45" fmla="*/ 388642 h 731542"/>
                <a:gd name="connsiteX46" fmla="*/ 845820 w 1032510"/>
                <a:gd name="connsiteY46" fmla="*/ 365782 h 731542"/>
                <a:gd name="connsiteX47" fmla="*/ 857250 w 1032510"/>
                <a:gd name="connsiteY47" fmla="*/ 342922 h 731542"/>
                <a:gd name="connsiteX48" fmla="*/ 861060 w 1032510"/>
                <a:gd name="connsiteY48" fmla="*/ 243862 h 731542"/>
                <a:gd name="connsiteX49" fmla="*/ 857250 w 1032510"/>
                <a:gd name="connsiteY49" fmla="*/ 148612 h 731542"/>
                <a:gd name="connsiteX50" fmla="*/ 849630 w 1032510"/>
                <a:gd name="connsiteY50" fmla="*/ 125752 h 731542"/>
                <a:gd name="connsiteX51" fmla="*/ 868680 w 1032510"/>
                <a:gd name="connsiteY51" fmla="*/ 106702 h 731542"/>
                <a:gd name="connsiteX52" fmla="*/ 880110 w 1032510"/>
                <a:gd name="connsiteY52" fmla="*/ 83842 h 731542"/>
                <a:gd name="connsiteX53" fmla="*/ 891540 w 1032510"/>
                <a:gd name="connsiteY53" fmla="*/ 76222 h 731542"/>
                <a:gd name="connsiteX54" fmla="*/ 899160 w 1032510"/>
                <a:gd name="connsiteY54" fmla="*/ 64792 h 731542"/>
                <a:gd name="connsiteX55" fmla="*/ 910590 w 1032510"/>
                <a:gd name="connsiteY55" fmla="*/ 57172 h 731542"/>
                <a:gd name="connsiteX56" fmla="*/ 967740 w 1032510"/>
                <a:gd name="connsiteY56" fmla="*/ 45742 h 731542"/>
                <a:gd name="connsiteX57" fmla="*/ 982980 w 1032510"/>
                <a:gd name="connsiteY57" fmla="*/ 41932 h 731542"/>
                <a:gd name="connsiteX58" fmla="*/ 1005840 w 1032510"/>
                <a:gd name="connsiteY58" fmla="*/ 34312 h 731542"/>
                <a:gd name="connsiteX59" fmla="*/ 1021080 w 1032510"/>
                <a:gd name="connsiteY59" fmla="*/ 11452 h 731542"/>
                <a:gd name="connsiteX60" fmla="*/ 1032510 w 1032510"/>
                <a:gd name="connsiteY60" fmla="*/ 22 h 73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032510" h="731542">
                  <a:moveTo>
                    <a:pt x="0" y="731542"/>
                  </a:moveTo>
                  <a:cubicBezTo>
                    <a:pt x="7620" y="721382"/>
                    <a:pt x="16042" y="711777"/>
                    <a:pt x="22860" y="701062"/>
                  </a:cubicBezTo>
                  <a:cubicBezTo>
                    <a:pt x="36420" y="679753"/>
                    <a:pt x="13863" y="698170"/>
                    <a:pt x="38100" y="682012"/>
                  </a:cubicBezTo>
                  <a:lnTo>
                    <a:pt x="53340" y="659152"/>
                  </a:lnTo>
                  <a:cubicBezTo>
                    <a:pt x="55880" y="655342"/>
                    <a:pt x="57150" y="650262"/>
                    <a:pt x="60960" y="647722"/>
                  </a:cubicBezTo>
                  <a:lnTo>
                    <a:pt x="83820" y="632482"/>
                  </a:lnTo>
                  <a:cubicBezTo>
                    <a:pt x="87630" y="629942"/>
                    <a:pt x="90906" y="626310"/>
                    <a:pt x="95250" y="624862"/>
                  </a:cubicBezTo>
                  <a:lnTo>
                    <a:pt x="106680" y="621052"/>
                  </a:lnTo>
                  <a:cubicBezTo>
                    <a:pt x="109220" y="617242"/>
                    <a:pt x="111062" y="612860"/>
                    <a:pt x="114300" y="609622"/>
                  </a:cubicBezTo>
                  <a:cubicBezTo>
                    <a:pt x="123071" y="600851"/>
                    <a:pt x="129311" y="601107"/>
                    <a:pt x="140970" y="598192"/>
                  </a:cubicBezTo>
                  <a:cubicBezTo>
                    <a:pt x="147666" y="578105"/>
                    <a:pt x="140355" y="594358"/>
                    <a:pt x="156210" y="575332"/>
                  </a:cubicBezTo>
                  <a:cubicBezTo>
                    <a:pt x="159141" y="571814"/>
                    <a:pt x="160592" y="567140"/>
                    <a:pt x="163830" y="563902"/>
                  </a:cubicBezTo>
                  <a:cubicBezTo>
                    <a:pt x="167068" y="560664"/>
                    <a:pt x="171742" y="559213"/>
                    <a:pt x="175260" y="556282"/>
                  </a:cubicBezTo>
                  <a:cubicBezTo>
                    <a:pt x="179399" y="552833"/>
                    <a:pt x="183241" y="548991"/>
                    <a:pt x="186690" y="544852"/>
                  </a:cubicBezTo>
                  <a:cubicBezTo>
                    <a:pt x="189621" y="541334"/>
                    <a:pt x="190427" y="535849"/>
                    <a:pt x="194310" y="533422"/>
                  </a:cubicBezTo>
                  <a:cubicBezTo>
                    <a:pt x="201121" y="529165"/>
                    <a:pt x="217170" y="525802"/>
                    <a:pt x="217170" y="525802"/>
                  </a:cubicBezTo>
                  <a:cubicBezTo>
                    <a:pt x="233680" y="527072"/>
                    <a:pt x="250425" y="526560"/>
                    <a:pt x="266700" y="529612"/>
                  </a:cubicBezTo>
                  <a:cubicBezTo>
                    <a:pt x="279205" y="531957"/>
                    <a:pt x="278325" y="541237"/>
                    <a:pt x="285750" y="548662"/>
                  </a:cubicBezTo>
                  <a:cubicBezTo>
                    <a:pt x="288988" y="551900"/>
                    <a:pt x="293370" y="553742"/>
                    <a:pt x="297180" y="556282"/>
                  </a:cubicBezTo>
                  <a:cubicBezTo>
                    <a:pt x="299720" y="560092"/>
                    <a:pt x="302996" y="563503"/>
                    <a:pt x="304800" y="567712"/>
                  </a:cubicBezTo>
                  <a:cubicBezTo>
                    <a:pt x="306863" y="572525"/>
                    <a:pt x="305162" y="579011"/>
                    <a:pt x="308610" y="582952"/>
                  </a:cubicBezTo>
                  <a:cubicBezTo>
                    <a:pt x="325030" y="601718"/>
                    <a:pt x="333290" y="597327"/>
                    <a:pt x="354330" y="602002"/>
                  </a:cubicBezTo>
                  <a:cubicBezTo>
                    <a:pt x="358250" y="602873"/>
                    <a:pt x="361864" y="604838"/>
                    <a:pt x="365760" y="605812"/>
                  </a:cubicBezTo>
                  <a:cubicBezTo>
                    <a:pt x="372042" y="607383"/>
                    <a:pt x="378460" y="608352"/>
                    <a:pt x="384810" y="609622"/>
                  </a:cubicBezTo>
                  <a:cubicBezTo>
                    <a:pt x="401320" y="608352"/>
                    <a:pt x="417909" y="607866"/>
                    <a:pt x="434340" y="605812"/>
                  </a:cubicBezTo>
                  <a:cubicBezTo>
                    <a:pt x="438325" y="605314"/>
                    <a:pt x="442634" y="604511"/>
                    <a:pt x="445770" y="602002"/>
                  </a:cubicBezTo>
                  <a:cubicBezTo>
                    <a:pt x="449346" y="599141"/>
                    <a:pt x="450459" y="594090"/>
                    <a:pt x="453390" y="590572"/>
                  </a:cubicBezTo>
                  <a:cubicBezTo>
                    <a:pt x="456839" y="586433"/>
                    <a:pt x="460567" y="582450"/>
                    <a:pt x="464820" y="579142"/>
                  </a:cubicBezTo>
                  <a:cubicBezTo>
                    <a:pt x="472049" y="573519"/>
                    <a:pt x="478992" y="566798"/>
                    <a:pt x="487680" y="563902"/>
                  </a:cubicBezTo>
                  <a:cubicBezTo>
                    <a:pt x="503454" y="558644"/>
                    <a:pt x="495768" y="562320"/>
                    <a:pt x="510540" y="552472"/>
                  </a:cubicBezTo>
                  <a:cubicBezTo>
                    <a:pt x="520117" y="523742"/>
                    <a:pt x="507198" y="559155"/>
                    <a:pt x="521970" y="529612"/>
                  </a:cubicBezTo>
                  <a:cubicBezTo>
                    <a:pt x="523766" y="526020"/>
                    <a:pt x="523984" y="521774"/>
                    <a:pt x="525780" y="518182"/>
                  </a:cubicBezTo>
                  <a:cubicBezTo>
                    <a:pt x="527828" y="514086"/>
                    <a:pt x="531352" y="510848"/>
                    <a:pt x="533400" y="506752"/>
                  </a:cubicBezTo>
                  <a:cubicBezTo>
                    <a:pt x="535196" y="503160"/>
                    <a:pt x="535260" y="498833"/>
                    <a:pt x="537210" y="495322"/>
                  </a:cubicBezTo>
                  <a:cubicBezTo>
                    <a:pt x="541658" y="487316"/>
                    <a:pt x="548354" y="480653"/>
                    <a:pt x="552450" y="472462"/>
                  </a:cubicBezTo>
                  <a:cubicBezTo>
                    <a:pt x="554990" y="467382"/>
                    <a:pt x="557833" y="462442"/>
                    <a:pt x="560070" y="457222"/>
                  </a:cubicBezTo>
                  <a:cubicBezTo>
                    <a:pt x="565628" y="444252"/>
                    <a:pt x="564269" y="432832"/>
                    <a:pt x="579120" y="422932"/>
                  </a:cubicBezTo>
                  <a:lnTo>
                    <a:pt x="590550" y="415312"/>
                  </a:lnTo>
                  <a:cubicBezTo>
                    <a:pt x="594360" y="417852"/>
                    <a:pt x="598462" y="420001"/>
                    <a:pt x="601980" y="422932"/>
                  </a:cubicBezTo>
                  <a:cubicBezTo>
                    <a:pt x="606119" y="426381"/>
                    <a:pt x="608700" y="431745"/>
                    <a:pt x="613410" y="434362"/>
                  </a:cubicBezTo>
                  <a:cubicBezTo>
                    <a:pt x="640517" y="449421"/>
                    <a:pt x="698331" y="444937"/>
                    <a:pt x="716280" y="445792"/>
                  </a:cubicBezTo>
                  <a:cubicBezTo>
                    <a:pt x="725734" y="445065"/>
                    <a:pt x="760792" y="446396"/>
                    <a:pt x="777240" y="438172"/>
                  </a:cubicBezTo>
                  <a:cubicBezTo>
                    <a:pt x="781336" y="436124"/>
                    <a:pt x="784574" y="432600"/>
                    <a:pt x="788670" y="430552"/>
                  </a:cubicBezTo>
                  <a:cubicBezTo>
                    <a:pt x="792262" y="428756"/>
                    <a:pt x="796589" y="428692"/>
                    <a:pt x="800100" y="426742"/>
                  </a:cubicBezTo>
                  <a:cubicBezTo>
                    <a:pt x="808106" y="422294"/>
                    <a:pt x="822960" y="411502"/>
                    <a:pt x="822960" y="411502"/>
                  </a:cubicBezTo>
                  <a:cubicBezTo>
                    <a:pt x="828040" y="403882"/>
                    <a:pt x="835304" y="397330"/>
                    <a:pt x="838200" y="388642"/>
                  </a:cubicBezTo>
                  <a:cubicBezTo>
                    <a:pt x="840740" y="381022"/>
                    <a:pt x="841365" y="372465"/>
                    <a:pt x="845820" y="365782"/>
                  </a:cubicBezTo>
                  <a:cubicBezTo>
                    <a:pt x="855668" y="351010"/>
                    <a:pt x="851992" y="358696"/>
                    <a:pt x="857250" y="342922"/>
                  </a:cubicBezTo>
                  <a:cubicBezTo>
                    <a:pt x="858520" y="309902"/>
                    <a:pt x="861060" y="276906"/>
                    <a:pt x="861060" y="243862"/>
                  </a:cubicBezTo>
                  <a:cubicBezTo>
                    <a:pt x="861060" y="212087"/>
                    <a:pt x="860311" y="180240"/>
                    <a:pt x="857250" y="148612"/>
                  </a:cubicBezTo>
                  <a:cubicBezTo>
                    <a:pt x="856476" y="140617"/>
                    <a:pt x="849630" y="125752"/>
                    <a:pt x="849630" y="125752"/>
                  </a:cubicBezTo>
                  <a:cubicBezTo>
                    <a:pt x="869950" y="95272"/>
                    <a:pt x="843280" y="132102"/>
                    <a:pt x="868680" y="106702"/>
                  </a:cubicBezTo>
                  <a:cubicBezTo>
                    <a:pt x="900798" y="74584"/>
                    <a:pt x="855320" y="114830"/>
                    <a:pt x="880110" y="83842"/>
                  </a:cubicBezTo>
                  <a:cubicBezTo>
                    <a:pt x="882971" y="80266"/>
                    <a:pt x="887730" y="78762"/>
                    <a:pt x="891540" y="76222"/>
                  </a:cubicBezTo>
                  <a:cubicBezTo>
                    <a:pt x="894080" y="72412"/>
                    <a:pt x="895922" y="68030"/>
                    <a:pt x="899160" y="64792"/>
                  </a:cubicBezTo>
                  <a:cubicBezTo>
                    <a:pt x="902398" y="61554"/>
                    <a:pt x="906406" y="59032"/>
                    <a:pt x="910590" y="57172"/>
                  </a:cubicBezTo>
                  <a:cubicBezTo>
                    <a:pt x="933103" y="47166"/>
                    <a:pt x="941584" y="48648"/>
                    <a:pt x="967740" y="45742"/>
                  </a:cubicBezTo>
                  <a:cubicBezTo>
                    <a:pt x="972820" y="44472"/>
                    <a:pt x="977964" y="43437"/>
                    <a:pt x="982980" y="41932"/>
                  </a:cubicBezTo>
                  <a:cubicBezTo>
                    <a:pt x="990673" y="39624"/>
                    <a:pt x="1005840" y="34312"/>
                    <a:pt x="1005840" y="34312"/>
                  </a:cubicBezTo>
                  <a:lnTo>
                    <a:pt x="1021080" y="11452"/>
                  </a:lnTo>
                  <a:cubicBezTo>
                    <a:pt x="1029404" y="-1035"/>
                    <a:pt x="1024121" y="22"/>
                    <a:pt x="1032510" y="22"/>
                  </a:cubicBez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1" name="Freeform 10"/>
          <p:cNvSpPr/>
          <p:nvPr/>
        </p:nvSpPr>
        <p:spPr>
          <a:xfrm>
            <a:off x="6638925" y="4362450"/>
            <a:ext cx="490538" cy="334963"/>
          </a:xfrm>
          <a:custGeom>
            <a:avLst/>
            <a:gdLst>
              <a:gd name="connsiteX0" fmla="*/ 0 w 491490"/>
              <a:gd name="connsiteY0" fmla="*/ 0 h 335280"/>
              <a:gd name="connsiteX1" fmla="*/ 19050 w 491490"/>
              <a:gd name="connsiteY1" fmla="*/ 11430 h 335280"/>
              <a:gd name="connsiteX2" fmla="*/ 30480 w 491490"/>
              <a:gd name="connsiteY2" fmla="*/ 19050 h 335280"/>
              <a:gd name="connsiteX3" fmla="*/ 45720 w 491490"/>
              <a:gd name="connsiteY3" fmla="*/ 41910 h 335280"/>
              <a:gd name="connsiteX4" fmla="*/ 49530 w 491490"/>
              <a:gd name="connsiteY4" fmla="*/ 53340 h 335280"/>
              <a:gd name="connsiteX5" fmla="*/ 60960 w 491490"/>
              <a:gd name="connsiteY5" fmla="*/ 57150 h 335280"/>
              <a:gd name="connsiteX6" fmla="*/ 68580 w 491490"/>
              <a:gd name="connsiteY6" fmla="*/ 80010 h 335280"/>
              <a:gd name="connsiteX7" fmla="*/ 60960 w 491490"/>
              <a:gd name="connsiteY7" fmla="*/ 144780 h 335280"/>
              <a:gd name="connsiteX8" fmla="*/ 53340 w 491490"/>
              <a:gd name="connsiteY8" fmla="*/ 156210 h 335280"/>
              <a:gd name="connsiteX9" fmla="*/ 57150 w 491490"/>
              <a:gd name="connsiteY9" fmla="*/ 262890 h 335280"/>
              <a:gd name="connsiteX10" fmla="*/ 60960 w 491490"/>
              <a:gd name="connsiteY10" fmla="*/ 274320 h 335280"/>
              <a:gd name="connsiteX11" fmla="*/ 64770 w 491490"/>
              <a:gd name="connsiteY11" fmla="*/ 289560 h 335280"/>
              <a:gd name="connsiteX12" fmla="*/ 76200 w 491490"/>
              <a:gd name="connsiteY12" fmla="*/ 312420 h 335280"/>
              <a:gd name="connsiteX13" fmla="*/ 99060 w 491490"/>
              <a:gd name="connsiteY13" fmla="*/ 323850 h 335280"/>
              <a:gd name="connsiteX14" fmla="*/ 121920 w 491490"/>
              <a:gd name="connsiteY14" fmla="*/ 335280 h 335280"/>
              <a:gd name="connsiteX15" fmla="*/ 175260 w 491490"/>
              <a:gd name="connsiteY15" fmla="*/ 327660 h 335280"/>
              <a:gd name="connsiteX16" fmla="*/ 198120 w 491490"/>
              <a:gd name="connsiteY16" fmla="*/ 323850 h 335280"/>
              <a:gd name="connsiteX17" fmla="*/ 220980 w 491490"/>
              <a:gd name="connsiteY17" fmla="*/ 316230 h 335280"/>
              <a:gd name="connsiteX18" fmla="*/ 243840 w 491490"/>
              <a:gd name="connsiteY18" fmla="*/ 308610 h 335280"/>
              <a:gd name="connsiteX19" fmla="*/ 255270 w 491490"/>
              <a:gd name="connsiteY19" fmla="*/ 304800 h 335280"/>
              <a:gd name="connsiteX20" fmla="*/ 281940 w 491490"/>
              <a:gd name="connsiteY20" fmla="*/ 270510 h 335280"/>
              <a:gd name="connsiteX21" fmla="*/ 293370 w 491490"/>
              <a:gd name="connsiteY21" fmla="*/ 247650 h 335280"/>
              <a:gd name="connsiteX22" fmla="*/ 308610 w 491490"/>
              <a:gd name="connsiteY22" fmla="*/ 224790 h 335280"/>
              <a:gd name="connsiteX23" fmla="*/ 312420 w 491490"/>
              <a:gd name="connsiteY23" fmla="*/ 213360 h 335280"/>
              <a:gd name="connsiteX24" fmla="*/ 350520 w 491490"/>
              <a:gd name="connsiteY24" fmla="*/ 175260 h 335280"/>
              <a:gd name="connsiteX25" fmla="*/ 373380 w 491490"/>
              <a:gd name="connsiteY25" fmla="*/ 167640 h 335280"/>
              <a:gd name="connsiteX26" fmla="*/ 384810 w 491490"/>
              <a:gd name="connsiteY26" fmla="*/ 163830 h 335280"/>
              <a:gd name="connsiteX27" fmla="*/ 407670 w 491490"/>
              <a:gd name="connsiteY27" fmla="*/ 171450 h 335280"/>
              <a:gd name="connsiteX28" fmla="*/ 419100 w 491490"/>
              <a:gd name="connsiteY28" fmla="*/ 175260 h 335280"/>
              <a:gd name="connsiteX29" fmla="*/ 426720 w 491490"/>
              <a:gd name="connsiteY29" fmla="*/ 186690 h 335280"/>
              <a:gd name="connsiteX30" fmla="*/ 438150 w 491490"/>
              <a:gd name="connsiteY30" fmla="*/ 194310 h 335280"/>
              <a:gd name="connsiteX31" fmla="*/ 491490 w 491490"/>
              <a:gd name="connsiteY31" fmla="*/ 19812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91490" h="335280">
                <a:moveTo>
                  <a:pt x="0" y="0"/>
                </a:moveTo>
                <a:cubicBezTo>
                  <a:pt x="6350" y="3810"/>
                  <a:pt x="12770" y="7505"/>
                  <a:pt x="19050" y="11430"/>
                </a:cubicBezTo>
                <a:cubicBezTo>
                  <a:pt x="22933" y="13857"/>
                  <a:pt x="27465" y="15604"/>
                  <a:pt x="30480" y="19050"/>
                </a:cubicBezTo>
                <a:cubicBezTo>
                  <a:pt x="36511" y="25942"/>
                  <a:pt x="42824" y="33222"/>
                  <a:pt x="45720" y="41910"/>
                </a:cubicBezTo>
                <a:cubicBezTo>
                  <a:pt x="46990" y="45720"/>
                  <a:pt x="46690" y="50500"/>
                  <a:pt x="49530" y="53340"/>
                </a:cubicBezTo>
                <a:cubicBezTo>
                  <a:pt x="52370" y="56180"/>
                  <a:pt x="57150" y="55880"/>
                  <a:pt x="60960" y="57150"/>
                </a:cubicBezTo>
                <a:cubicBezTo>
                  <a:pt x="63500" y="64770"/>
                  <a:pt x="69152" y="71998"/>
                  <a:pt x="68580" y="80010"/>
                </a:cubicBezTo>
                <a:cubicBezTo>
                  <a:pt x="67978" y="88438"/>
                  <a:pt x="69620" y="127461"/>
                  <a:pt x="60960" y="144780"/>
                </a:cubicBezTo>
                <a:cubicBezTo>
                  <a:pt x="58912" y="148876"/>
                  <a:pt x="55880" y="152400"/>
                  <a:pt x="53340" y="156210"/>
                </a:cubicBezTo>
                <a:cubicBezTo>
                  <a:pt x="54610" y="191770"/>
                  <a:pt x="54859" y="227381"/>
                  <a:pt x="57150" y="262890"/>
                </a:cubicBezTo>
                <a:cubicBezTo>
                  <a:pt x="57409" y="266898"/>
                  <a:pt x="59857" y="270458"/>
                  <a:pt x="60960" y="274320"/>
                </a:cubicBezTo>
                <a:cubicBezTo>
                  <a:pt x="62399" y="279355"/>
                  <a:pt x="63331" y="284525"/>
                  <a:pt x="64770" y="289560"/>
                </a:cubicBezTo>
                <a:cubicBezTo>
                  <a:pt x="67249" y="298237"/>
                  <a:pt x="69521" y="305741"/>
                  <a:pt x="76200" y="312420"/>
                </a:cubicBezTo>
                <a:cubicBezTo>
                  <a:pt x="87119" y="323339"/>
                  <a:pt x="86665" y="317652"/>
                  <a:pt x="99060" y="323850"/>
                </a:cubicBezTo>
                <a:cubicBezTo>
                  <a:pt x="128603" y="338622"/>
                  <a:pt x="93190" y="325703"/>
                  <a:pt x="121920" y="335280"/>
                </a:cubicBezTo>
                <a:cubicBezTo>
                  <a:pt x="198894" y="327583"/>
                  <a:pt x="133827" y="335947"/>
                  <a:pt x="175260" y="327660"/>
                </a:cubicBezTo>
                <a:cubicBezTo>
                  <a:pt x="182835" y="326145"/>
                  <a:pt x="190626" y="325724"/>
                  <a:pt x="198120" y="323850"/>
                </a:cubicBezTo>
                <a:cubicBezTo>
                  <a:pt x="205912" y="321902"/>
                  <a:pt x="213360" y="318770"/>
                  <a:pt x="220980" y="316230"/>
                </a:cubicBezTo>
                <a:lnTo>
                  <a:pt x="243840" y="308610"/>
                </a:lnTo>
                <a:lnTo>
                  <a:pt x="255270" y="304800"/>
                </a:lnTo>
                <a:cubicBezTo>
                  <a:pt x="273499" y="277457"/>
                  <a:pt x="264034" y="288416"/>
                  <a:pt x="281940" y="270510"/>
                </a:cubicBezTo>
                <a:cubicBezTo>
                  <a:pt x="291517" y="241780"/>
                  <a:pt x="278598" y="277193"/>
                  <a:pt x="293370" y="247650"/>
                </a:cubicBezTo>
                <a:cubicBezTo>
                  <a:pt x="304398" y="225594"/>
                  <a:pt x="286943" y="246457"/>
                  <a:pt x="308610" y="224790"/>
                </a:cubicBezTo>
                <a:cubicBezTo>
                  <a:pt x="309880" y="220980"/>
                  <a:pt x="310470" y="216871"/>
                  <a:pt x="312420" y="213360"/>
                </a:cubicBezTo>
                <a:cubicBezTo>
                  <a:pt x="321656" y="196735"/>
                  <a:pt x="331124" y="181725"/>
                  <a:pt x="350520" y="175260"/>
                </a:cubicBezTo>
                <a:lnTo>
                  <a:pt x="373380" y="167640"/>
                </a:lnTo>
                <a:lnTo>
                  <a:pt x="384810" y="163830"/>
                </a:lnTo>
                <a:lnTo>
                  <a:pt x="407670" y="171450"/>
                </a:lnTo>
                <a:lnTo>
                  <a:pt x="419100" y="175260"/>
                </a:lnTo>
                <a:cubicBezTo>
                  <a:pt x="421640" y="179070"/>
                  <a:pt x="423482" y="183452"/>
                  <a:pt x="426720" y="186690"/>
                </a:cubicBezTo>
                <a:cubicBezTo>
                  <a:pt x="429958" y="189928"/>
                  <a:pt x="434054" y="192262"/>
                  <a:pt x="438150" y="194310"/>
                </a:cubicBezTo>
                <a:cubicBezTo>
                  <a:pt x="454605" y="202538"/>
                  <a:pt x="474184" y="198120"/>
                  <a:pt x="491490" y="198120"/>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9463" name="Picture 3"/>
          <p:cNvPicPr>
            <a:picLocks noChangeAspect="1"/>
          </p:cNvPicPr>
          <p:nvPr/>
        </p:nvPicPr>
        <p:blipFill>
          <a:blip r:embed="rId4">
            <a:extLst>
              <a:ext uri="{28A0092B-C50C-407E-A947-70E740481C1C}">
                <a14:useLocalDpi xmlns:a14="http://schemas.microsoft.com/office/drawing/2010/main" val="0"/>
              </a:ext>
            </a:extLst>
          </a:blip>
          <a:srcRect l="15266" t="14418" r="11450" b="6192"/>
          <a:stretch>
            <a:fillRect/>
          </a:stretch>
        </p:blipFill>
        <p:spPr bwMode="auto">
          <a:xfrm>
            <a:off x="1017588" y="1524000"/>
            <a:ext cx="425450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Arrow Connector 13"/>
          <p:cNvCxnSpPr/>
          <p:nvPr/>
        </p:nvCxnSpPr>
        <p:spPr>
          <a:xfrm>
            <a:off x="3341688" y="3676650"/>
            <a:ext cx="407987" cy="358775"/>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465" name="Rectangle 2"/>
          <p:cNvSpPr>
            <a:spLocks noChangeArrowheads="1"/>
          </p:cNvSpPr>
          <p:nvPr/>
        </p:nvSpPr>
        <p:spPr bwMode="auto">
          <a:xfrm>
            <a:off x="1524000" y="6210300"/>
            <a:ext cx="3332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Diffusion weighted image</a:t>
            </a:r>
          </a:p>
        </p:txBody>
      </p:sp>
      <p:sp>
        <p:nvSpPr>
          <p:cNvPr id="19466" name="Rectangle 2"/>
          <p:cNvSpPr>
            <a:spLocks noChangeArrowheads="1"/>
          </p:cNvSpPr>
          <p:nvPr/>
        </p:nvSpPr>
        <p:spPr bwMode="auto">
          <a:xfrm>
            <a:off x="7315200" y="6283325"/>
            <a:ext cx="1123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Axial 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3962400" y="2057400"/>
            <a:ext cx="5029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lgn="l" rtl="0" eaLnBrk="1" fontAlgn="base" hangingPunct="1">
              <a:spcBef>
                <a:spcPct val="0"/>
              </a:spcBef>
              <a:spcAft>
                <a:spcPct val="0"/>
              </a:spcAft>
              <a:defRPr sz="40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defRPr/>
            </a:pPr>
            <a:r>
              <a:rPr lang="en-US" altLang="en-US" kern="0" dirty="0" smtClean="0">
                <a:solidFill>
                  <a:schemeClr val="accent5"/>
                </a:solidFill>
              </a:rPr>
              <a:t>Upper Cranial nerves</a:t>
            </a:r>
            <a:endParaRPr lang="en-US" altLang="en-US" kern="0" dirty="0">
              <a:solidFill>
                <a:schemeClr val="accent5"/>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dirty="0" smtClean="0"/>
              <a:t>Normal side: Left ICA injection</a:t>
            </a:r>
          </a:p>
        </p:txBody>
      </p:sp>
      <p:pic>
        <p:nvPicPr>
          <p:cNvPr id="4" name="CC Fistula AP - L ICA">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85800" y="1416367"/>
            <a:ext cx="11201400" cy="4527233"/>
          </a:xfrm>
          <a:prstGeom prst="rect">
            <a:avLst/>
          </a:prstGeom>
        </p:spPr>
      </p:pic>
    </p:spTree>
    <p:extLst>
      <p:ext uri="{BB962C8B-B14F-4D97-AF65-F5344CB8AC3E}">
        <p14:creationId xmlns:p14="http://schemas.microsoft.com/office/powerpoint/2010/main" val="68222672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dirty="0" smtClean="0"/>
              <a:t>Abnormal side: Right ICA injection</a:t>
            </a:r>
          </a:p>
        </p:txBody>
      </p:sp>
      <p:pic>
        <p:nvPicPr>
          <p:cNvPr id="5" name="CC Fistula AP - R ICA">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65459" y="1371600"/>
            <a:ext cx="11123627" cy="4495800"/>
          </a:xfrm>
          <a:prstGeom prst="rect">
            <a:avLst/>
          </a:prstGeom>
        </p:spPr>
      </p:pic>
    </p:spTree>
    <p:extLst>
      <p:ext uri="{BB962C8B-B14F-4D97-AF65-F5344CB8AC3E}">
        <p14:creationId xmlns:p14="http://schemas.microsoft.com/office/powerpoint/2010/main" val="138220967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371600"/>
            <a:ext cx="4724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1409700"/>
            <a:ext cx="4648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1"/>
          <p:cNvPicPr>
            <a:picLocks noChangeAspect="1"/>
          </p:cNvPicPr>
          <p:nvPr/>
        </p:nvPicPr>
        <p:blipFill>
          <a:blip r:embed="rId3">
            <a:extLst>
              <a:ext uri="{28A0092B-C50C-407E-A947-70E740481C1C}">
                <a14:useLocalDpi xmlns:a14="http://schemas.microsoft.com/office/drawing/2010/main" val="0"/>
              </a:ext>
            </a:extLst>
          </a:blip>
          <a:srcRect l="20313" t="12500" r="12500" b="46875"/>
          <a:stretch>
            <a:fillRect/>
          </a:stretch>
        </p:blipFill>
        <p:spPr bwMode="auto">
          <a:xfrm>
            <a:off x="838200" y="1460500"/>
            <a:ext cx="378142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Picture 3"/>
          <p:cNvPicPr>
            <a:picLocks noChangeAspect="1"/>
          </p:cNvPicPr>
          <p:nvPr/>
        </p:nvPicPr>
        <p:blipFill>
          <a:blip r:embed="rId4">
            <a:extLst>
              <a:ext uri="{28A0092B-C50C-407E-A947-70E740481C1C}">
                <a14:useLocalDpi xmlns:a14="http://schemas.microsoft.com/office/drawing/2010/main" val="0"/>
              </a:ext>
            </a:extLst>
          </a:blip>
          <a:srcRect l="18750" t="12500" r="12500" b="43750"/>
          <a:stretch>
            <a:fillRect/>
          </a:stretch>
        </p:blipFill>
        <p:spPr bwMode="auto">
          <a:xfrm>
            <a:off x="4940300" y="1371600"/>
            <a:ext cx="3730625"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4"/>
          <p:cNvPicPr>
            <a:picLocks noChangeAspect="1"/>
          </p:cNvPicPr>
          <p:nvPr/>
        </p:nvPicPr>
        <p:blipFill>
          <a:blip r:embed="rId5">
            <a:extLst>
              <a:ext uri="{28A0092B-C50C-407E-A947-70E740481C1C}">
                <a14:useLocalDpi xmlns:a14="http://schemas.microsoft.com/office/drawing/2010/main" val="0"/>
              </a:ext>
            </a:extLst>
          </a:blip>
          <a:srcRect l="17188" t="10938" r="14063" b="45313"/>
          <a:stretch>
            <a:fillRect/>
          </a:stretch>
        </p:blipFill>
        <p:spPr bwMode="auto">
          <a:xfrm>
            <a:off x="685800" y="4114800"/>
            <a:ext cx="4071938"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5"/>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991600" y="1600200"/>
            <a:ext cx="3048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6"/>
          <p:cNvPicPr>
            <a:picLocks noChangeAspect="1"/>
          </p:cNvPicPr>
          <p:nvPr/>
        </p:nvPicPr>
        <p:blipFill>
          <a:blip r:embed="rId7">
            <a:extLst>
              <a:ext uri="{28A0092B-C50C-407E-A947-70E740481C1C}">
                <a14:useLocalDpi xmlns:a14="http://schemas.microsoft.com/office/drawing/2010/main" val="0"/>
              </a:ext>
            </a:extLst>
          </a:blip>
          <a:srcRect l="14063" t="29688" r="17188" b="25000"/>
          <a:stretch>
            <a:fillRect/>
          </a:stretch>
        </p:blipFill>
        <p:spPr bwMode="auto">
          <a:xfrm>
            <a:off x="4876800" y="4090988"/>
            <a:ext cx="393065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1143000" y="314325"/>
            <a:ext cx="8839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lgn="l" rtl="0" eaLnBrk="1" fontAlgn="base" hangingPunct="1">
              <a:spcBef>
                <a:spcPct val="0"/>
              </a:spcBef>
              <a:spcAft>
                <a:spcPct val="0"/>
              </a:spcAft>
              <a:defRPr sz="40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defRPr/>
            </a:pPr>
            <a:r>
              <a:rPr lang="en-US" altLang="en-US" kern="0" dirty="0" smtClean="0"/>
              <a:t>MRI (FIESTA/SPACE)</a:t>
            </a:r>
            <a:endParaRPr lang="en-US" altLang="en-US" kern="0" dirty="0"/>
          </a:p>
        </p:txBody>
      </p:sp>
      <p:sp>
        <p:nvSpPr>
          <p:cNvPr id="5" name="TextBox 4"/>
          <p:cNvSpPr txBox="1"/>
          <p:nvPr/>
        </p:nvSpPr>
        <p:spPr>
          <a:xfrm>
            <a:off x="609600" y="1774825"/>
            <a:ext cx="6782626" cy="4801314"/>
          </a:xfrm>
          <a:prstGeom prst="rect">
            <a:avLst/>
          </a:prstGeom>
          <a:noFill/>
        </p:spPr>
        <p:txBody>
          <a:bodyPr wrap="none">
            <a:spAutoFit/>
          </a:bodyPr>
          <a:lstStyle/>
          <a:p>
            <a:pPr>
              <a:defRPr/>
            </a:pPr>
            <a:r>
              <a:rPr lang="en-US" sz="2400" dirty="0" smtClean="0">
                <a:solidFill>
                  <a:schemeClr val="tx2"/>
                </a:solidFill>
              </a:rPr>
              <a:t>CN I </a:t>
            </a:r>
            <a:r>
              <a:rPr lang="en-US" sz="2400" dirty="0" smtClean="0">
                <a:solidFill>
                  <a:schemeClr val="accent5"/>
                </a:solidFill>
              </a:rPr>
              <a:t>-  </a:t>
            </a:r>
            <a:r>
              <a:rPr lang="en-US" sz="2400" dirty="0" err="1">
                <a:solidFill>
                  <a:schemeClr val="accent5"/>
                </a:solidFill>
              </a:rPr>
              <a:t>cisternal</a:t>
            </a:r>
            <a:r>
              <a:rPr lang="en-US" sz="2400" dirty="0">
                <a:solidFill>
                  <a:schemeClr val="accent5"/>
                </a:solidFill>
              </a:rPr>
              <a:t> segment </a:t>
            </a:r>
          </a:p>
          <a:p>
            <a:pPr>
              <a:defRPr/>
            </a:pPr>
            <a:r>
              <a:rPr lang="en-US" sz="2400" dirty="0" smtClean="0">
                <a:solidFill>
                  <a:schemeClr val="tx2"/>
                </a:solidFill>
              </a:rPr>
              <a:t>CN II </a:t>
            </a:r>
            <a:r>
              <a:rPr lang="en-US" sz="2400" dirty="0" smtClean="0">
                <a:solidFill>
                  <a:schemeClr val="accent5"/>
                </a:solidFill>
              </a:rPr>
              <a:t>- </a:t>
            </a:r>
            <a:r>
              <a:rPr lang="en-US" sz="2400" dirty="0">
                <a:solidFill>
                  <a:schemeClr val="accent5"/>
                </a:solidFill>
              </a:rPr>
              <a:t>optic tracts, </a:t>
            </a:r>
            <a:r>
              <a:rPr lang="en-US" sz="2400" dirty="0" smtClean="0">
                <a:solidFill>
                  <a:schemeClr val="accent5"/>
                </a:solidFill>
              </a:rPr>
              <a:t>chiasm, </a:t>
            </a:r>
            <a:r>
              <a:rPr lang="en-US" sz="2400" dirty="0" err="1" smtClean="0">
                <a:solidFill>
                  <a:schemeClr val="accent5"/>
                </a:solidFill>
              </a:rPr>
              <a:t>cisternal</a:t>
            </a:r>
            <a:r>
              <a:rPr lang="en-US" sz="2400" dirty="0" smtClean="0">
                <a:solidFill>
                  <a:schemeClr val="accent5"/>
                </a:solidFill>
              </a:rPr>
              <a:t> </a:t>
            </a:r>
            <a:r>
              <a:rPr lang="en-US" sz="2400" dirty="0">
                <a:solidFill>
                  <a:schemeClr val="accent5"/>
                </a:solidFill>
              </a:rPr>
              <a:t>segment </a:t>
            </a:r>
          </a:p>
          <a:p>
            <a:pPr>
              <a:defRPr/>
            </a:pPr>
            <a:r>
              <a:rPr lang="en-US" sz="2400" dirty="0" smtClean="0">
                <a:solidFill>
                  <a:schemeClr val="tx2"/>
                </a:solidFill>
              </a:rPr>
              <a:t>CN III </a:t>
            </a:r>
            <a:r>
              <a:rPr lang="en-US" sz="2400" dirty="0" smtClean="0">
                <a:solidFill>
                  <a:schemeClr val="accent5"/>
                </a:solidFill>
              </a:rPr>
              <a:t>- </a:t>
            </a:r>
            <a:r>
              <a:rPr lang="en-US" sz="2400" dirty="0">
                <a:solidFill>
                  <a:schemeClr val="accent5"/>
                </a:solidFill>
              </a:rPr>
              <a:t>oculomotor nucleus</a:t>
            </a:r>
            <a:r>
              <a:rPr lang="en-US" sz="2400" dirty="0" smtClean="0">
                <a:solidFill>
                  <a:schemeClr val="accent5"/>
                </a:solidFill>
              </a:rPr>
              <a:t>, </a:t>
            </a:r>
            <a:r>
              <a:rPr lang="en-US" sz="2400" dirty="0" err="1" smtClean="0">
                <a:solidFill>
                  <a:schemeClr val="accent5"/>
                </a:solidFill>
              </a:rPr>
              <a:t>cisternal</a:t>
            </a:r>
            <a:r>
              <a:rPr lang="en-US" sz="2400" dirty="0" smtClean="0">
                <a:solidFill>
                  <a:schemeClr val="accent5"/>
                </a:solidFill>
              </a:rPr>
              <a:t> </a:t>
            </a:r>
            <a:r>
              <a:rPr lang="en-US" sz="2400" dirty="0">
                <a:solidFill>
                  <a:schemeClr val="accent5"/>
                </a:solidFill>
              </a:rPr>
              <a:t>segment, </a:t>
            </a:r>
          </a:p>
          <a:p>
            <a:pPr>
              <a:defRPr/>
            </a:pPr>
            <a:r>
              <a:rPr lang="en-US" sz="2400" dirty="0">
                <a:solidFill>
                  <a:schemeClr val="accent5"/>
                </a:solidFill>
              </a:rPr>
              <a:t>	oculomotor cistern, cavernous sinus</a:t>
            </a:r>
          </a:p>
          <a:p>
            <a:pPr>
              <a:defRPr/>
            </a:pPr>
            <a:r>
              <a:rPr lang="en-US" sz="2400" dirty="0" smtClean="0">
                <a:solidFill>
                  <a:schemeClr val="tx2"/>
                </a:solidFill>
              </a:rPr>
              <a:t>CN IV </a:t>
            </a:r>
            <a:r>
              <a:rPr lang="en-US" sz="2400" dirty="0" smtClean="0">
                <a:solidFill>
                  <a:schemeClr val="accent5"/>
                </a:solidFill>
              </a:rPr>
              <a:t>- </a:t>
            </a:r>
            <a:r>
              <a:rPr lang="en-US" sz="2400" dirty="0">
                <a:solidFill>
                  <a:schemeClr val="accent5"/>
                </a:solidFill>
              </a:rPr>
              <a:t>nucleus, superior medullary velum, </a:t>
            </a:r>
          </a:p>
          <a:p>
            <a:pPr>
              <a:defRPr/>
            </a:pPr>
            <a:r>
              <a:rPr lang="en-US" sz="2400" dirty="0">
                <a:solidFill>
                  <a:schemeClr val="accent5"/>
                </a:solidFill>
              </a:rPr>
              <a:t>	expected course of </a:t>
            </a:r>
            <a:r>
              <a:rPr lang="en-US" sz="2400" dirty="0" err="1">
                <a:solidFill>
                  <a:schemeClr val="accent5"/>
                </a:solidFill>
              </a:rPr>
              <a:t>cisternal</a:t>
            </a:r>
            <a:r>
              <a:rPr lang="en-US" sz="2400" dirty="0">
                <a:solidFill>
                  <a:schemeClr val="accent5"/>
                </a:solidFill>
              </a:rPr>
              <a:t> segment,</a:t>
            </a:r>
          </a:p>
          <a:p>
            <a:pPr>
              <a:defRPr/>
            </a:pPr>
            <a:r>
              <a:rPr lang="en-US" sz="2400" dirty="0">
                <a:solidFill>
                  <a:schemeClr val="accent5"/>
                </a:solidFill>
              </a:rPr>
              <a:t>	cavernous sinus</a:t>
            </a:r>
          </a:p>
          <a:p>
            <a:pPr>
              <a:defRPr/>
            </a:pPr>
            <a:r>
              <a:rPr lang="en-US" sz="2400" dirty="0" smtClean="0">
                <a:solidFill>
                  <a:schemeClr val="tx2"/>
                </a:solidFill>
              </a:rPr>
              <a:t>CN V </a:t>
            </a:r>
            <a:r>
              <a:rPr lang="en-US" sz="2400" dirty="0" smtClean="0">
                <a:solidFill>
                  <a:schemeClr val="accent5"/>
                </a:solidFill>
              </a:rPr>
              <a:t>- motor </a:t>
            </a:r>
            <a:r>
              <a:rPr lang="en-US" sz="2400" dirty="0">
                <a:solidFill>
                  <a:schemeClr val="accent5"/>
                </a:solidFill>
              </a:rPr>
              <a:t>nucleus, </a:t>
            </a:r>
            <a:r>
              <a:rPr lang="en-US" sz="2400" dirty="0" err="1">
                <a:solidFill>
                  <a:schemeClr val="accent5"/>
                </a:solidFill>
              </a:rPr>
              <a:t>cisternal</a:t>
            </a:r>
            <a:r>
              <a:rPr lang="en-US" sz="2400" dirty="0">
                <a:solidFill>
                  <a:schemeClr val="accent5"/>
                </a:solidFill>
              </a:rPr>
              <a:t> segment, </a:t>
            </a:r>
          </a:p>
          <a:p>
            <a:pPr>
              <a:defRPr/>
            </a:pPr>
            <a:r>
              <a:rPr lang="en-US" sz="2400" dirty="0">
                <a:solidFill>
                  <a:schemeClr val="accent5"/>
                </a:solidFill>
              </a:rPr>
              <a:t>	Meckel’s cave, cavernous </a:t>
            </a:r>
            <a:r>
              <a:rPr lang="en-US" sz="2400" dirty="0" smtClean="0">
                <a:solidFill>
                  <a:schemeClr val="accent5"/>
                </a:solidFill>
              </a:rPr>
              <a:t>sinus</a:t>
            </a:r>
            <a:br>
              <a:rPr lang="en-US" sz="2400" dirty="0" smtClean="0">
                <a:solidFill>
                  <a:schemeClr val="accent5"/>
                </a:solidFill>
              </a:rPr>
            </a:br>
            <a:endParaRPr lang="en-US" sz="2400" dirty="0">
              <a:solidFill>
                <a:schemeClr val="accent5"/>
              </a:solidFill>
            </a:endParaRPr>
          </a:p>
          <a:p>
            <a:pPr>
              <a:defRPr/>
            </a:pPr>
            <a:r>
              <a:rPr lang="en-US" sz="2400" dirty="0" smtClean="0">
                <a:solidFill>
                  <a:schemeClr val="tx2"/>
                </a:solidFill>
              </a:rPr>
              <a:t>CN VI </a:t>
            </a:r>
            <a:r>
              <a:rPr lang="en-US" sz="2400" dirty="0" smtClean="0">
                <a:solidFill>
                  <a:schemeClr val="accent5"/>
                </a:solidFill>
              </a:rPr>
              <a:t>- </a:t>
            </a:r>
            <a:r>
              <a:rPr lang="en-US" sz="2400" dirty="0">
                <a:solidFill>
                  <a:schemeClr val="accent5"/>
                </a:solidFill>
              </a:rPr>
              <a:t>nucleus, </a:t>
            </a:r>
            <a:r>
              <a:rPr lang="en-US" sz="2400" dirty="0" err="1">
                <a:solidFill>
                  <a:schemeClr val="accent5"/>
                </a:solidFill>
              </a:rPr>
              <a:t>cisternal</a:t>
            </a:r>
            <a:r>
              <a:rPr lang="en-US" sz="2400" dirty="0">
                <a:solidFill>
                  <a:schemeClr val="accent5"/>
                </a:solidFill>
              </a:rPr>
              <a:t> segment, </a:t>
            </a:r>
          </a:p>
          <a:p>
            <a:pPr>
              <a:defRPr/>
            </a:pPr>
            <a:r>
              <a:rPr lang="en-US" sz="2400" dirty="0">
                <a:solidFill>
                  <a:schemeClr val="accent5"/>
                </a:solidFill>
              </a:rPr>
              <a:t>	cavernous sinus</a:t>
            </a:r>
          </a:p>
          <a:p>
            <a:pPr>
              <a:defRPr/>
            </a:pPr>
            <a:endParaRPr lang="en-US" dirty="0"/>
          </a:p>
        </p:txBody>
      </p:sp>
      <p:sp>
        <p:nvSpPr>
          <p:cNvPr id="7" name="TextBox 6"/>
          <p:cNvSpPr txBox="1"/>
          <p:nvPr/>
        </p:nvSpPr>
        <p:spPr>
          <a:xfrm>
            <a:off x="7239000" y="1774825"/>
            <a:ext cx="5181600" cy="4154984"/>
          </a:xfrm>
          <a:prstGeom prst="rect">
            <a:avLst/>
          </a:prstGeom>
          <a:noFill/>
        </p:spPr>
        <p:txBody>
          <a:bodyPr wrap="square">
            <a:spAutoFit/>
          </a:bodyPr>
          <a:lstStyle/>
          <a:p>
            <a:pPr>
              <a:defRPr/>
            </a:pPr>
            <a:r>
              <a:rPr lang="en-US" sz="2400" dirty="0" smtClean="0">
                <a:solidFill>
                  <a:schemeClr val="tx2"/>
                </a:solidFill>
              </a:rPr>
              <a:t>CN I </a:t>
            </a:r>
            <a:r>
              <a:rPr lang="en-US" sz="2400" dirty="0" smtClean="0">
                <a:solidFill>
                  <a:schemeClr val="accent5"/>
                </a:solidFill>
              </a:rPr>
              <a:t>- </a:t>
            </a:r>
            <a:r>
              <a:rPr lang="en-US" sz="2400" dirty="0">
                <a:solidFill>
                  <a:schemeClr val="accent5"/>
                </a:solidFill>
              </a:rPr>
              <a:t>cribriform plate</a:t>
            </a:r>
          </a:p>
          <a:p>
            <a:pPr>
              <a:defRPr/>
            </a:pPr>
            <a:r>
              <a:rPr lang="en-US" sz="2400" dirty="0" smtClean="0">
                <a:solidFill>
                  <a:schemeClr val="tx2"/>
                </a:solidFill>
              </a:rPr>
              <a:t>CN II </a:t>
            </a:r>
            <a:r>
              <a:rPr lang="en-US" sz="2400" dirty="0" smtClean="0">
                <a:solidFill>
                  <a:schemeClr val="accent5"/>
                </a:solidFill>
              </a:rPr>
              <a:t>- </a:t>
            </a:r>
            <a:r>
              <a:rPr lang="en-US" sz="2400" dirty="0">
                <a:solidFill>
                  <a:schemeClr val="accent5"/>
                </a:solidFill>
              </a:rPr>
              <a:t>optic canal, anterior clinoid</a:t>
            </a:r>
          </a:p>
          <a:p>
            <a:pPr>
              <a:defRPr/>
            </a:pPr>
            <a:r>
              <a:rPr lang="en-US" sz="2400" dirty="0" smtClean="0">
                <a:solidFill>
                  <a:schemeClr val="tx2"/>
                </a:solidFill>
              </a:rPr>
              <a:t>CN III </a:t>
            </a:r>
            <a:r>
              <a:rPr lang="en-US" sz="2400" dirty="0" smtClean="0">
                <a:solidFill>
                  <a:schemeClr val="accent5"/>
                </a:solidFill>
              </a:rPr>
              <a:t>- </a:t>
            </a:r>
            <a:r>
              <a:rPr lang="en-US" sz="2400" dirty="0">
                <a:solidFill>
                  <a:schemeClr val="accent5"/>
                </a:solidFill>
              </a:rPr>
              <a:t>superior orbital fissure</a:t>
            </a:r>
          </a:p>
          <a:p>
            <a:pPr>
              <a:defRPr/>
            </a:pPr>
            <a:r>
              <a:rPr lang="en-US" sz="2400" dirty="0" smtClean="0">
                <a:solidFill>
                  <a:schemeClr val="accent5"/>
                </a:solidFill>
              </a:rPr>
              <a:t/>
            </a:r>
            <a:br>
              <a:rPr lang="en-US" sz="2400" dirty="0" smtClean="0">
                <a:solidFill>
                  <a:schemeClr val="accent5"/>
                </a:solidFill>
              </a:rPr>
            </a:br>
            <a:r>
              <a:rPr lang="en-US" sz="2400" dirty="0" smtClean="0">
                <a:solidFill>
                  <a:schemeClr val="tx2"/>
                </a:solidFill>
              </a:rPr>
              <a:t>CN IV </a:t>
            </a:r>
            <a:r>
              <a:rPr lang="en-US" sz="2400" dirty="0" smtClean="0">
                <a:solidFill>
                  <a:schemeClr val="accent5"/>
                </a:solidFill>
              </a:rPr>
              <a:t>- </a:t>
            </a:r>
            <a:r>
              <a:rPr lang="en-US" sz="2400" dirty="0">
                <a:solidFill>
                  <a:schemeClr val="accent5"/>
                </a:solidFill>
              </a:rPr>
              <a:t>superior orbital fissure </a:t>
            </a:r>
          </a:p>
          <a:p>
            <a:pPr>
              <a:defRPr/>
            </a:pPr>
            <a:r>
              <a:rPr lang="en-US" sz="2400" dirty="0" smtClean="0">
                <a:solidFill>
                  <a:schemeClr val="accent5"/>
                </a:solidFill>
              </a:rPr>
              <a:t/>
            </a:r>
            <a:br>
              <a:rPr lang="en-US" sz="2400" dirty="0" smtClean="0">
                <a:solidFill>
                  <a:schemeClr val="accent5"/>
                </a:solidFill>
              </a:rPr>
            </a:br>
            <a:r>
              <a:rPr lang="en-US" sz="2400" dirty="0" smtClean="0">
                <a:solidFill>
                  <a:schemeClr val="accent5"/>
                </a:solidFill>
              </a:rPr>
              <a:t/>
            </a:r>
            <a:br>
              <a:rPr lang="en-US" sz="2400" dirty="0" smtClean="0">
                <a:solidFill>
                  <a:schemeClr val="accent5"/>
                </a:solidFill>
              </a:rPr>
            </a:br>
            <a:r>
              <a:rPr lang="en-US" sz="2400" dirty="0" smtClean="0">
                <a:solidFill>
                  <a:schemeClr val="tx2"/>
                </a:solidFill>
              </a:rPr>
              <a:t>CN V </a:t>
            </a:r>
            <a:r>
              <a:rPr lang="en-US" sz="2400" dirty="0" smtClean="0">
                <a:solidFill>
                  <a:schemeClr val="accent5"/>
                </a:solidFill>
              </a:rPr>
              <a:t>- </a:t>
            </a:r>
            <a:r>
              <a:rPr lang="en-US" sz="2400" dirty="0">
                <a:solidFill>
                  <a:schemeClr val="accent5"/>
                </a:solidFill>
              </a:rPr>
              <a:t>superior orbital fissure,</a:t>
            </a:r>
          </a:p>
          <a:p>
            <a:pPr>
              <a:defRPr/>
            </a:pPr>
            <a:r>
              <a:rPr lang="en-US" sz="2400" dirty="0">
                <a:solidFill>
                  <a:schemeClr val="accent5"/>
                </a:solidFill>
              </a:rPr>
              <a:t>	foramen </a:t>
            </a:r>
            <a:r>
              <a:rPr lang="en-US" sz="2400" dirty="0" err="1">
                <a:solidFill>
                  <a:schemeClr val="accent5"/>
                </a:solidFill>
              </a:rPr>
              <a:t>rotundum</a:t>
            </a:r>
            <a:endParaRPr lang="en-US" sz="2400" dirty="0">
              <a:solidFill>
                <a:schemeClr val="accent5"/>
              </a:solidFill>
            </a:endParaRPr>
          </a:p>
          <a:p>
            <a:pPr>
              <a:defRPr/>
            </a:pPr>
            <a:r>
              <a:rPr lang="en-US" sz="2400" dirty="0">
                <a:solidFill>
                  <a:schemeClr val="accent5"/>
                </a:solidFill>
              </a:rPr>
              <a:t>	foramen </a:t>
            </a:r>
            <a:r>
              <a:rPr lang="en-US" sz="2400" dirty="0" err="1">
                <a:solidFill>
                  <a:schemeClr val="accent5"/>
                </a:solidFill>
              </a:rPr>
              <a:t>ovale</a:t>
            </a:r>
            <a:endParaRPr lang="en-US" sz="2400" dirty="0">
              <a:solidFill>
                <a:schemeClr val="accent5"/>
              </a:solidFill>
            </a:endParaRPr>
          </a:p>
          <a:p>
            <a:pPr>
              <a:defRPr/>
            </a:pPr>
            <a:r>
              <a:rPr lang="en-US" sz="2400" dirty="0" smtClean="0">
                <a:solidFill>
                  <a:schemeClr val="tx2"/>
                </a:solidFill>
              </a:rPr>
              <a:t>CN VI </a:t>
            </a:r>
            <a:r>
              <a:rPr lang="en-US" sz="2400" dirty="0" smtClean="0">
                <a:solidFill>
                  <a:schemeClr val="accent5"/>
                </a:solidFill>
              </a:rPr>
              <a:t>- </a:t>
            </a:r>
            <a:r>
              <a:rPr lang="en-US" sz="2400" dirty="0">
                <a:solidFill>
                  <a:schemeClr val="accent5"/>
                </a:solidFill>
              </a:rPr>
              <a:t>superior orbital fissure</a:t>
            </a:r>
            <a:endParaRPr lang="en-US" sz="2000" dirty="0"/>
          </a:p>
        </p:txBody>
      </p:sp>
      <p:sp>
        <p:nvSpPr>
          <p:cNvPr id="6" name="Oval 5"/>
          <p:cNvSpPr/>
          <p:nvPr/>
        </p:nvSpPr>
        <p:spPr>
          <a:xfrm>
            <a:off x="11339513" y="76200"/>
            <a:ext cx="762000" cy="7620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rPr>
              <a:t>20 </a:t>
            </a:r>
            <a:r>
              <a:rPr lang="en-US" sz="1600" dirty="0">
                <a:solidFill>
                  <a:schemeClr val="bg1"/>
                </a:solidFill>
              </a:rPr>
              <a:t>min</a:t>
            </a:r>
          </a:p>
        </p:txBody>
      </p:sp>
      <p:cxnSp>
        <p:nvCxnSpPr>
          <p:cNvPr id="4" name="Straight Connector 3"/>
          <p:cNvCxnSpPr/>
          <p:nvPr/>
        </p:nvCxnSpPr>
        <p:spPr>
          <a:xfrm>
            <a:off x="7162800" y="533400"/>
            <a:ext cx="76200" cy="632460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bwMode="auto">
          <a:xfrm>
            <a:off x="8763000" y="314325"/>
            <a:ext cx="1295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lgn="l" rtl="0" eaLnBrk="1" fontAlgn="base" hangingPunct="1">
              <a:spcBef>
                <a:spcPct val="0"/>
              </a:spcBef>
              <a:spcAft>
                <a:spcPct val="0"/>
              </a:spcAft>
              <a:defRPr sz="40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defRPr/>
            </a:pPr>
            <a:r>
              <a:rPr lang="en-US" altLang="en-US" kern="0" dirty="0" smtClean="0"/>
              <a:t>CT</a:t>
            </a:r>
            <a:endParaRPr lang="en-US" altLang="en-US"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xit" presetSubtype="1" fill="hold" grpId="0" nodeType="withEffect">
                                  <p:stCondLst>
                                    <p:cond delay="0"/>
                                  </p:stCondLst>
                                  <p:childTnLst>
                                    <p:animEffect transition="out" filter="wheel(1)">
                                      <p:cBhvr>
                                        <p:cTn id="6" dur="1171200"/>
                                        <p:tgtEl>
                                          <p:spTgt spid="6"/>
                                        </p:tgtEl>
                                      </p:cBhvr>
                                    </p:animEffect>
                                    <p:set>
                                      <p:cBhvr>
                                        <p:cTn id="7" dur="1" fill="hold">
                                          <p:stCondLst>
                                            <p:cond delay="11711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smtClean="0"/>
              <a:t>Case 3 - CT</a:t>
            </a:r>
          </a:p>
        </p:txBody>
      </p:sp>
      <p:sp>
        <p:nvSpPr>
          <p:cNvPr id="8" name="Content Placeholder 2"/>
          <p:cNvSpPr txBox="1">
            <a:spLocks/>
          </p:cNvSpPr>
          <p:nvPr/>
        </p:nvSpPr>
        <p:spPr bwMode="auto">
          <a:xfrm>
            <a:off x="647700" y="1633538"/>
            <a:ext cx="3871913" cy="529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2767" tIns="61384" rIns="122767" bIns="61384">
            <a:spAutoFit/>
          </a:bodyPr>
          <a:lstStyle>
            <a:lvl1pPr marL="342900" indent="-342900" algn="l" rtl="0" eaLnBrk="1" fontAlgn="base" hangingPunct="1">
              <a:spcBef>
                <a:spcPct val="0"/>
              </a:spcBef>
              <a:spcAft>
                <a:spcPct val="25000"/>
              </a:spcAft>
              <a:buClr>
                <a:schemeClr val="tx2"/>
              </a:buClr>
              <a:buFont typeface="Wingdings" pitchFamily="2" charset="2"/>
              <a:buChar char="§"/>
              <a:defRPr sz="2800" b="0">
                <a:solidFill>
                  <a:schemeClr val="accent1"/>
                </a:solidFill>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0"/>
              </a:spcBef>
              <a:spcAft>
                <a:spcPct val="25000"/>
              </a:spcAft>
              <a:buClr>
                <a:schemeClr val="tx2"/>
              </a:buClr>
              <a:buFont typeface="Wingdings" pitchFamily="2" charset="2"/>
              <a:buChar char="§"/>
              <a:defRPr sz="2800" b="0">
                <a:solidFill>
                  <a:schemeClr val="accent1"/>
                </a:solidFill>
                <a:latin typeface="Times New Roman" panose="02020603050405020304" pitchFamily="18" charset="0"/>
                <a:cs typeface="Times New Roman" panose="02020603050405020304" pitchFamily="18" charset="0"/>
              </a:defRPr>
            </a:lvl2pPr>
            <a:lvl3pPr marL="1143000" indent="-228600" algn="l" rtl="0" eaLnBrk="1" fontAlgn="base" hangingPunct="1">
              <a:spcBef>
                <a:spcPct val="0"/>
              </a:spcBef>
              <a:spcAft>
                <a:spcPct val="25000"/>
              </a:spcAft>
              <a:buClr>
                <a:schemeClr val="tx2"/>
              </a:buClr>
              <a:buFont typeface="Wingdings" pitchFamily="2" charset="2"/>
              <a:buChar char="§"/>
              <a:defRPr sz="2400" b="0">
                <a:solidFill>
                  <a:schemeClr val="accent1"/>
                </a:solidFill>
                <a:latin typeface="Times New Roman" panose="02020603050405020304" pitchFamily="18" charset="0"/>
                <a:cs typeface="Times New Roman" panose="02020603050405020304" pitchFamily="18" charset="0"/>
              </a:defRPr>
            </a:lvl3pPr>
            <a:lvl4pPr marL="1600200" indent="-228600" algn="l" rtl="0" eaLnBrk="1" fontAlgn="base" hangingPunct="1">
              <a:spcBef>
                <a:spcPct val="0"/>
              </a:spcBef>
              <a:spcAft>
                <a:spcPct val="25000"/>
              </a:spcAft>
              <a:buClr>
                <a:schemeClr val="tx2"/>
              </a:buClr>
              <a:buFont typeface="Wingdings" pitchFamily="2" charset="2"/>
              <a:buChar char="§"/>
              <a:defRPr sz="2000" b="0">
                <a:solidFill>
                  <a:schemeClr val="accent1"/>
                </a:solidFill>
                <a:latin typeface="Times New Roman" panose="02020603050405020304" pitchFamily="18" charset="0"/>
                <a:cs typeface="Times New Roman" panose="02020603050405020304" pitchFamily="18" charset="0"/>
              </a:defRPr>
            </a:lvl4pPr>
            <a:lvl5pPr marL="2057400" indent="-228600" algn="l" rtl="0" eaLnBrk="1" fontAlgn="base" hangingPunct="1">
              <a:spcBef>
                <a:spcPct val="0"/>
              </a:spcBef>
              <a:spcAft>
                <a:spcPct val="25000"/>
              </a:spcAft>
              <a:buClr>
                <a:schemeClr val="tx2"/>
              </a:buClr>
              <a:buFont typeface="Wingdings" pitchFamily="2" charset="2"/>
              <a:buChar char="§"/>
              <a:defRPr sz="2000" b="0">
                <a:solidFill>
                  <a:schemeClr val="accent1"/>
                </a:solidFill>
                <a:latin typeface="Times New Roman" panose="02020603050405020304" pitchFamily="18" charset="0"/>
                <a:cs typeface="Times New Roman" panose="02020603050405020304" pitchFamily="18" charset="0"/>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a:lstStyle>
          <a:p>
            <a:pPr marL="514350" indent="-514350">
              <a:buFont typeface="Wingdings" pitchFamily="2" charset="2"/>
              <a:buAutoNum type="arabicPeriod"/>
              <a:defRPr/>
            </a:pPr>
            <a:r>
              <a:rPr lang="en-US" sz="3200" kern="0" dirty="0" smtClean="0"/>
              <a:t>What cranial nerve is at risk?</a:t>
            </a:r>
          </a:p>
          <a:p>
            <a:pPr marL="514350" indent="-514350">
              <a:buFont typeface="Wingdings" pitchFamily="2" charset="2"/>
              <a:buAutoNum type="arabicPeriod"/>
              <a:defRPr/>
            </a:pPr>
            <a:r>
              <a:rPr lang="en-US" sz="3200" kern="0" dirty="0" smtClean="0"/>
              <a:t>Which lobes of the brain are most susceptible to injury due to deceleration such as seen in an MVC? Why? </a:t>
            </a:r>
            <a:endParaRPr lang="en-US" sz="3200" u="sng" kern="0" dirty="0" smtClean="0"/>
          </a:p>
          <a:p>
            <a:pPr marL="514350" indent="-514350">
              <a:buFont typeface="Wingdings" pitchFamily="2" charset="2"/>
              <a:buAutoNum type="arabicPeriod"/>
              <a:defRPr/>
            </a:pPr>
            <a:endParaRPr lang="en-US" sz="3200" u="sng" kern="0" dirty="0"/>
          </a:p>
        </p:txBody>
      </p:sp>
      <p:cxnSp>
        <p:nvCxnSpPr>
          <p:cNvPr id="9" name="Straight Arrow Connector 8"/>
          <p:cNvCxnSpPr/>
          <p:nvPr/>
        </p:nvCxnSpPr>
        <p:spPr>
          <a:xfrm flipH="1">
            <a:off x="7948613" y="2590800"/>
            <a:ext cx="838200" cy="1271588"/>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6629" name="Picture 2"/>
          <p:cNvPicPr>
            <a:picLocks noChangeAspect="1"/>
          </p:cNvPicPr>
          <p:nvPr/>
        </p:nvPicPr>
        <p:blipFill>
          <a:blip r:embed="rId3">
            <a:extLst>
              <a:ext uri="{28A0092B-C50C-407E-A947-70E740481C1C}">
                <a14:useLocalDpi xmlns:a14="http://schemas.microsoft.com/office/drawing/2010/main" val="0"/>
              </a:ext>
            </a:extLst>
          </a:blip>
          <a:srcRect l="12500" t="13235" r="4688" b="22702"/>
          <a:stretch>
            <a:fillRect/>
          </a:stretch>
        </p:blipFill>
        <p:spPr bwMode="auto">
          <a:xfrm>
            <a:off x="4748213" y="1665288"/>
            <a:ext cx="40386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5"/>
          <p:cNvPicPr>
            <a:picLocks noChangeAspect="1"/>
          </p:cNvPicPr>
          <p:nvPr/>
        </p:nvPicPr>
        <p:blipFill>
          <a:blip r:embed="rId4">
            <a:extLst>
              <a:ext uri="{28A0092B-C50C-407E-A947-70E740481C1C}">
                <a14:useLocalDpi xmlns:a14="http://schemas.microsoft.com/office/drawing/2010/main" val="0"/>
              </a:ext>
            </a:extLst>
          </a:blip>
          <a:srcRect l="10516" t="7851" r="20732" b="6212"/>
          <a:stretch>
            <a:fillRect/>
          </a:stretch>
        </p:blipFill>
        <p:spPr bwMode="auto">
          <a:xfrm>
            <a:off x="8634413" y="1633538"/>
            <a:ext cx="33528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TextBox 1"/>
          <p:cNvSpPr txBox="1">
            <a:spLocks noChangeArrowheads="1"/>
          </p:cNvSpPr>
          <p:nvPr/>
        </p:nvSpPr>
        <p:spPr bwMode="auto">
          <a:xfrm>
            <a:off x="6210300" y="4937125"/>
            <a:ext cx="1033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Axial CT</a:t>
            </a:r>
          </a:p>
        </p:txBody>
      </p:sp>
      <p:sp>
        <p:nvSpPr>
          <p:cNvPr id="26632" name="TextBox 9"/>
          <p:cNvSpPr txBox="1">
            <a:spLocks noChangeArrowheads="1"/>
          </p:cNvSpPr>
          <p:nvPr/>
        </p:nvSpPr>
        <p:spPr bwMode="auto">
          <a:xfrm>
            <a:off x="9982200" y="5857875"/>
            <a:ext cx="143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3D reformat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smtClean="0"/>
              <a:t>Case 3: Answers</a:t>
            </a:r>
          </a:p>
        </p:txBody>
      </p:sp>
      <p:pic>
        <p:nvPicPr>
          <p:cNvPr id="28675" name="Picture 3"/>
          <p:cNvPicPr>
            <a:picLocks noChangeAspect="1"/>
          </p:cNvPicPr>
          <p:nvPr/>
        </p:nvPicPr>
        <p:blipFill>
          <a:blip r:embed="rId3">
            <a:extLst>
              <a:ext uri="{28A0092B-C50C-407E-A947-70E740481C1C}">
                <a14:useLocalDpi xmlns:a14="http://schemas.microsoft.com/office/drawing/2010/main" val="0"/>
              </a:ext>
            </a:extLst>
          </a:blip>
          <a:srcRect l="9412" t="3125" r="7776"/>
          <a:stretch>
            <a:fillRect/>
          </a:stretch>
        </p:blipFill>
        <p:spPr bwMode="auto">
          <a:xfrm>
            <a:off x="4699000" y="1349375"/>
            <a:ext cx="3648075"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6" name="Picture 4"/>
          <p:cNvPicPr>
            <a:picLocks noChangeAspect="1"/>
          </p:cNvPicPr>
          <p:nvPr/>
        </p:nvPicPr>
        <p:blipFill>
          <a:blip r:embed="rId4">
            <a:extLst>
              <a:ext uri="{28A0092B-C50C-407E-A947-70E740481C1C}">
                <a14:useLocalDpi xmlns:a14="http://schemas.microsoft.com/office/drawing/2010/main" val="0"/>
              </a:ext>
            </a:extLst>
          </a:blip>
          <a:srcRect l="23438" t="28125" r="25000" b="15625"/>
          <a:stretch>
            <a:fillRect/>
          </a:stretch>
        </p:blipFill>
        <p:spPr bwMode="auto">
          <a:xfrm>
            <a:off x="8370888" y="1347788"/>
            <a:ext cx="3821112" cy="416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Rectangle 2"/>
          <p:cNvSpPr>
            <a:spLocks noChangeArrowheads="1"/>
          </p:cNvSpPr>
          <p:nvPr/>
        </p:nvSpPr>
        <p:spPr bwMode="auto">
          <a:xfrm>
            <a:off x="5961063" y="5616575"/>
            <a:ext cx="1123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Axial CT</a:t>
            </a:r>
          </a:p>
        </p:txBody>
      </p:sp>
      <p:sp>
        <p:nvSpPr>
          <p:cNvPr id="28678" name="Rectangle 2"/>
          <p:cNvSpPr>
            <a:spLocks noChangeArrowheads="1"/>
          </p:cNvSpPr>
          <p:nvPr/>
        </p:nvSpPr>
        <p:spPr bwMode="auto">
          <a:xfrm>
            <a:off x="9601200" y="5616575"/>
            <a:ext cx="1447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Coronal CT</a:t>
            </a:r>
          </a:p>
        </p:txBody>
      </p:sp>
      <p:pic>
        <p:nvPicPr>
          <p:cNvPr id="28679" name="Picture 2"/>
          <p:cNvPicPr>
            <a:picLocks noChangeAspect="1" noChangeArrowheads="1"/>
          </p:cNvPicPr>
          <p:nvPr/>
        </p:nvPicPr>
        <p:blipFill>
          <a:blip r:embed="rId5">
            <a:extLst>
              <a:ext uri="{28A0092B-C50C-407E-A947-70E740481C1C}">
                <a14:useLocalDpi xmlns:a14="http://schemas.microsoft.com/office/drawing/2010/main" val="0"/>
              </a:ext>
            </a:extLst>
          </a:blip>
          <a:srcRect l="9988" t="11076" r="8128" b="35997"/>
          <a:stretch>
            <a:fillRect/>
          </a:stretch>
        </p:blipFill>
        <p:spPr bwMode="auto">
          <a:xfrm>
            <a:off x="758825" y="1676400"/>
            <a:ext cx="3033713" cy="19605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8680" name="Group 3"/>
          <p:cNvGrpSpPr>
            <a:grpSpLocks/>
          </p:cNvGrpSpPr>
          <p:nvPr/>
        </p:nvGrpSpPr>
        <p:grpSpPr bwMode="auto">
          <a:xfrm>
            <a:off x="727075" y="3733800"/>
            <a:ext cx="3227388" cy="2754313"/>
            <a:chOff x="4210618" y="1067188"/>
            <a:chExt cx="4458836" cy="3958766"/>
          </a:xfrm>
        </p:grpSpPr>
        <p:pic>
          <p:nvPicPr>
            <p:cNvPr id="28683" name="Picture 2"/>
            <p:cNvPicPr>
              <a:picLocks noChangeAspect="1" noChangeArrowheads="1"/>
            </p:cNvPicPr>
            <p:nvPr/>
          </p:nvPicPr>
          <p:blipFill>
            <a:blip r:embed="rId6">
              <a:extLst>
                <a:ext uri="{28A0092B-C50C-407E-A947-70E740481C1C}">
                  <a14:useLocalDpi xmlns:a14="http://schemas.microsoft.com/office/drawing/2010/main" val="0"/>
                </a:ext>
              </a:extLst>
            </a:blip>
            <a:srcRect l="17114" t="28502" r="14481" b="10767"/>
            <a:stretch>
              <a:fillRect/>
            </a:stretch>
          </p:blipFill>
          <p:spPr bwMode="auto">
            <a:xfrm>
              <a:off x="4210618" y="1067188"/>
              <a:ext cx="4458836" cy="3958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4" name="TextBox 9"/>
            <p:cNvSpPr txBox="1">
              <a:spLocks noChangeArrowheads="1"/>
            </p:cNvSpPr>
            <p:nvPr/>
          </p:nvSpPr>
          <p:spPr bwMode="auto">
            <a:xfrm>
              <a:off x="6383454" y="2714338"/>
              <a:ext cx="1524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r>
                <a:rPr lang="en-US" altLang="en-US" sz="1000">
                  <a:solidFill>
                    <a:srgbClr val="FFF6E0"/>
                  </a:solidFill>
                </a:rPr>
                <a:t>g</a:t>
              </a:r>
            </a:p>
          </p:txBody>
        </p:sp>
        <p:sp>
          <p:nvSpPr>
            <p:cNvPr id="28685" name="TextBox 11"/>
            <p:cNvSpPr txBox="1">
              <a:spLocks noChangeArrowheads="1"/>
            </p:cNvSpPr>
            <p:nvPr/>
          </p:nvSpPr>
          <p:spPr bwMode="auto">
            <a:xfrm>
              <a:off x="6688254" y="2790538"/>
              <a:ext cx="1524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r>
                <a:rPr lang="en-US" altLang="en-US" sz="1000">
                  <a:solidFill>
                    <a:srgbClr val="FFF6E0"/>
                  </a:solidFill>
                </a:rPr>
                <a:t>o</a:t>
              </a:r>
            </a:p>
          </p:txBody>
        </p:sp>
        <p:cxnSp>
          <p:nvCxnSpPr>
            <p:cNvPr id="14" name="Straight Arrow Connector 13"/>
            <p:cNvCxnSpPr/>
            <p:nvPr/>
          </p:nvCxnSpPr>
          <p:spPr>
            <a:xfrm flipH="1" flipV="1">
              <a:off x="6612205" y="3020331"/>
              <a:ext cx="76762" cy="531639"/>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5241436" y="3323799"/>
              <a:ext cx="151334" cy="22817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6002487" y="3401377"/>
              <a:ext cx="76762" cy="228171"/>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grpSp>
      <p:sp>
        <p:nvSpPr>
          <p:cNvPr id="28681" name="Rectangle 2"/>
          <p:cNvSpPr>
            <a:spLocks noChangeArrowheads="1"/>
          </p:cNvSpPr>
          <p:nvPr/>
        </p:nvSpPr>
        <p:spPr bwMode="auto">
          <a:xfrm>
            <a:off x="1582738" y="1674813"/>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Coronal CT</a:t>
            </a:r>
          </a:p>
        </p:txBody>
      </p:sp>
      <p:sp>
        <p:nvSpPr>
          <p:cNvPr id="28682" name="Rectangle 2"/>
          <p:cNvSpPr>
            <a:spLocks noChangeArrowheads="1"/>
          </p:cNvSpPr>
          <p:nvPr/>
        </p:nvSpPr>
        <p:spPr bwMode="auto">
          <a:xfrm>
            <a:off x="1663700" y="3757613"/>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Coronal MR</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3"/>
          <p:cNvPicPr>
            <a:picLocks noChangeAspect="1"/>
          </p:cNvPicPr>
          <p:nvPr/>
        </p:nvPicPr>
        <p:blipFill>
          <a:blip r:embed="rId3">
            <a:extLst>
              <a:ext uri="{28A0092B-C50C-407E-A947-70E740481C1C}">
                <a14:useLocalDpi xmlns:a14="http://schemas.microsoft.com/office/drawing/2010/main" val="0"/>
              </a:ext>
            </a:extLst>
          </a:blip>
          <a:srcRect l="10536" t="14133" r="12308" b="20370"/>
          <a:stretch>
            <a:fillRect/>
          </a:stretch>
        </p:blipFill>
        <p:spPr bwMode="auto">
          <a:xfrm>
            <a:off x="5029200" y="1460500"/>
            <a:ext cx="4953000"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Picture 2"/>
          <p:cNvPicPr>
            <a:picLocks noChangeAspect="1"/>
          </p:cNvPicPr>
          <p:nvPr/>
        </p:nvPicPr>
        <p:blipFill>
          <a:blip r:embed="rId4">
            <a:extLst>
              <a:ext uri="{28A0092B-C50C-407E-A947-70E740481C1C}">
                <a14:useLocalDpi xmlns:a14="http://schemas.microsoft.com/office/drawing/2010/main" val="0"/>
              </a:ext>
            </a:extLst>
          </a:blip>
          <a:srcRect l="10742" t="18752" r="14258" b="18748"/>
          <a:stretch>
            <a:fillRect/>
          </a:stretch>
        </p:blipFill>
        <p:spPr bwMode="auto">
          <a:xfrm>
            <a:off x="4384675" y="3829050"/>
            <a:ext cx="2909888"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1"/>
          <p:cNvPicPr>
            <a:picLocks noChangeAspect="1"/>
          </p:cNvPicPr>
          <p:nvPr/>
        </p:nvPicPr>
        <p:blipFill>
          <a:blip r:embed="rId5">
            <a:extLst>
              <a:ext uri="{28A0092B-C50C-407E-A947-70E740481C1C}">
                <a14:useLocalDpi xmlns:a14="http://schemas.microsoft.com/office/drawing/2010/main" val="0"/>
              </a:ext>
            </a:extLst>
          </a:blip>
          <a:srcRect l="10962" t="16068" r="9564" b="20900"/>
          <a:stretch>
            <a:fillRect/>
          </a:stretch>
        </p:blipFill>
        <p:spPr bwMode="auto">
          <a:xfrm>
            <a:off x="7724775" y="3860800"/>
            <a:ext cx="2979738" cy="236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Title 1"/>
          <p:cNvSpPr>
            <a:spLocks noGrp="1"/>
          </p:cNvSpPr>
          <p:nvPr>
            <p:ph type="title"/>
          </p:nvPr>
        </p:nvSpPr>
        <p:spPr/>
        <p:txBody>
          <a:bodyPr/>
          <a:lstStyle/>
          <a:p>
            <a:r>
              <a:rPr lang="en-US" altLang="en-US" smtClean="0"/>
              <a:t>Case 4 – CT/MRI</a:t>
            </a:r>
          </a:p>
        </p:txBody>
      </p:sp>
      <p:sp>
        <p:nvSpPr>
          <p:cNvPr id="8" name="Content Placeholder 2"/>
          <p:cNvSpPr txBox="1">
            <a:spLocks/>
          </p:cNvSpPr>
          <p:nvPr/>
        </p:nvSpPr>
        <p:spPr bwMode="auto">
          <a:xfrm>
            <a:off x="654050" y="1690688"/>
            <a:ext cx="3870325"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2767" tIns="61384" rIns="122767" bIns="61384">
            <a:spAutoFit/>
          </a:bodyPr>
          <a:lstStyle>
            <a:lvl1pPr marL="342900" indent="-342900" algn="l" rtl="0" eaLnBrk="1" fontAlgn="base" hangingPunct="1">
              <a:spcBef>
                <a:spcPct val="0"/>
              </a:spcBef>
              <a:spcAft>
                <a:spcPct val="25000"/>
              </a:spcAft>
              <a:buClr>
                <a:schemeClr val="tx2"/>
              </a:buClr>
              <a:buFont typeface="Wingdings" pitchFamily="2" charset="2"/>
              <a:buChar char="§"/>
              <a:defRPr sz="2800" b="0">
                <a:solidFill>
                  <a:schemeClr val="accent1"/>
                </a:solidFill>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0"/>
              </a:spcBef>
              <a:spcAft>
                <a:spcPct val="25000"/>
              </a:spcAft>
              <a:buClr>
                <a:schemeClr val="tx2"/>
              </a:buClr>
              <a:buFont typeface="Wingdings" pitchFamily="2" charset="2"/>
              <a:buChar char="§"/>
              <a:defRPr sz="2800" b="0">
                <a:solidFill>
                  <a:schemeClr val="accent1"/>
                </a:solidFill>
                <a:latin typeface="Times New Roman" panose="02020603050405020304" pitchFamily="18" charset="0"/>
                <a:cs typeface="Times New Roman" panose="02020603050405020304" pitchFamily="18" charset="0"/>
              </a:defRPr>
            </a:lvl2pPr>
            <a:lvl3pPr marL="1143000" indent="-228600" algn="l" rtl="0" eaLnBrk="1" fontAlgn="base" hangingPunct="1">
              <a:spcBef>
                <a:spcPct val="0"/>
              </a:spcBef>
              <a:spcAft>
                <a:spcPct val="25000"/>
              </a:spcAft>
              <a:buClr>
                <a:schemeClr val="tx2"/>
              </a:buClr>
              <a:buFont typeface="Wingdings" pitchFamily="2" charset="2"/>
              <a:buChar char="§"/>
              <a:defRPr sz="2400" b="0">
                <a:solidFill>
                  <a:schemeClr val="accent1"/>
                </a:solidFill>
                <a:latin typeface="Times New Roman" panose="02020603050405020304" pitchFamily="18" charset="0"/>
                <a:cs typeface="Times New Roman" panose="02020603050405020304" pitchFamily="18" charset="0"/>
              </a:defRPr>
            </a:lvl3pPr>
            <a:lvl4pPr marL="1600200" indent="-228600" algn="l" rtl="0" eaLnBrk="1" fontAlgn="base" hangingPunct="1">
              <a:spcBef>
                <a:spcPct val="0"/>
              </a:spcBef>
              <a:spcAft>
                <a:spcPct val="25000"/>
              </a:spcAft>
              <a:buClr>
                <a:schemeClr val="tx2"/>
              </a:buClr>
              <a:buFont typeface="Wingdings" pitchFamily="2" charset="2"/>
              <a:buChar char="§"/>
              <a:defRPr sz="2000" b="0">
                <a:solidFill>
                  <a:schemeClr val="accent1"/>
                </a:solidFill>
                <a:latin typeface="Times New Roman" panose="02020603050405020304" pitchFamily="18" charset="0"/>
                <a:cs typeface="Times New Roman" panose="02020603050405020304" pitchFamily="18" charset="0"/>
              </a:defRPr>
            </a:lvl4pPr>
            <a:lvl5pPr marL="2057400" indent="-228600" algn="l" rtl="0" eaLnBrk="1" fontAlgn="base" hangingPunct="1">
              <a:spcBef>
                <a:spcPct val="0"/>
              </a:spcBef>
              <a:spcAft>
                <a:spcPct val="25000"/>
              </a:spcAft>
              <a:buClr>
                <a:schemeClr val="tx2"/>
              </a:buClr>
              <a:buFont typeface="Wingdings" pitchFamily="2" charset="2"/>
              <a:buChar char="§"/>
              <a:defRPr sz="2000" b="0">
                <a:solidFill>
                  <a:schemeClr val="accent1"/>
                </a:solidFill>
                <a:latin typeface="Times New Roman" panose="02020603050405020304" pitchFamily="18" charset="0"/>
                <a:cs typeface="Times New Roman" panose="02020603050405020304" pitchFamily="18" charset="0"/>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a:lstStyle>
          <a:p>
            <a:pPr marL="514350" indent="-514350">
              <a:buFont typeface="Wingdings" pitchFamily="2" charset="2"/>
              <a:buAutoNum type="arabicPeriod"/>
              <a:defRPr/>
            </a:pPr>
            <a:r>
              <a:rPr lang="en-US" sz="2400" dirty="0" smtClean="0"/>
              <a:t>Name the skull base foramen labelled by the arrow.</a:t>
            </a:r>
          </a:p>
          <a:p>
            <a:pPr marL="514350" indent="-514350">
              <a:buFont typeface="Wingdings" pitchFamily="2" charset="2"/>
              <a:buAutoNum type="arabicPeriod"/>
              <a:defRPr/>
            </a:pPr>
            <a:r>
              <a:rPr lang="en-US" sz="2400" dirty="0" smtClean="0"/>
              <a:t>What nerve passes through this structure?</a:t>
            </a:r>
          </a:p>
          <a:p>
            <a:pPr marL="514350" indent="-514350">
              <a:buFont typeface="Wingdings" pitchFamily="2" charset="2"/>
              <a:buAutoNum type="arabicPeriod"/>
              <a:defRPr/>
            </a:pPr>
            <a:r>
              <a:rPr lang="en-US" sz="2400" dirty="0" smtClean="0"/>
              <a:t>What would be the distribution of this patient’s pain?</a:t>
            </a:r>
            <a:endParaRPr lang="en-US" sz="2400" u="sng" kern="0" dirty="0"/>
          </a:p>
        </p:txBody>
      </p:sp>
      <p:cxnSp>
        <p:nvCxnSpPr>
          <p:cNvPr id="10" name="Straight Arrow Connector 9"/>
          <p:cNvCxnSpPr/>
          <p:nvPr/>
        </p:nvCxnSpPr>
        <p:spPr>
          <a:xfrm flipH="1" flipV="1">
            <a:off x="9677400" y="5334000"/>
            <a:ext cx="533400" cy="76200"/>
          </a:xfrm>
          <a:prstGeom prst="straightConnector1">
            <a:avLst/>
          </a:prstGeom>
          <a:ln w="9525" cap="flat" cmpd="sng" algn="ctr">
            <a:solidFill>
              <a:srgbClr val="FFFF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Straight Arrow Connector 10"/>
          <p:cNvCxnSpPr/>
          <p:nvPr/>
        </p:nvCxnSpPr>
        <p:spPr>
          <a:xfrm flipH="1" flipV="1">
            <a:off x="8194675" y="2651125"/>
            <a:ext cx="228600" cy="449263"/>
          </a:xfrm>
          <a:prstGeom prst="straightConnector1">
            <a:avLst/>
          </a:prstGeom>
          <a:ln w="9525" cap="flat" cmpd="sng" algn="ctr">
            <a:solidFill>
              <a:srgbClr val="FFFF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729" name="TextBox 8"/>
          <p:cNvSpPr txBox="1">
            <a:spLocks noChangeArrowheads="1"/>
          </p:cNvSpPr>
          <p:nvPr/>
        </p:nvSpPr>
        <p:spPr bwMode="auto">
          <a:xfrm>
            <a:off x="6878638" y="1477963"/>
            <a:ext cx="1316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Coronal CT</a:t>
            </a:r>
          </a:p>
        </p:txBody>
      </p:sp>
      <p:sp>
        <p:nvSpPr>
          <p:cNvPr id="30730" name="TextBox 11"/>
          <p:cNvSpPr txBox="1">
            <a:spLocks noChangeArrowheads="1"/>
          </p:cNvSpPr>
          <p:nvPr/>
        </p:nvSpPr>
        <p:spPr bwMode="auto">
          <a:xfrm>
            <a:off x="5364163" y="6280150"/>
            <a:ext cx="1296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Coronal T1</a:t>
            </a:r>
          </a:p>
        </p:txBody>
      </p:sp>
      <p:cxnSp>
        <p:nvCxnSpPr>
          <p:cNvPr id="15" name="Straight Arrow Connector 14"/>
          <p:cNvCxnSpPr/>
          <p:nvPr/>
        </p:nvCxnSpPr>
        <p:spPr>
          <a:xfrm flipH="1" flipV="1">
            <a:off x="6400800" y="5295900"/>
            <a:ext cx="533400" cy="76200"/>
          </a:xfrm>
          <a:prstGeom prst="straightConnector1">
            <a:avLst/>
          </a:prstGeom>
          <a:ln w="9525" cap="flat" cmpd="sng" algn="ctr">
            <a:solidFill>
              <a:srgbClr val="FFFF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732" name="TextBox 11"/>
          <p:cNvSpPr txBox="1">
            <a:spLocks noChangeArrowheads="1"/>
          </p:cNvSpPr>
          <p:nvPr/>
        </p:nvSpPr>
        <p:spPr bwMode="auto">
          <a:xfrm>
            <a:off x="7620000" y="6265863"/>
            <a:ext cx="19256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Coronal T1 FS +C</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
          <p:cNvGrpSpPr>
            <a:grpSpLocks/>
          </p:cNvGrpSpPr>
          <p:nvPr/>
        </p:nvGrpSpPr>
        <p:grpSpPr bwMode="auto">
          <a:xfrm>
            <a:off x="1441450" y="1577975"/>
            <a:ext cx="4337050" cy="4206875"/>
            <a:chOff x="5869199" y="1351309"/>
            <a:chExt cx="3488788" cy="3196883"/>
          </a:xfrm>
        </p:grpSpPr>
        <p:pic>
          <p:nvPicPr>
            <p:cNvPr id="32780" name="Picture 3"/>
            <p:cNvPicPr>
              <a:picLocks noChangeAspect="1" noChangeArrowheads="1"/>
            </p:cNvPicPr>
            <p:nvPr/>
          </p:nvPicPr>
          <p:blipFill>
            <a:blip r:embed="rId3">
              <a:extLst>
                <a:ext uri="{28A0092B-C50C-407E-A947-70E740481C1C}">
                  <a14:useLocalDpi xmlns:a14="http://schemas.microsoft.com/office/drawing/2010/main" val="0"/>
                </a:ext>
              </a:extLst>
            </a:blip>
            <a:srcRect l="24519" t="36572" r="62637" b="28029"/>
            <a:stretch>
              <a:fillRect/>
            </a:stretch>
          </p:blipFill>
          <p:spPr bwMode="auto">
            <a:xfrm>
              <a:off x="5869199" y="1351309"/>
              <a:ext cx="3488788" cy="31968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Freeform 3"/>
            <p:cNvSpPr/>
            <p:nvPr/>
          </p:nvSpPr>
          <p:spPr>
            <a:xfrm>
              <a:off x="8114180" y="4057199"/>
              <a:ext cx="102161" cy="92890"/>
            </a:xfrm>
            <a:custGeom>
              <a:avLst/>
              <a:gdLst>
                <a:gd name="connsiteX0" fmla="*/ 53688 w 76548"/>
                <a:gd name="connsiteY0" fmla="*/ 871 h 69451"/>
                <a:gd name="connsiteX1" fmla="*/ 348 w 76548"/>
                <a:gd name="connsiteY1" fmla="*/ 31351 h 69451"/>
                <a:gd name="connsiteX2" fmla="*/ 7968 w 76548"/>
                <a:gd name="connsiteY2" fmla="*/ 54211 h 69451"/>
                <a:gd name="connsiteX3" fmla="*/ 53688 w 76548"/>
                <a:gd name="connsiteY3" fmla="*/ 69451 h 69451"/>
                <a:gd name="connsiteX4" fmla="*/ 76548 w 76548"/>
                <a:gd name="connsiteY4" fmla="*/ 61831 h 69451"/>
                <a:gd name="connsiteX5" fmla="*/ 76548 w 76548"/>
                <a:gd name="connsiteY5" fmla="*/ 16111 h 69451"/>
                <a:gd name="connsiteX6" fmla="*/ 53688 w 76548"/>
                <a:gd name="connsiteY6" fmla="*/ 8491 h 69451"/>
                <a:gd name="connsiteX7" fmla="*/ 53688 w 76548"/>
                <a:gd name="connsiteY7" fmla="*/ 871 h 6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548" h="69451">
                  <a:moveTo>
                    <a:pt x="53688" y="871"/>
                  </a:moveTo>
                  <a:cubicBezTo>
                    <a:pt x="44798" y="4681"/>
                    <a:pt x="5374" y="1194"/>
                    <a:pt x="348" y="31351"/>
                  </a:cubicBezTo>
                  <a:cubicBezTo>
                    <a:pt x="-972" y="39274"/>
                    <a:pt x="1432" y="49542"/>
                    <a:pt x="7968" y="54211"/>
                  </a:cubicBezTo>
                  <a:cubicBezTo>
                    <a:pt x="21040" y="63548"/>
                    <a:pt x="53688" y="69451"/>
                    <a:pt x="53688" y="69451"/>
                  </a:cubicBezTo>
                  <a:cubicBezTo>
                    <a:pt x="61308" y="66911"/>
                    <a:pt x="70868" y="67511"/>
                    <a:pt x="76548" y="61831"/>
                  </a:cubicBezTo>
                  <a:cubicBezTo>
                    <a:pt x="86708" y="51671"/>
                    <a:pt x="86708" y="26271"/>
                    <a:pt x="76548" y="16111"/>
                  </a:cubicBezTo>
                  <a:cubicBezTo>
                    <a:pt x="70868" y="10431"/>
                    <a:pt x="60872" y="12083"/>
                    <a:pt x="53688" y="8491"/>
                  </a:cubicBezTo>
                  <a:cubicBezTo>
                    <a:pt x="50475" y="6885"/>
                    <a:pt x="62578" y="-2939"/>
                    <a:pt x="53688" y="871"/>
                  </a:cubicBezTo>
                  <a:close/>
                </a:path>
              </a:pathLst>
            </a:custGeom>
            <a:solidFill>
              <a:srgbClr val="FFC000">
                <a:alpha val="24000"/>
              </a:srgbClr>
            </a:solidFill>
            <a:ln w="31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32771" name="Group 7"/>
          <p:cNvGrpSpPr>
            <a:grpSpLocks/>
          </p:cNvGrpSpPr>
          <p:nvPr/>
        </p:nvGrpSpPr>
        <p:grpSpPr bwMode="auto">
          <a:xfrm>
            <a:off x="6372225" y="1600200"/>
            <a:ext cx="4419600" cy="4187825"/>
            <a:chOff x="8754639" y="3789708"/>
            <a:chExt cx="3149600" cy="3014968"/>
          </a:xfrm>
        </p:grpSpPr>
        <p:pic>
          <p:nvPicPr>
            <p:cNvPr id="32778" name="Picture 2"/>
            <p:cNvPicPr>
              <a:picLocks noChangeAspect="1" noChangeArrowheads="1"/>
            </p:cNvPicPr>
            <p:nvPr/>
          </p:nvPicPr>
          <p:blipFill>
            <a:blip r:embed="rId4">
              <a:extLst>
                <a:ext uri="{28A0092B-C50C-407E-A947-70E740481C1C}">
                  <a14:useLocalDpi xmlns:a14="http://schemas.microsoft.com/office/drawing/2010/main" val="0"/>
                </a:ext>
              </a:extLst>
            </a:blip>
            <a:srcRect l="25230" t="37500" r="62225" b="26384"/>
            <a:stretch>
              <a:fillRect/>
            </a:stretch>
          </p:blipFill>
          <p:spPr bwMode="auto">
            <a:xfrm>
              <a:off x="8754639" y="3789708"/>
              <a:ext cx="3149600" cy="30149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Freeform 4"/>
            <p:cNvSpPr/>
            <p:nvPr/>
          </p:nvSpPr>
          <p:spPr>
            <a:xfrm>
              <a:off x="9759253" y="4545165"/>
              <a:ext cx="102951" cy="185150"/>
            </a:xfrm>
            <a:custGeom>
              <a:avLst/>
              <a:gdLst>
                <a:gd name="connsiteX0" fmla="*/ 54581 w 77441"/>
                <a:gd name="connsiteY0" fmla="*/ 1199 h 138640"/>
                <a:gd name="connsiteX1" fmla="*/ 62201 w 77441"/>
                <a:gd name="connsiteY1" fmla="*/ 39299 h 138640"/>
                <a:gd name="connsiteX2" fmla="*/ 77441 w 77441"/>
                <a:gd name="connsiteY2" fmla="*/ 123119 h 138640"/>
                <a:gd name="connsiteX3" fmla="*/ 54581 w 77441"/>
                <a:gd name="connsiteY3" fmla="*/ 138359 h 138640"/>
                <a:gd name="connsiteX4" fmla="*/ 8861 w 77441"/>
                <a:gd name="connsiteY4" fmla="*/ 107879 h 138640"/>
                <a:gd name="connsiteX5" fmla="*/ 1241 w 77441"/>
                <a:gd name="connsiteY5" fmla="*/ 16439 h 138640"/>
                <a:gd name="connsiteX6" fmla="*/ 24101 w 77441"/>
                <a:gd name="connsiteY6" fmla="*/ 8819 h 138640"/>
                <a:gd name="connsiteX7" fmla="*/ 54581 w 77441"/>
                <a:gd name="connsiteY7" fmla="*/ 1199 h 13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441" h="138640">
                  <a:moveTo>
                    <a:pt x="54581" y="1199"/>
                  </a:moveTo>
                  <a:cubicBezTo>
                    <a:pt x="60931" y="6279"/>
                    <a:pt x="60232" y="26498"/>
                    <a:pt x="62201" y="39299"/>
                  </a:cubicBezTo>
                  <a:cubicBezTo>
                    <a:pt x="74510" y="119307"/>
                    <a:pt x="61897" y="76487"/>
                    <a:pt x="77441" y="123119"/>
                  </a:cubicBezTo>
                  <a:cubicBezTo>
                    <a:pt x="69821" y="128199"/>
                    <a:pt x="63614" y="136853"/>
                    <a:pt x="54581" y="138359"/>
                  </a:cubicBezTo>
                  <a:cubicBezTo>
                    <a:pt x="35676" y="141510"/>
                    <a:pt x="18378" y="117396"/>
                    <a:pt x="8861" y="107879"/>
                  </a:cubicBezTo>
                  <a:cubicBezTo>
                    <a:pt x="6321" y="77399"/>
                    <a:pt x="-3410" y="46669"/>
                    <a:pt x="1241" y="16439"/>
                  </a:cubicBezTo>
                  <a:cubicBezTo>
                    <a:pt x="2462" y="8500"/>
                    <a:pt x="16069" y="8819"/>
                    <a:pt x="24101" y="8819"/>
                  </a:cubicBezTo>
                  <a:cubicBezTo>
                    <a:pt x="41613" y="8819"/>
                    <a:pt x="48231" y="-3881"/>
                    <a:pt x="54581" y="1199"/>
                  </a:cubicBezTo>
                  <a:close/>
                </a:path>
              </a:pathLst>
            </a:custGeom>
            <a:solidFill>
              <a:srgbClr val="FFC000">
                <a:alpha val="27000"/>
              </a:srgbClr>
            </a:solidFill>
            <a:ln w="31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32772" name="Title 1"/>
          <p:cNvSpPr>
            <a:spLocks noGrp="1"/>
          </p:cNvSpPr>
          <p:nvPr>
            <p:ph type="title"/>
          </p:nvPr>
        </p:nvSpPr>
        <p:spPr/>
        <p:txBody>
          <a:bodyPr/>
          <a:lstStyle/>
          <a:p>
            <a:r>
              <a:rPr lang="en-US" altLang="en-US" smtClean="0"/>
              <a:t>Case 4: Answer</a:t>
            </a:r>
          </a:p>
        </p:txBody>
      </p:sp>
      <p:cxnSp>
        <p:nvCxnSpPr>
          <p:cNvPr id="21" name="Straight Arrow Connector 20"/>
          <p:cNvCxnSpPr/>
          <p:nvPr/>
        </p:nvCxnSpPr>
        <p:spPr>
          <a:xfrm flipV="1">
            <a:off x="6978650" y="2905125"/>
            <a:ext cx="876300" cy="3316288"/>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257800" y="6221413"/>
            <a:ext cx="1898650" cy="317500"/>
          </a:xfrm>
          <a:prstGeom prst="rect">
            <a:avLst/>
          </a:prstGeom>
          <a:noFill/>
          <a:ln>
            <a:noFill/>
          </a:ln>
        </p:spPr>
        <p:txBody>
          <a:bodyPr>
            <a:spAutoFit/>
          </a:bodyPr>
          <a:lstStyle/>
          <a:p>
            <a:pPr>
              <a:defRPr/>
            </a:pPr>
            <a:r>
              <a:rPr lang="en-US" sz="1467" dirty="0">
                <a:solidFill>
                  <a:srgbClr val="FF0000"/>
                </a:solidFill>
              </a:rPr>
              <a:t>Foramen </a:t>
            </a:r>
            <a:r>
              <a:rPr lang="en-US" sz="1467" dirty="0" err="1">
                <a:solidFill>
                  <a:srgbClr val="FF0000"/>
                </a:solidFill>
              </a:rPr>
              <a:t>Rotundum</a:t>
            </a:r>
            <a:endParaRPr lang="en-US" sz="1467" dirty="0">
              <a:solidFill>
                <a:srgbClr val="FF0000"/>
              </a:solidFill>
            </a:endParaRPr>
          </a:p>
        </p:txBody>
      </p:sp>
      <p:cxnSp>
        <p:nvCxnSpPr>
          <p:cNvPr id="16" name="Straight Arrow Connector 15"/>
          <p:cNvCxnSpPr/>
          <p:nvPr/>
        </p:nvCxnSpPr>
        <p:spPr>
          <a:xfrm flipH="1" flipV="1">
            <a:off x="4314825" y="5162550"/>
            <a:ext cx="1254125" cy="1058863"/>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32776" name="TextBox 8"/>
          <p:cNvSpPr txBox="1">
            <a:spLocks noChangeArrowheads="1"/>
          </p:cNvSpPr>
          <p:nvPr/>
        </p:nvSpPr>
        <p:spPr bwMode="auto">
          <a:xfrm>
            <a:off x="3190875" y="5867400"/>
            <a:ext cx="1316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Coronal CT</a:t>
            </a:r>
          </a:p>
        </p:txBody>
      </p:sp>
      <p:sp>
        <p:nvSpPr>
          <p:cNvPr id="32777" name="TextBox 8"/>
          <p:cNvSpPr txBox="1">
            <a:spLocks noChangeArrowheads="1"/>
          </p:cNvSpPr>
          <p:nvPr/>
        </p:nvSpPr>
        <p:spPr bwMode="auto">
          <a:xfrm>
            <a:off x="8153400" y="5878513"/>
            <a:ext cx="1031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Axial CT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3962400" y="2057400"/>
            <a:ext cx="5029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lgn="l" rtl="0" eaLnBrk="1" fontAlgn="base" hangingPunct="1">
              <a:spcBef>
                <a:spcPct val="0"/>
              </a:spcBef>
              <a:spcAft>
                <a:spcPct val="0"/>
              </a:spcAft>
              <a:defRPr sz="40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defRPr/>
            </a:pPr>
            <a:r>
              <a:rPr lang="en-US" altLang="en-US" kern="0" dirty="0" smtClean="0">
                <a:solidFill>
                  <a:schemeClr val="accent5"/>
                </a:solidFill>
              </a:rPr>
              <a:t>Lower Cranial nerves</a:t>
            </a:r>
            <a:endParaRPr lang="en-US" altLang="en-US" kern="0" dirty="0">
              <a:solidFill>
                <a:schemeClr val="accent5"/>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1524000" y="304800"/>
            <a:ext cx="8077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lgn="l" rtl="0" eaLnBrk="1" fontAlgn="base" hangingPunct="1">
              <a:spcBef>
                <a:spcPct val="0"/>
              </a:spcBef>
              <a:spcAft>
                <a:spcPct val="0"/>
              </a:spcAft>
              <a:defRPr sz="40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defRPr/>
            </a:pPr>
            <a:r>
              <a:rPr lang="en-US" altLang="en-US" kern="0" dirty="0" smtClean="0">
                <a:solidFill>
                  <a:schemeClr val="accent5"/>
                </a:solidFill>
              </a:rPr>
              <a:t>Temporal bone structures list </a:t>
            </a:r>
            <a:endParaRPr lang="en-US" altLang="en-US" kern="0" dirty="0">
              <a:solidFill>
                <a:schemeClr val="accent5"/>
              </a:solidFill>
            </a:endParaRPr>
          </a:p>
        </p:txBody>
      </p:sp>
      <p:sp>
        <p:nvSpPr>
          <p:cNvPr id="35843" name="TextBox 1"/>
          <p:cNvSpPr txBox="1">
            <a:spLocks noChangeArrowheads="1"/>
          </p:cNvSpPr>
          <p:nvPr/>
        </p:nvSpPr>
        <p:spPr bwMode="auto">
          <a:xfrm>
            <a:off x="1524000" y="1600200"/>
            <a:ext cx="3384260"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marL="342900" indent="-342900">
              <a:spcAft>
                <a:spcPct val="0"/>
              </a:spcAft>
              <a:buClrTx/>
              <a:buFont typeface="+mj-lt"/>
              <a:buAutoNum type="arabicPeriod"/>
            </a:pPr>
            <a:r>
              <a:rPr lang="en-US" altLang="en-US" sz="2000" dirty="0" smtClean="0"/>
              <a:t>IAC</a:t>
            </a:r>
            <a:br>
              <a:rPr lang="en-US" altLang="en-US" sz="2000" dirty="0" smtClean="0"/>
            </a:br>
            <a:r>
              <a:rPr lang="en-US" altLang="en-US" sz="2000" dirty="0" smtClean="0"/>
              <a:t>	</a:t>
            </a:r>
            <a:r>
              <a:rPr lang="en-US" altLang="en-US" sz="2000" dirty="0" err="1" smtClean="0"/>
              <a:t>porus</a:t>
            </a:r>
            <a:r>
              <a:rPr lang="en-US" altLang="en-US" sz="2000" dirty="0" smtClean="0"/>
              <a:t> </a:t>
            </a:r>
            <a:r>
              <a:rPr lang="en-US" altLang="en-US" sz="2000" dirty="0" err="1" smtClean="0"/>
              <a:t>acusticus</a:t>
            </a:r>
            <a:r>
              <a:rPr lang="en-US" altLang="en-US" sz="2000" dirty="0" smtClean="0"/>
              <a:t/>
            </a:r>
            <a:br>
              <a:rPr lang="en-US" altLang="en-US" sz="2000" dirty="0" smtClean="0"/>
            </a:br>
            <a:r>
              <a:rPr lang="en-US" altLang="en-US" sz="2000" dirty="0" smtClean="0"/>
              <a:t>	fundus</a:t>
            </a:r>
            <a:endParaRPr lang="en-US" altLang="en-US" sz="2000" dirty="0"/>
          </a:p>
          <a:p>
            <a:pPr marL="342900" indent="-342900">
              <a:spcAft>
                <a:spcPct val="0"/>
              </a:spcAft>
              <a:buClrTx/>
              <a:buFont typeface="+mj-lt"/>
              <a:buAutoNum type="arabicPeriod"/>
            </a:pPr>
            <a:r>
              <a:rPr lang="en-US" altLang="en-US" sz="2000" dirty="0"/>
              <a:t>Cochlear aperture</a:t>
            </a:r>
          </a:p>
          <a:p>
            <a:pPr marL="342900" indent="-342900">
              <a:spcAft>
                <a:spcPct val="0"/>
              </a:spcAft>
              <a:buClrTx/>
              <a:buFont typeface="+mj-lt"/>
              <a:buAutoNum type="arabicPeriod"/>
            </a:pPr>
            <a:r>
              <a:rPr lang="en-US" altLang="en-US" sz="2000" dirty="0"/>
              <a:t>Cochlea</a:t>
            </a:r>
          </a:p>
          <a:p>
            <a:pPr marL="342900" indent="-342900">
              <a:spcAft>
                <a:spcPct val="0"/>
              </a:spcAft>
              <a:buClrTx/>
              <a:buFont typeface="+mj-lt"/>
              <a:buAutoNum type="arabicPeriod"/>
            </a:pPr>
            <a:r>
              <a:rPr lang="en-US" altLang="en-US" sz="2000" dirty="0"/>
              <a:t>Vestibule</a:t>
            </a:r>
          </a:p>
          <a:p>
            <a:pPr marL="342900" indent="-342900">
              <a:spcAft>
                <a:spcPct val="0"/>
              </a:spcAft>
              <a:buClrTx/>
              <a:buFont typeface="+mj-lt"/>
              <a:buAutoNum type="arabicPeriod"/>
            </a:pPr>
            <a:r>
              <a:rPr lang="en-US" altLang="en-US" sz="2000" dirty="0"/>
              <a:t>Semicircular </a:t>
            </a:r>
            <a:r>
              <a:rPr lang="en-US" altLang="en-US" sz="2000" dirty="0" smtClean="0"/>
              <a:t>canals</a:t>
            </a:r>
            <a:br>
              <a:rPr lang="en-US" altLang="en-US" sz="2000" dirty="0" smtClean="0"/>
            </a:br>
            <a:r>
              <a:rPr lang="en-US" altLang="en-US" sz="2000" dirty="0" smtClean="0"/>
              <a:t>	Lateral </a:t>
            </a:r>
            <a:r>
              <a:rPr lang="en-US" altLang="en-US" sz="2000" dirty="0"/>
              <a:t>(</a:t>
            </a:r>
            <a:r>
              <a:rPr lang="en-US" altLang="en-US" sz="2000" dirty="0" smtClean="0"/>
              <a:t>horizontal)</a:t>
            </a:r>
            <a:br>
              <a:rPr lang="en-US" altLang="en-US" sz="2000" dirty="0" smtClean="0"/>
            </a:br>
            <a:r>
              <a:rPr lang="en-US" altLang="en-US" sz="2000" dirty="0" smtClean="0"/>
              <a:t>	Superior</a:t>
            </a:r>
            <a:br>
              <a:rPr lang="en-US" altLang="en-US" sz="2000" dirty="0" smtClean="0"/>
            </a:br>
            <a:r>
              <a:rPr lang="en-US" altLang="en-US" sz="2000" dirty="0" smtClean="0"/>
              <a:t>	Posterior</a:t>
            </a:r>
            <a:endParaRPr lang="en-US" altLang="en-US" sz="2000" dirty="0"/>
          </a:p>
          <a:p>
            <a:pPr marL="342900" indent="-342900">
              <a:spcAft>
                <a:spcPct val="0"/>
              </a:spcAft>
              <a:buClrTx/>
              <a:buFont typeface="+mj-lt"/>
              <a:buAutoNum type="arabicPeriod"/>
            </a:pPr>
            <a:r>
              <a:rPr lang="en-US" altLang="en-US" sz="2000" dirty="0"/>
              <a:t> </a:t>
            </a:r>
            <a:r>
              <a:rPr lang="en-US" altLang="en-US" sz="2000" dirty="0" smtClean="0"/>
              <a:t>Facial nerve</a:t>
            </a:r>
            <a:br>
              <a:rPr lang="en-US" altLang="en-US" sz="2000" dirty="0" smtClean="0"/>
            </a:br>
            <a:r>
              <a:rPr lang="en-US" altLang="en-US" sz="2000" dirty="0" smtClean="0"/>
              <a:t>	Labyrinthine</a:t>
            </a:r>
            <a:br>
              <a:rPr lang="en-US" altLang="en-US" sz="2000" dirty="0" smtClean="0"/>
            </a:br>
            <a:r>
              <a:rPr lang="en-US" altLang="en-US" sz="2000" dirty="0" smtClean="0"/>
              <a:t>	Geniculate ganglion</a:t>
            </a:r>
            <a:br>
              <a:rPr lang="en-US" altLang="en-US" sz="2000" dirty="0" smtClean="0"/>
            </a:br>
            <a:r>
              <a:rPr lang="en-US" altLang="en-US" sz="2000" dirty="0" smtClean="0"/>
              <a:t>	Tympanic</a:t>
            </a:r>
            <a:br>
              <a:rPr lang="en-US" altLang="en-US" sz="2000" dirty="0" smtClean="0"/>
            </a:br>
            <a:r>
              <a:rPr lang="en-US" altLang="en-US" sz="2000" dirty="0" smtClean="0"/>
              <a:t>	Mastoid</a:t>
            </a:r>
          </a:p>
          <a:p>
            <a:pPr marL="342900" indent="-342900">
              <a:spcAft>
                <a:spcPct val="0"/>
              </a:spcAft>
              <a:buClrTx/>
              <a:buFont typeface="+mj-lt"/>
              <a:buAutoNum type="arabicPeriod"/>
            </a:pPr>
            <a:r>
              <a:rPr lang="en-US" altLang="en-US" sz="2000" dirty="0" err="1" smtClean="0"/>
              <a:t>Stylomastoid</a:t>
            </a:r>
            <a:r>
              <a:rPr lang="en-US" altLang="en-US" sz="2000" dirty="0" smtClean="0"/>
              <a:t> foramen</a:t>
            </a:r>
          </a:p>
        </p:txBody>
      </p:sp>
      <p:sp>
        <p:nvSpPr>
          <p:cNvPr id="35844" name="TextBox 1"/>
          <p:cNvSpPr txBox="1">
            <a:spLocks noChangeArrowheads="1"/>
          </p:cNvSpPr>
          <p:nvPr/>
        </p:nvSpPr>
        <p:spPr bwMode="auto">
          <a:xfrm>
            <a:off x="7162800" y="1828800"/>
            <a:ext cx="1847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endParaRPr lang="en-US" altLang="en-US" sz="1800" dirty="0"/>
          </a:p>
          <a:p>
            <a:pPr>
              <a:spcAft>
                <a:spcPct val="0"/>
              </a:spcAft>
              <a:buClrTx/>
              <a:buFontTx/>
              <a:buNone/>
            </a:pPr>
            <a:endParaRPr lang="en-US" altLang="en-US" sz="1800" dirty="0"/>
          </a:p>
        </p:txBody>
      </p:sp>
      <p:sp>
        <p:nvSpPr>
          <p:cNvPr id="5" name="Oval 4"/>
          <p:cNvSpPr/>
          <p:nvPr/>
        </p:nvSpPr>
        <p:spPr>
          <a:xfrm>
            <a:off x="11339513" y="76200"/>
            <a:ext cx="762000" cy="7620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rPr>
              <a:t>10 </a:t>
            </a:r>
            <a:r>
              <a:rPr lang="en-US" sz="1600" dirty="0">
                <a:solidFill>
                  <a:schemeClr val="bg1"/>
                </a:solidFill>
              </a:rPr>
              <a:t>min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xit" presetSubtype="1" fill="hold" grpId="0" nodeType="withEffect">
                                  <p:stCondLst>
                                    <p:cond delay="0"/>
                                  </p:stCondLst>
                                  <p:childTnLst>
                                    <p:animEffect transition="out" filter="wheel(1)">
                                      <p:cBhvr>
                                        <p:cTn id="6" dur="569600"/>
                                        <p:tgtEl>
                                          <p:spTgt spid="5"/>
                                        </p:tgtEl>
                                      </p:cBhvr>
                                    </p:animEffect>
                                    <p:set>
                                      <p:cBhvr>
                                        <p:cTn id="7" dur="1" fill="hold">
                                          <p:stCondLst>
                                            <p:cond delay="5695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1295400"/>
            <a:ext cx="6096000" cy="5539978"/>
          </a:xfrm>
          <a:prstGeom prst="rect">
            <a:avLst/>
          </a:prstGeom>
          <a:noFill/>
        </p:spPr>
        <p:txBody>
          <a:bodyPr wrap="square">
            <a:spAutoFit/>
          </a:bodyPr>
          <a:lstStyle/>
          <a:p>
            <a:pPr>
              <a:defRPr/>
            </a:pPr>
            <a:r>
              <a:rPr lang="en-US" sz="2400" dirty="0" smtClean="0">
                <a:solidFill>
                  <a:schemeClr val="tx2"/>
                </a:solidFill>
              </a:rPr>
              <a:t>CN VII </a:t>
            </a:r>
            <a:r>
              <a:rPr lang="en-US" sz="2400" dirty="0" smtClean="0">
                <a:solidFill>
                  <a:schemeClr val="accent5"/>
                </a:solidFill>
              </a:rPr>
              <a:t>- </a:t>
            </a:r>
            <a:r>
              <a:rPr lang="en-US" sz="2400" dirty="0">
                <a:solidFill>
                  <a:schemeClr val="accent5"/>
                </a:solidFill>
              </a:rPr>
              <a:t>motor nucleus, </a:t>
            </a:r>
            <a:r>
              <a:rPr lang="en-US" sz="2400" dirty="0" err="1">
                <a:solidFill>
                  <a:schemeClr val="accent5"/>
                </a:solidFill>
              </a:rPr>
              <a:t>cisternal</a:t>
            </a:r>
            <a:r>
              <a:rPr lang="en-US" sz="2400" dirty="0">
                <a:solidFill>
                  <a:schemeClr val="accent5"/>
                </a:solidFill>
              </a:rPr>
              <a:t> segment, </a:t>
            </a:r>
            <a:r>
              <a:rPr lang="en-US" sz="2400" dirty="0" smtClean="0">
                <a:solidFill>
                  <a:schemeClr val="accent5"/>
                </a:solidFill>
              </a:rPr>
              <a:t>IAC</a:t>
            </a:r>
            <a:br>
              <a:rPr lang="en-US" sz="2400" dirty="0" smtClean="0">
                <a:solidFill>
                  <a:schemeClr val="accent5"/>
                </a:solidFill>
              </a:rPr>
            </a:br>
            <a:endParaRPr lang="en-US" sz="2400" dirty="0">
              <a:solidFill>
                <a:schemeClr val="accent5"/>
              </a:solidFill>
            </a:endParaRPr>
          </a:p>
          <a:p>
            <a:pPr>
              <a:defRPr/>
            </a:pPr>
            <a:r>
              <a:rPr lang="en-US" sz="2400" dirty="0" smtClean="0">
                <a:solidFill>
                  <a:schemeClr val="tx2"/>
                </a:solidFill>
              </a:rPr>
              <a:t>CN VIII </a:t>
            </a:r>
            <a:r>
              <a:rPr lang="en-US" sz="2400" dirty="0" smtClean="0">
                <a:solidFill>
                  <a:schemeClr val="accent5"/>
                </a:solidFill>
              </a:rPr>
              <a:t>- </a:t>
            </a:r>
            <a:r>
              <a:rPr lang="en-US" sz="2400" dirty="0">
                <a:solidFill>
                  <a:schemeClr val="accent5"/>
                </a:solidFill>
              </a:rPr>
              <a:t>nucleus</a:t>
            </a:r>
            <a:r>
              <a:rPr lang="en-US" sz="2400" dirty="0" smtClean="0">
                <a:solidFill>
                  <a:schemeClr val="accent5"/>
                </a:solidFill>
              </a:rPr>
              <a:t>, </a:t>
            </a:r>
            <a:r>
              <a:rPr lang="en-US" sz="2400" dirty="0" err="1" smtClean="0">
                <a:solidFill>
                  <a:schemeClr val="accent5"/>
                </a:solidFill>
              </a:rPr>
              <a:t>cisternal</a:t>
            </a:r>
            <a:r>
              <a:rPr lang="en-US" sz="2400" dirty="0" smtClean="0">
                <a:solidFill>
                  <a:schemeClr val="accent5"/>
                </a:solidFill>
              </a:rPr>
              <a:t> </a:t>
            </a:r>
            <a:r>
              <a:rPr lang="en-US" sz="2400" dirty="0">
                <a:solidFill>
                  <a:schemeClr val="accent5"/>
                </a:solidFill>
              </a:rPr>
              <a:t>segment</a:t>
            </a:r>
            <a:r>
              <a:rPr lang="en-US" sz="2400" dirty="0" smtClean="0">
                <a:solidFill>
                  <a:schemeClr val="accent5"/>
                </a:solidFill>
              </a:rPr>
              <a:t>, IAC</a:t>
            </a:r>
            <a:r>
              <a:rPr lang="en-US" sz="2400" dirty="0">
                <a:solidFill>
                  <a:schemeClr val="accent5"/>
                </a:solidFill>
              </a:rPr>
              <a:t>, </a:t>
            </a:r>
            <a:r>
              <a:rPr lang="en-US" sz="2400" dirty="0" smtClean="0">
                <a:solidFill>
                  <a:schemeClr val="accent5"/>
                </a:solidFill>
              </a:rPr>
              <a:t>cochlea, vestibule</a:t>
            </a:r>
            <a:r>
              <a:rPr lang="en-US" sz="2400" dirty="0">
                <a:solidFill>
                  <a:schemeClr val="accent5"/>
                </a:solidFill>
              </a:rPr>
              <a:t>, semicircular canals</a:t>
            </a:r>
          </a:p>
          <a:p>
            <a:pPr>
              <a:defRPr/>
            </a:pPr>
            <a:r>
              <a:rPr lang="en-US" sz="2400" dirty="0" smtClean="0">
                <a:solidFill>
                  <a:schemeClr val="accent5"/>
                </a:solidFill>
              </a:rPr>
              <a:t/>
            </a:r>
            <a:br>
              <a:rPr lang="en-US" sz="2400" dirty="0" smtClean="0">
                <a:solidFill>
                  <a:schemeClr val="accent5"/>
                </a:solidFill>
              </a:rPr>
            </a:br>
            <a:r>
              <a:rPr lang="en-US" sz="2400" dirty="0" smtClean="0">
                <a:solidFill>
                  <a:schemeClr val="tx2"/>
                </a:solidFill>
              </a:rPr>
              <a:t>CN IX </a:t>
            </a:r>
            <a:r>
              <a:rPr lang="en-US" sz="2400" dirty="0" smtClean="0">
                <a:solidFill>
                  <a:schemeClr val="accent5"/>
                </a:solidFill>
              </a:rPr>
              <a:t>- </a:t>
            </a:r>
            <a:r>
              <a:rPr lang="en-US" sz="2400" dirty="0">
                <a:solidFill>
                  <a:schemeClr val="accent5"/>
                </a:solidFill>
              </a:rPr>
              <a:t>olive/</a:t>
            </a:r>
            <a:r>
              <a:rPr lang="en-US" sz="2400" dirty="0" err="1">
                <a:solidFill>
                  <a:schemeClr val="accent5"/>
                </a:solidFill>
              </a:rPr>
              <a:t>postolivary</a:t>
            </a:r>
            <a:r>
              <a:rPr lang="en-US" sz="2400" dirty="0">
                <a:solidFill>
                  <a:schemeClr val="accent5"/>
                </a:solidFill>
              </a:rPr>
              <a:t> sulcus, </a:t>
            </a:r>
            <a:r>
              <a:rPr lang="en-US" sz="2400" dirty="0" err="1">
                <a:solidFill>
                  <a:schemeClr val="accent5"/>
                </a:solidFill>
              </a:rPr>
              <a:t>cisternal</a:t>
            </a:r>
            <a:r>
              <a:rPr lang="en-US" sz="2400" dirty="0">
                <a:solidFill>
                  <a:schemeClr val="accent5"/>
                </a:solidFill>
              </a:rPr>
              <a:t> segment </a:t>
            </a:r>
          </a:p>
          <a:p>
            <a:pPr>
              <a:defRPr/>
            </a:pPr>
            <a:r>
              <a:rPr lang="en-US" sz="2400" dirty="0" smtClean="0">
                <a:solidFill>
                  <a:schemeClr val="tx2"/>
                </a:solidFill>
              </a:rPr>
              <a:t>CN X </a:t>
            </a:r>
            <a:r>
              <a:rPr lang="en-US" sz="2400" dirty="0" smtClean="0">
                <a:solidFill>
                  <a:schemeClr val="accent5"/>
                </a:solidFill>
              </a:rPr>
              <a:t>- </a:t>
            </a:r>
            <a:r>
              <a:rPr lang="en-US" sz="2400" dirty="0">
                <a:solidFill>
                  <a:schemeClr val="accent5"/>
                </a:solidFill>
              </a:rPr>
              <a:t>olive/</a:t>
            </a:r>
            <a:r>
              <a:rPr lang="en-US" sz="2400" dirty="0" err="1">
                <a:solidFill>
                  <a:schemeClr val="accent5"/>
                </a:solidFill>
              </a:rPr>
              <a:t>postolivary</a:t>
            </a:r>
            <a:r>
              <a:rPr lang="en-US" sz="2400" dirty="0">
                <a:solidFill>
                  <a:schemeClr val="accent5"/>
                </a:solidFill>
              </a:rPr>
              <a:t> sulcus, </a:t>
            </a:r>
            <a:r>
              <a:rPr lang="en-US" sz="2400" dirty="0" err="1">
                <a:solidFill>
                  <a:schemeClr val="accent5"/>
                </a:solidFill>
              </a:rPr>
              <a:t>cisternal</a:t>
            </a:r>
            <a:r>
              <a:rPr lang="en-US" sz="2400" dirty="0">
                <a:solidFill>
                  <a:schemeClr val="accent5"/>
                </a:solidFill>
              </a:rPr>
              <a:t> segment </a:t>
            </a:r>
          </a:p>
          <a:p>
            <a:pPr>
              <a:defRPr/>
            </a:pPr>
            <a:r>
              <a:rPr lang="en-US" sz="2400" dirty="0" smtClean="0">
                <a:solidFill>
                  <a:schemeClr val="tx2"/>
                </a:solidFill>
              </a:rPr>
              <a:t>CN XI </a:t>
            </a:r>
            <a:r>
              <a:rPr lang="en-US" sz="2400" dirty="0" smtClean="0">
                <a:solidFill>
                  <a:schemeClr val="accent5"/>
                </a:solidFill>
              </a:rPr>
              <a:t>- </a:t>
            </a:r>
            <a:r>
              <a:rPr lang="en-US" sz="2400" dirty="0">
                <a:solidFill>
                  <a:schemeClr val="accent5"/>
                </a:solidFill>
              </a:rPr>
              <a:t>foramen </a:t>
            </a:r>
            <a:r>
              <a:rPr lang="en-US" sz="2400" dirty="0" err="1">
                <a:solidFill>
                  <a:schemeClr val="accent5"/>
                </a:solidFill>
              </a:rPr>
              <a:t>magnum,cisternal</a:t>
            </a:r>
            <a:r>
              <a:rPr lang="en-US" sz="2400" dirty="0">
                <a:solidFill>
                  <a:schemeClr val="accent5"/>
                </a:solidFill>
              </a:rPr>
              <a:t> segment </a:t>
            </a:r>
          </a:p>
          <a:p>
            <a:pPr>
              <a:defRPr/>
            </a:pPr>
            <a:r>
              <a:rPr lang="en-US" sz="2400" dirty="0" smtClean="0">
                <a:solidFill>
                  <a:schemeClr val="tx2"/>
                </a:solidFill>
              </a:rPr>
              <a:t>CN XII </a:t>
            </a:r>
            <a:r>
              <a:rPr lang="en-US" sz="2400" dirty="0" smtClean="0">
                <a:solidFill>
                  <a:schemeClr val="accent5"/>
                </a:solidFill>
              </a:rPr>
              <a:t>- </a:t>
            </a:r>
            <a:r>
              <a:rPr lang="en-US" sz="2400" dirty="0">
                <a:solidFill>
                  <a:schemeClr val="accent5"/>
                </a:solidFill>
              </a:rPr>
              <a:t>olive/</a:t>
            </a:r>
            <a:r>
              <a:rPr lang="en-US" sz="2400" dirty="0" err="1">
                <a:solidFill>
                  <a:schemeClr val="accent5"/>
                </a:solidFill>
              </a:rPr>
              <a:t>preolivary</a:t>
            </a:r>
            <a:r>
              <a:rPr lang="en-US" sz="2400" dirty="0">
                <a:solidFill>
                  <a:schemeClr val="accent5"/>
                </a:solidFill>
              </a:rPr>
              <a:t> sulcus, </a:t>
            </a:r>
            <a:r>
              <a:rPr lang="en-US" sz="2400" dirty="0" err="1">
                <a:solidFill>
                  <a:schemeClr val="accent5"/>
                </a:solidFill>
              </a:rPr>
              <a:t>cisternal</a:t>
            </a:r>
            <a:r>
              <a:rPr lang="en-US" sz="2400" dirty="0">
                <a:solidFill>
                  <a:schemeClr val="accent5"/>
                </a:solidFill>
              </a:rPr>
              <a:t> segment </a:t>
            </a:r>
          </a:p>
          <a:p>
            <a:pPr>
              <a:defRPr/>
            </a:pPr>
            <a:endParaRPr lang="en-US" dirty="0"/>
          </a:p>
        </p:txBody>
      </p:sp>
      <p:sp>
        <p:nvSpPr>
          <p:cNvPr id="5" name="TextBox 4"/>
          <p:cNvSpPr txBox="1"/>
          <p:nvPr/>
        </p:nvSpPr>
        <p:spPr>
          <a:xfrm>
            <a:off x="7239000" y="1306511"/>
            <a:ext cx="4953000" cy="5170646"/>
          </a:xfrm>
          <a:prstGeom prst="rect">
            <a:avLst/>
          </a:prstGeom>
          <a:noFill/>
        </p:spPr>
        <p:txBody>
          <a:bodyPr wrap="square">
            <a:spAutoFit/>
          </a:bodyPr>
          <a:lstStyle/>
          <a:p>
            <a:pPr>
              <a:defRPr/>
            </a:pPr>
            <a:r>
              <a:rPr lang="en-US" sz="2400" dirty="0" smtClean="0">
                <a:solidFill>
                  <a:schemeClr val="tx2"/>
                </a:solidFill>
              </a:rPr>
              <a:t>CN VII </a:t>
            </a:r>
            <a:r>
              <a:rPr lang="en-US" sz="2400" dirty="0" smtClean="0">
                <a:solidFill>
                  <a:schemeClr val="accent5"/>
                </a:solidFill>
              </a:rPr>
              <a:t>- </a:t>
            </a:r>
            <a:r>
              <a:rPr lang="en-US" sz="2400" dirty="0">
                <a:solidFill>
                  <a:schemeClr val="accent5"/>
                </a:solidFill>
              </a:rPr>
              <a:t>IAC, geniculate ganglion, </a:t>
            </a:r>
            <a:r>
              <a:rPr lang="en-US" sz="2400" dirty="0" err="1">
                <a:solidFill>
                  <a:schemeClr val="accent5"/>
                </a:solidFill>
              </a:rPr>
              <a:t>stylomastoid</a:t>
            </a:r>
            <a:r>
              <a:rPr lang="en-US" sz="2400" dirty="0">
                <a:solidFill>
                  <a:schemeClr val="accent5"/>
                </a:solidFill>
              </a:rPr>
              <a:t> </a:t>
            </a:r>
            <a:r>
              <a:rPr lang="en-US" sz="2400" dirty="0" smtClean="0">
                <a:solidFill>
                  <a:schemeClr val="accent5"/>
                </a:solidFill>
              </a:rPr>
              <a:t>foramen</a:t>
            </a:r>
            <a:br>
              <a:rPr lang="en-US" sz="2400" dirty="0" smtClean="0">
                <a:solidFill>
                  <a:schemeClr val="accent5"/>
                </a:solidFill>
              </a:rPr>
            </a:br>
            <a:endParaRPr lang="en-US" sz="2400" dirty="0">
              <a:solidFill>
                <a:schemeClr val="accent5"/>
              </a:solidFill>
            </a:endParaRPr>
          </a:p>
          <a:p>
            <a:pPr>
              <a:defRPr/>
            </a:pPr>
            <a:r>
              <a:rPr lang="en-US" sz="2400" dirty="0" smtClean="0">
                <a:solidFill>
                  <a:schemeClr val="tx2"/>
                </a:solidFill>
              </a:rPr>
              <a:t>CN VIII </a:t>
            </a:r>
            <a:r>
              <a:rPr lang="en-US" sz="2400" dirty="0" smtClean="0">
                <a:solidFill>
                  <a:schemeClr val="accent5"/>
                </a:solidFill>
              </a:rPr>
              <a:t>- </a:t>
            </a:r>
            <a:r>
              <a:rPr lang="en-US" sz="2400" dirty="0">
                <a:solidFill>
                  <a:schemeClr val="accent5"/>
                </a:solidFill>
              </a:rPr>
              <a:t>IAC, cochlea, vestibule, semicircular canals</a:t>
            </a:r>
          </a:p>
          <a:p>
            <a:pPr>
              <a:defRPr/>
            </a:pPr>
            <a:r>
              <a:rPr lang="en-US" sz="2400" dirty="0" smtClean="0">
                <a:solidFill>
                  <a:schemeClr val="accent5"/>
                </a:solidFill>
              </a:rPr>
              <a:t/>
            </a:r>
            <a:br>
              <a:rPr lang="en-US" sz="2400" dirty="0" smtClean="0">
                <a:solidFill>
                  <a:schemeClr val="accent5"/>
                </a:solidFill>
              </a:rPr>
            </a:br>
            <a:r>
              <a:rPr lang="en-US" sz="2400" dirty="0" smtClean="0">
                <a:solidFill>
                  <a:schemeClr val="tx2"/>
                </a:solidFill>
              </a:rPr>
              <a:t>CN IX </a:t>
            </a:r>
            <a:r>
              <a:rPr lang="en-US" sz="2400" dirty="0" smtClean="0">
                <a:solidFill>
                  <a:schemeClr val="accent5"/>
                </a:solidFill>
              </a:rPr>
              <a:t>- </a:t>
            </a:r>
            <a:r>
              <a:rPr lang="en-US" sz="2400" dirty="0">
                <a:solidFill>
                  <a:schemeClr val="accent5"/>
                </a:solidFill>
              </a:rPr>
              <a:t>pars nervosa</a:t>
            </a:r>
          </a:p>
          <a:p>
            <a:pPr>
              <a:defRPr/>
            </a:pPr>
            <a:r>
              <a:rPr lang="en-US" sz="2400" dirty="0" smtClean="0">
                <a:solidFill>
                  <a:schemeClr val="accent5"/>
                </a:solidFill>
              </a:rPr>
              <a:t/>
            </a:r>
            <a:br>
              <a:rPr lang="en-US" sz="2400" dirty="0" smtClean="0">
                <a:solidFill>
                  <a:schemeClr val="accent5"/>
                </a:solidFill>
              </a:rPr>
            </a:br>
            <a:r>
              <a:rPr lang="en-US" sz="2400" dirty="0" smtClean="0">
                <a:solidFill>
                  <a:schemeClr val="tx2"/>
                </a:solidFill>
              </a:rPr>
              <a:t>CN X </a:t>
            </a:r>
            <a:r>
              <a:rPr lang="en-US" sz="2400" dirty="0" smtClean="0">
                <a:solidFill>
                  <a:schemeClr val="accent5"/>
                </a:solidFill>
              </a:rPr>
              <a:t>- </a:t>
            </a:r>
            <a:r>
              <a:rPr lang="en-US" sz="2400" dirty="0">
                <a:solidFill>
                  <a:schemeClr val="accent5"/>
                </a:solidFill>
              </a:rPr>
              <a:t>pars </a:t>
            </a:r>
            <a:r>
              <a:rPr lang="en-US" sz="2400" dirty="0" err="1">
                <a:solidFill>
                  <a:schemeClr val="accent5"/>
                </a:solidFill>
              </a:rPr>
              <a:t>vascularis</a:t>
            </a:r>
            <a:endParaRPr lang="en-US" sz="2400" dirty="0">
              <a:solidFill>
                <a:schemeClr val="accent5"/>
              </a:solidFill>
            </a:endParaRPr>
          </a:p>
          <a:p>
            <a:pPr>
              <a:defRPr/>
            </a:pPr>
            <a:r>
              <a:rPr lang="en-US" sz="2400" dirty="0" smtClean="0">
                <a:solidFill>
                  <a:schemeClr val="accent5"/>
                </a:solidFill>
              </a:rPr>
              <a:t/>
            </a:r>
            <a:br>
              <a:rPr lang="en-US" sz="2400" dirty="0" smtClean="0">
                <a:solidFill>
                  <a:schemeClr val="accent5"/>
                </a:solidFill>
              </a:rPr>
            </a:br>
            <a:r>
              <a:rPr lang="en-US" sz="2400" dirty="0" smtClean="0">
                <a:solidFill>
                  <a:schemeClr val="tx2"/>
                </a:solidFill>
              </a:rPr>
              <a:t>CN XI </a:t>
            </a:r>
            <a:r>
              <a:rPr lang="en-US" sz="2400" dirty="0" smtClean="0">
                <a:solidFill>
                  <a:schemeClr val="accent5"/>
                </a:solidFill>
              </a:rPr>
              <a:t>- </a:t>
            </a:r>
            <a:r>
              <a:rPr lang="en-US" sz="2400" dirty="0">
                <a:solidFill>
                  <a:schemeClr val="accent5"/>
                </a:solidFill>
              </a:rPr>
              <a:t>pars </a:t>
            </a:r>
            <a:r>
              <a:rPr lang="en-US" sz="2400" dirty="0" err="1" smtClean="0">
                <a:solidFill>
                  <a:schemeClr val="accent5"/>
                </a:solidFill>
              </a:rPr>
              <a:t>vascularis</a:t>
            </a:r>
            <a:r>
              <a:rPr lang="en-US" sz="2400" dirty="0" smtClean="0">
                <a:solidFill>
                  <a:schemeClr val="accent5"/>
                </a:solidFill>
              </a:rPr>
              <a:t/>
            </a:r>
            <a:br>
              <a:rPr lang="en-US" sz="2400" dirty="0" smtClean="0">
                <a:solidFill>
                  <a:schemeClr val="accent5"/>
                </a:solidFill>
              </a:rPr>
            </a:br>
            <a:endParaRPr lang="en-US" sz="2400" dirty="0">
              <a:solidFill>
                <a:schemeClr val="accent5"/>
              </a:solidFill>
            </a:endParaRPr>
          </a:p>
          <a:p>
            <a:pPr>
              <a:defRPr/>
            </a:pPr>
            <a:r>
              <a:rPr lang="en-US" sz="2400" dirty="0" smtClean="0">
                <a:solidFill>
                  <a:schemeClr val="tx2"/>
                </a:solidFill>
              </a:rPr>
              <a:t>CN XII </a:t>
            </a:r>
            <a:r>
              <a:rPr lang="en-US" sz="2400" dirty="0" smtClean="0">
                <a:solidFill>
                  <a:schemeClr val="accent5"/>
                </a:solidFill>
              </a:rPr>
              <a:t>- </a:t>
            </a:r>
            <a:r>
              <a:rPr lang="en-US" sz="2400" dirty="0">
                <a:solidFill>
                  <a:schemeClr val="accent5"/>
                </a:solidFill>
              </a:rPr>
              <a:t>hypoglossal canal</a:t>
            </a:r>
          </a:p>
          <a:p>
            <a:pPr>
              <a:defRPr/>
            </a:pPr>
            <a:endParaRPr lang="en-US" dirty="0"/>
          </a:p>
        </p:txBody>
      </p:sp>
      <p:sp>
        <p:nvSpPr>
          <p:cNvPr id="6" name="Oval 5"/>
          <p:cNvSpPr/>
          <p:nvPr/>
        </p:nvSpPr>
        <p:spPr>
          <a:xfrm>
            <a:off x="11339513" y="76200"/>
            <a:ext cx="762000" cy="7620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rPr>
              <a:t>15 </a:t>
            </a:r>
            <a:r>
              <a:rPr lang="en-US" sz="1600" dirty="0">
                <a:solidFill>
                  <a:schemeClr val="bg1"/>
                </a:solidFill>
              </a:rPr>
              <a:t>min</a:t>
            </a:r>
          </a:p>
        </p:txBody>
      </p:sp>
      <p:sp>
        <p:nvSpPr>
          <p:cNvPr id="7" name="Title 1"/>
          <p:cNvSpPr txBox="1">
            <a:spLocks/>
          </p:cNvSpPr>
          <p:nvPr/>
        </p:nvSpPr>
        <p:spPr bwMode="auto">
          <a:xfrm>
            <a:off x="1219200" y="369889"/>
            <a:ext cx="8839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lgn="l" rtl="0" eaLnBrk="1" fontAlgn="base" hangingPunct="1">
              <a:spcBef>
                <a:spcPct val="0"/>
              </a:spcBef>
              <a:spcAft>
                <a:spcPct val="0"/>
              </a:spcAft>
              <a:defRPr sz="40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defRPr/>
            </a:pPr>
            <a:r>
              <a:rPr lang="en-US" altLang="en-US" kern="0" dirty="0" smtClean="0"/>
              <a:t>MRI (FIESTA/SPACE)</a:t>
            </a:r>
            <a:endParaRPr lang="en-US" altLang="en-US" kern="0" dirty="0"/>
          </a:p>
        </p:txBody>
      </p:sp>
      <p:cxnSp>
        <p:nvCxnSpPr>
          <p:cNvPr id="8" name="Straight Connector 7"/>
          <p:cNvCxnSpPr/>
          <p:nvPr/>
        </p:nvCxnSpPr>
        <p:spPr>
          <a:xfrm>
            <a:off x="7162800" y="533400"/>
            <a:ext cx="76200" cy="632460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bwMode="auto">
          <a:xfrm>
            <a:off x="8763000" y="381000"/>
            <a:ext cx="1295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lgn="l" rtl="0" eaLnBrk="1" fontAlgn="base" hangingPunct="1">
              <a:spcBef>
                <a:spcPct val="0"/>
              </a:spcBef>
              <a:spcAft>
                <a:spcPct val="0"/>
              </a:spcAft>
              <a:defRPr sz="40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Trebuchet MS" pitchFamily="34" charset="0"/>
              </a:defRPr>
            </a:lvl2pPr>
            <a:lvl3pPr algn="l" rtl="0" eaLnBrk="1" fontAlgn="base" hangingPunct="1">
              <a:spcBef>
                <a:spcPct val="0"/>
              </a:spcBef>
              <a:spcAft>
                <a:spcPct val="0"/>
              </a:spcAft>
              <a:defRPr sz="4000">
                <a:solidFill>
                  <a:schemeClr val="tx2"/>
                </a:solidFill>
                <a:latin typeface="Trebuchet MS" pitchFamily="34" charset="0"/>
              </a:defRPr>
            </a:lvl3pPr>
            <a:lvl4pPr algn="l" rtl="0" eaLnBrk="1" fontAlgn="base" hangingPunct="1">
              <a:spcBef>
                <a:spcPct val="0"/>
              </a:spcBef>
              <a:spcAft>
                <a:spcPct val="0"/>
              </a:spcAft>
              <a:defRPr sz="4000">
                <a:solidFill>
                  <a:schemeClr val="tx2"/>
                </a:solidFill>
                <a:latin typeface="Trebuchet MS" pitchFamily="34" charset="0"/>
              </a:defRPr>
            </a:lvl4pPr>
            <a:lvl5pPr algn="l" rtl="0" eaLnBrk="1" fontAlgn="base" hangingPunct="1">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defRPr/>
            </a:pPr>
            <a:r>
              <a:rPr lang="en-US" altLang="en-US" kern="0" dirty="0" smtClean="0"/>
              <a:t>CT</a:t>
            </a:r>
            <a:endParaRPr lang="en-US" altLang="en-US"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xit" presetSubtype="1" fill="hold" grpId="0" nodeType="withEffect">
                                  <p:stCondLst>
                                    <p:cond delay="0"/>
                                  </p:stCondLst>
                                  <p:childTnLst>
                                    <p:animEffect transition="out" filter="wheel(1)">
                                      <p:cBhvr>
                                        <p:cTn id="6" dur="870400"/>
                                        <p:tgtEl>
                                          <p:spTgt spid="6"/>
                                        </p:tgtEl>
                                      </p:cBhvr>
                                    </p:animEffect>
                                    <p:set>
                                      <p:cBhvr>
                                        <p:cTn id="7" dur="1" fill="hold">
                                          <p:stCondLst>
                                            <p:cond delay="8703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smtClean="0"/>
              <a:t>Case 5 - MRI</a:t>
            </a:r>
          </a:p>
        </p:txBody>
      </p:sp>
      <p:sp>
        <p:nvSpPr>
          <p:cNvPr id="8" name="Content Placeholder 2"/>
          <p:cNvSpPr txBox="1">
            <a:spLocks/>
          </p:cNvSpPr>
          <p:nvPr/>
        </p:nvSpPr>
        <p:spPr bwMode="auto">
          <a:xfrm>
            <a:off x="663575" y="1265238"/>
            <a:ext cx="5127625" cy="330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2767" tIns="61384" rIns="122767" bIns="61384">
            <a:spAutoFit/>
          </a:bodyPr>
          <a:lstStyle>
            <a:lvl1pPr marL="342900" indent="-342900" algn="l" rtl="0" eaLnBrk="1" fontAlgn="base" hangingPunct="1">
              <a:spcBef>
                <a:spcPct val="0"/>
              </a:spcBef>
              <a:spcAft>
                <a:spcPct val="25000"/>
              </a:spcAft>
              <a:buClr>
                <a:schemeClr val="tx2"/>
              </a:buClr>
              <a:buFont typeface="Wingdings" pitchFamily="2" charset="2"/>
              <a:buChar char="§"/>
              <a:defRPr sz="2800" b="0">
                <a:solidFill>
                  <a:schemeClr val="accent1"/>
                </a:solidFill>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0"/>
              </a:spcBef>
              <a:spcAft>
                <a:spcPct val="25000"/>
              </a:spcAft>
              <a:buClr>
                <a:schemeClr val="tx2"/>
              </a:buClr>
              <a:buFont typeface="Wingdings" pitchFamily="2" charset="2"/>
              <a:buChar char="§"/>
              <a:defRPr sz="2800" b="0">
                <a:solidFill>
                  <a:schemeClr val="accent1"/>
                </a:solidFill>
                <a:latin typeface="Times New Roman" panose="02020603050405020304" pitchFamily="18" charset="0"/>
                <a:cs typeface="Times New Roman" panose="02020603050405020304" pitchFamily="18" charset="0"/>
              </a:defRPr>
            </a:lvl2pPr>
            <a:lvl3pPr marL="1143000" indent="-228600" algn="l" rtl="0" eaLnBrk="1" fontAlgn="base" hangingPunct="1">
              <a:spcBef>
                <a:spcPct val="0"/>
              </a:spcBef>
              <a:spcAft>
                <a:spcPct val="25000"/>
              </a:spcAft>
              <a:buClr>
                <a:schemeClr val="tx2"/>
              </a:buClr>
              <a:buFont typeface="Wingdings" pitchFamily="2" charset="2"/>
              <a:buChar char="§"/>
              <a:defRPr sz="2400" b="0">
                <a:solidFill>
                  <a:schemeClr val="accent1"/>
                </a:solidFill>
                <a:latin typeface="Times New Roman" panose="02020603050405020304" pitchFamily="18" charset="0"/>
                <a:cs typeface="Times New Roman" panose="02020603050405020304" pitchFamily="18" charset="0"/>
              </a:defRPr>
            </a:lvl3pPr>
            <a:lvl4pPr marL="1600200" indent="-228600" algn="l" rtl="0" eaLnBrk="1" fontAlgn="base" hangingPunct="1">
              <a:spcBef>
                <a:spcPct val="0"/>
              </a:spcBef>
              <a:spcAft>
                <a:spcPct val="25000"/>
              </a:spcAft>
              <a:buClr>
                <a:schemeClr val="tx2"/>
              </a:buClr>
              <a:buFont typeface="Wingdings" pitchFamily="2" charset="2"/>
              <a:buChar char="§"/>
              <a:defRPr sz="2000" b="0">
                <a:solidFill>
                  <a:schemeClr val="accent1"/>
                </a:solidFill>
                <a:latin typeface="Times New Roman" panose="02020603050405020304" pitchFamily="18" charset="0"/>
                <a:cs typeface="Times New Roman" panose="02020603050405020304" pitchFamily="18" charset="0"/>
              </a:defRPr>
            </a:lvl4pPr>
            <a:lvl5pPr marL="2057400" indent="-228600" algn="l" rtl="0" eaLnBrk="1" fontAlgn="base" hangingPunct="1">
              <a:spcBef>
                <a:spcPct val="0"/>
              </a:spcBef>
              <a:spcAft>
                <a:spcPct val="25000"/>
              </a:spcAft>
              <a:buClr>
                <a:schemeClr val="tx2"/>
              </a:buClr>
              <a:buFont typeface="Wingdings" pitchFamily="2" charset="2"/>
              <a:buChar char="§"/>
              <a:defRPr sz="2000" b="0">
                <a:solidFill>
                  <a:schemeClr val="accent1"/>
                </a:solidFill>
                <a:latin typeface="Times New Roman" panose="02020603050405020304" pitchFamily="18" charset="0"/>
                <a:cs typeface="Times New Roman" panose="02020603050405020304" pitchFamily="18" charset="0"/>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a:lstStyle>
          <a:p>
            <a:pPr marL="514350" indent="-514350">
              <a:buFont typeface="Wingdings" pitchFamily="2" charset="2"/>
              <a:buAutoNum type="arabicPeriod"/>
              <a:defRPr/>
            </a:pPr>
            <a:r>
              <a:rPr lang="en-US" kern="0" dirty="0" smtClean="0"/>
              <a:t>What cranial nerve abnormally enhances in this patient with facial weakness? </a:t>
            </a:r>
          </a:p>
          <a:p>
            <a:pPr marL="514350" indent="-514350">
              <a:buFont typeface="Wingdings" pitchFamily="2" charset="2"/>
              <a:buAutoNum type="arabicPeriod"/>
              <a:defRPr/>
            </a:pPr>
            <a:r>
              <a:rPr lang="en-US" dirty="0" smtClean="0"/>
              <a:t>Would </a:t>
            </a:r>
            <a:r>
              <a:rPr lang="en-US" dirty="0"/>
              <a:t>this patient be expected to be able to lift his eyebrows or wrinkle his forehead? </a:t>
            </a:r>
            <a:r>
              <a:rPr lang="en-US" sz="3200" dirty="0"/>
              <a:t> </a:t>
            </a:r>
            <a:r>
              <a:rPr lang="en-US" sz="3200" u="sng" dirty="0" smtClean="0"/>
              <a:t> </a:t>
            </a:r>
            <a:endParaRPr lang="en-US" sz="3200" u="sng" kern="0" dirty="0"/>
          </a:p>
        </p:txBody>
      </p:sp>
      <p:pic>
        <p:nvPicPr>
          <p:cNvPr id="37892" name="Picture 3"/>
          <p:cNvPicPr>
            <a:picLocks noChangeAspect="1"/>
          </p:cNvPicPr>
          <p:nvPr/>
        </p:nvPicPr>
        <p:blipFill>
          <a:blip r:embed="rId3">
            <a:extLst>
              <a:ext uri="{28A0092B-C50C-407E-A947-70E740481C1C}">
                <a14:useLocalDpi xmlns:a14="http://schemas.microsoft.com/office/drawing/2010/main" val="0"/>
              </a:ext>
            </a:extLst>
          </a:blip>
          <a:srcRect l="14706" t="11653" r="13235" b="2634"/>
          <a:stretch>
            <a:fillRect/>
          </a:stretch>
        </p:blipFill>
        <p:spPr bwMode="auto">
          <a:xfrm>
            <a:off x="7339013" y="1368425"/>
            <a:ext cx="3733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Straight Arrow Connector 14"/>
          <p:cNvCxnSpPr/>
          <p:nvPr/>
        </p:nvCxnSpPr>
        <p:spPr>
          <a:xfrm flipH="1">
            <a:off x="10058400" y="2947988"/>
            <a:ext cx="990600" cy="728662"/>
          </a:xfrm>
          <a:prstGeom prst="straightConnector1">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7894" name="TextBox 11"/>
          <p:cNvSpPr txBox="1">
            <a:spLocks noChangeArrowheads="1"/>
          </p:cNvSpPr>
          <p:nvPr/>
        </p:nvSpPr>
        <p:spPr bwMode="auto">
          <a:xfrm>
            <a:off x="8383588" y="5864225"/>
            <a:ext cx="16430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Axial T1 FS +C</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ltLang="en-US" smtClean="0"/>
              <a:t>Case 5: Answer</a:t>
            </a:r>
          </a:p>
        </p:txBody>
      </p:sp>
      <p:grpSp>
        <p:nvGrpSpPr>
          <p:cNvPr id="39939" name="Group 11"/>
          <p:cNvGrpSpPr>
            <a:grpSpLocks/>
          </p:cNvGrpSpPr>
          <p:nvPr/>
        </p:nvGrpSpPr>
        <p:grpSpPr bwMode="auto">
          <a:xfrm>
            <a:off x="838200" y="2012950"/>
            <a:ext cx="3860800" cy="3048000"/>
            <a:chOff x="990600" y="1504950"/>
            <a:chExt cx="2895600" cy="2286000"/>
          </a:xfrm>
        </p:grpSpPr>
        <p:pic>
          <p:nvPicPr>
            <p:cNvPr id="39946" name="Picture 2"/>
            <p:cNvPicPr>
              <a:picLocks noChangeAspect="1" noChangeArrowheads="1"/>
            </p:cNvPicPr>
            <p:nvPr/>
          </p:nvPicPr>
          <p:blipFill>
            <a:blip r:embed="rId3">
              <a:extLst>
                <a:ext uri="{28A0092B-C50C-407E-A947-70E740481C1C}">
                  <a14:useLocalDpi xmlns:a14="http://schemas.microsoft.com/office/drawing/2010/main" val="0"/>
                </a:ext>
              </a:extLst>
            </a:blip>
            <a:srcRect l="28439" t="43723" r="47292" b="24263"/>
            <a:stretch>
              <a:fillRect/>
            </a:stretch>
          </p:blipFill>
          <p:spPr bwMode="auto">
            <a:xfrm>
              <a:off x="990600" y="1504950"/>
              <a:ext cx="2895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4"/>
            <p:cNvSpPr/>
            <p:nvPr/>
          </p:nvSpPr>
          <p:spPr>
            <a:xfrm>
              <a:off x="997744" y="2813447"/>
              <a:ext cx="689372" cy="219075"/>
            </a:xfrm>
            <a:custGeom>
              <a:avLst/>
              <a:gdLst>
                <a:gd name="connsiteX0" fmla="*/ 0 w 689019"/>
                <a:gd name="connsiteY0" fmla="*/ 218941 h 218941"/>
                <a:gd name="connsiteX1" fmla="*/ 32197 w 689019"/>
                <a:gd name="connsiteY1" fmla="*/ 206062 h 218941"/>
                <a:gd name="connsiteX2" fmla="*/ 51515 w 689019"/>
                <a:gd name="connsiteY2" fmla="*/ 199622 h 218941"/>
                <a:gd name="connsiteX3" fmla="*/ 70833 w 689019"/>
                <a:gd name="connsiteY3" fmla="*/ 186743 h 218941"/>
                <a:gd name="connsiteX4" fmla="*/ 109470 w 689019"/>
                <a:gd name="connsiteY4" fmla="*/ 173865 h 218941"/>
                <a:gd name="connsiteX5" fmla="*/ 128788 w 689019"/>
                <a:gd name="connsiteY5" fmla="*/ 167425 h 218941"/>
                <a:gd name="connsiteX6" fmla="*/ 186743 w 689019"/>
                <a:gd name="connsiteY6" fmla="*/ 148107 h 218941"/>
                <a:gd name="connsiteX7" fmla="*/ 225380 w 689019"/>
                <a:gd name="connsiteY7" fmla="*/ 135228 h 218941"/>
                <a:gd name="connsiteX8" fmla="*/ 251138 w 689019"/>
                <a:gd name="connsiteY8" fmla="*/ 128789 h 218941"/>
                <a:gd name="connsiteX9" fmla="*/ 270456 w 689019"/>
                <a:gd name="connsiteY9" fmla="*/ 115910 h 218941"/>
                <a:gd name="connsiteX10" fmla="*/ 341290 w 689019"/>
                <a:gd name="connsiteY10" fmla="*/ 103031 h 218941"/>
                <a:gd name="connsiteX11" fmla="*/ 437881 w 689019"/>
                <a:gd name="connsiteY11" fmla="*/ 90152 h 218941"/>
                <a:gd name="connsiteX12" fmla="*/ 482957 w 689019"/>
                <a:gd name="connsiteY12" fmla="*/ 77273 h 218941"/>
                <a:gd name="connsiteX13" fmla="*/ 515155 w 689019"/>
                <a:gd name="connsiteY13" fmla="*/ 70834 h 218941"/>
                <a:gd name="connsiteX14" fmla="*/ 534473 w 689019"/>
                <a:gd name="connsiteY14" fmla="*/ 64394 h 218941"/>
                <a:gd name="connsiteX15" fmla="*/ 566670 w 689019"/>
                <a:gd name="connsiteY15" fmla="*/ 57955 h 218941"/>
                <a:gd name="connsiteX16" fmla="*/ 605307 w 689019"/>
                <a:gd name="connsiteY16" fmla="*/ 45076 h 218941"/>
                <a:gd name="connsiteX17" fmla="*/ 624625 w 689019"/>
                <a:gd name="connsiteY17" fmla="*/ 32197 h 218941"/>
                <a:gd name="connsiteX18" fmla="*/ 682580 w 689019"/>
                <a:gd name="connsiteY18" fmla="*/ 6439 h 218941"/>
                <a:gd name="connsiteX19" fmla="*/ 689019 w 689019"/>
                <a:gd name="connsiteY19" fmla="*/ 0 h 21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9019" h="218941">
                  <a:moveTo>
                    <a:pt x="0" y="218941"/>
                  </a:moveTo>
                  <a:cubicBezTo>
                    <a:pt x="10732" y="214648"/>
                    <a:pt x="21374" y="210121"/>
                    <a:pt x="32197" y="206062"/>
                  </a:cubicBezTo>
                  <a:cubicBezTo>
                    <a:pt x="38553" y="203679"/>
                    <a:pt x="45444" y="202658"/>
                    <a:pt x="51515" y="199622"/>
                  </a:cubicBezTo>
                  <a:cubicBezTo>
                    <a:pt x="58437" y="196161"/>
                    <a:pt x="63761" y="189886"/>
                    <a:pt x="70833" y="186743"/>
                  </a:cubicBezTo>
                  <a:cubicBezTo>
                    <a:pt x="83239" y="181230"/>
                    <a:pt x="96591" y="178158"/>
                    <a:pt x="109470" y="173865"/>
                  </a:cubicBezTo>
                  <a:lnTo>
                    <a:pt x="128788" y="167425"/>
                  </a:lnTo>
                  <a:lnTo>
                    <a:pt x="186743" y="148107"/>
                  </a:lnTo>
                  <a:cubicBezTo>
                    <a:pt x="186753" y="148104"/>
                    <a:pt x="225369" y="135231"/>
                    <a:pt x="225380" y="135228"/>
                  </a:cubicBezTo>
                  <a:lnTo>
                    <a:pt x="251138" y="128789"/>
                  </a:lnTo>
                  <a:cubicBezTo>
                    <a:pt x="257577" y="124496"/>
                    <a:pt x="263343" y="118959"/>
                    <a:pt x="270456" y="115910"/>
                  </a:cubicBezTo>
                  <a:cubicBezTo>
                    <a:pt x="286194" y="109165"/>
                    <a:pt x="329889" y="104931"/>
                    <a:pt x="341290" y="103031"/>
                  </a:cubicBezTo>
                  <a:cubicBezTo>
                    <a:pt x="421324" y="89692"/>
                    <a:pt x="310003" y="102939"/>
                    <a:pt x="437881" y="90152"/>
                  </a:cubicBezTo>
                  <a:cubicBezTo>
                    <a:pt x="459394" y="82980"/>
                    <a:pt x="458699" y="82663"/>
                    <a:pt x="482957" y="77273"/>
                  </a:cubicBezTo>
                  <a:cubicBezTo>
                    <a:pt x="493642" y="74899"/>
                    <a:pt x="504537" y="73489"/>
                    <a:pt x="515155" y="70834"/>
                  </a:cubicBezTo>
                  <a:cubicBezTo>
                    <a:pt x="521740" y="69188"/>
                    <a:pt x="527888" y="66040"/>
                    <a:pt x="534473" y="64394"/>
                  </a:cubicBezTo>
                  <a:cubicBezTo>
                    <a:pt x="545091" y="61739"/>
                    <a:pt x="556111" y="60835"/>
                    <a:pt x="566670" y="57955"/>
                  </a:cubicBezTo>
                  <a:cubicBezTo>
                    <a:pt x="579767" y="54383"/>
                    <a:pt x="605307" y="45076"/>
                    <a:pt x="605307" y="45076"/>
                  </a:cubicBezTo>
                  <a:cubicBezTo>
                    <a:pt x="611746" y="40783"/>
                    <a:pt x="617553" y="35340"/>
                    <a:pt x="624625" y="32197"/>
                  </a:cubicBezTo>
                  <a:cubicBezTo>
                    <a:pt x="672680" y="10839"/>
                    <a:pt x="650783" y="30287"/>
                    <a:pt x="682580" y="6439"/>
                  </a:cubicBezTo>
                  <a:cubicBezTo>
                    <a:pt x="685008" y="4618"/>
                    <a:pt x="686873" y="2146"/>
                    <a:pt x="689019" y="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Freeform 6"/>
            <p:cNvSpPr/>
            <p:nvPr/>
          </p:nvSpPr>
          <p:spPr>
            <a:xfrm>
              <a:off x="1687116" y="2543175"/>
              <a:ext cx="419100" cy="270272"/>
            </a:xfrm>
            <a:custGeom>
              <a:avLst/>
              <a:gdLst>
                <a:gd name="connsiteX0" fmla="*/ 0 w 418564"/>
                <a:gd name="connsiteY0" fmla="*/ 270457 h 270457"/>
                <a:gd name="connsiteX1" fmla="*/ 32198 w 418564"/>
                <a:gd name="connsiteY1" fmla="*/ 264017 h 270457"/>
                <a:gd name="connsiteX2" fmla="*/ 51516 w 418564"/>
                <a:gd name="connsiteY2" fmla="*/ 244699 h 270457"/>
                <a:gd name="connsiteX3" fmla="*/ 77274 w 418564"/>
                <a:gd name="connsiteY3" fmla="*/ 231820 h 270457"/>
                <a:gd name="connsiteX4" fmla="*/ 103031 w 418564"/>
                <a:gd name="connsiteY4" fmla="*/ 225381 h 270457"/>
                <a:gd name="connsiteX5" fmla="*/ 141668 w 418564"/>
                <a:gd name="connsiteY5" fmla="*/ 212502 h 270457"/>
                <a:gd name="connsiteX6" fmla="*/ 160986 w 418564"/>
                <a:gd name="connsiteY6" fmla="*/ 206062 h 270457"/>
                <a:gd name="connsiteX7" fmla="*/ 206062 w 418564"/>
                <a:gd name="connsiteY7" fmla="*/ 180305 h 270457"/>
                <a:gd name="connsiteX8" fmla="*/ 225381 w 418564"/>
                <a:gd name="connsiteY8" fmla="*/ 173865 h 270457"/>
                <a:gd name="connsiteX9" fmla="*/ 283336 w 418564"/>
                <a:gd name="connsiteY9" fmla="*/ 154547 h 270457"/>
                <a:gd name="connsiteX10" fmla="*/ 347730 w 418564"/>
                <a:gd name="connsiteY10" fmla="*/ 109471 h 270457"/>
                <a:gd name="connsiteX11" fmla="*/ 360609 w 418564"/>
                <a:gd name="connsiteY11" fmla="*/ 83713 h 270457"/>
                <a:gd name="connsiteX12" fmla="*/ 379927 w 418564"/>
                <a:gd name="connsiteY12" fmla="*/ 64395 h 270457"/>
                <a:gd name="connsiteX13" fmla="*/ 392806 w 418564"/>
                <a:gd name="connsiteY13" fmla="*/ 25758 h 270457"/>
                <a:gd name="connsiteX14" fmla="*/ 418564 w 418564"/>
                <a:gd name="connsiteY14" fmla="*/ 0 h 27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8564" h="270457">
                  <a:moveTo>
                    <a:pt x="0" y="270457"/>
                  </a:moveTo>
                  <a:cubicBezTo>
                    <a:pt x="10733" y="268310"/>
                    <a:pt x="22408" y="268912"/>
                    <a:pt x="32198" y="264017"/>
                  </a:cubicBezTo>
                  <a:cubicBezTo>
                    <a:pt x="40343" y="259944"/>
                    <a:pt x="44106" y="249992"/>
                    <a:pt x="51516" y="244699"/>
                  </a:cubicBezTo>
                  <a:cubicBezTo>
                    <a:pt x="59327" y="239119"/>
                    <a:pt x="68286" y="235191"/>
                    <a:pt x="77274" y="231820"/>
                  </a:cubicBezTo>
                  <a:cubicBezTo>
                    <a:pt x="85560" y="228713"/>
                    <a:pt x="94554" y="227924"/>
                    <a:pt x="103031" y="225381"/>
                  </a:cubicBezTo>
                  <a:cubicBezTo>
                    <a:pt x="116034" y="221480"/>
                    <a:pt x="128789" y="216795"/>
                    <a:pt x="141668" y="212502"/>
                  </a:cubicBezTo>
                  <a:cubicBezTo>
                    <a:pt x="148107" y="210355"/>
                    <a:pt x="155338" y="209827"/>
                    <a:pt x="160986" y="206062"/>
                  </a:cubicBezTo>
                  <a:cubicBezTo>
                    <a:pt x="180385" y="193131"/>
                    <a:pt x="183191" y="190107"/>
                    <a:pt x="206062" y="180305"/>
                  </a:cubicBezTo>
                  <a:cubicBezTo>
                    <a:pt x="212301" y="177631"/>
                    <a:pt x="219142" y="176539"/>
                    <a:pt x="225381" y="173865"/>
                  </a:cubicBezTo>
                  <a:cubicBezTo>
                    <a:pt x="272035" y="153870"/>
                    <a:pt x="229061" y="165401"/>
                    <a:pt x="283336" y="154547"/>
                  </a:cubicBezTo>
                  <a:cubicBezTo>
                    <a:pt x="330902" y="122836"/>
                    <a:pt x="309589" y="138076"/>
                    <a:pt x="347730" y="109471"/>
                  </a:cubicBezTo>
                  <a:cubicBezTo>
                    <a:pt x="352023" y="100885"/>
                    <a:pt x="355029" y="91524"/>
                    <a:pt x="360609" y="83713"/>
                  </a:cubicBezTo>
                  <a:cubicBezTo>
                    <a:pt x="365902" y="76303"/>
                    <a:pt x="375504" y="72356"/>
                    <a:pt x="379927" y="64395"/>
                  </a:cubicBezTo>
                  <a:cubicBezTo>
                    <a:pt x="386520" y="52528"/>
                    <a:pt x="381510" y="33289"/>
                    <a:pt x="392806" y="25758"/>
                  </a:cubicBezTo>
                  <a:cubicBezTo>
                    <a:pt x="416118" y="10217"/>
                    <a:pt x="408663" y="19801"/>
                    <a:pt x="418564" y="0"/>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Freeform 7"/>
            <p:cNvSpPr/>
            <p:nvPr/>
          </p:nvSpPr>
          <p:spPr>
            <a:xfrm>
              <a:off x="2106216" y="2369344"/>
              <a:ext cx="70247" cy="173831"/>
            </a:xfrm>
            <a:custGeom>
              <a:avLst/>
              <a:gdLst>
                <a:gd name="connsiteX0" fmla="*/ 0 w 70834"/>
                <a:gd name="connsiteY0" fmla="*/ 173864 h 173864"/>
                <a:gd name="connsiteX1" fmla="*/ 32197 w 70834"/>
                <a:gd name="connsiteY1" fmla="*/ 90152 h 173864"/>
                <a:gd name="connsiteX2" fmla="*/ 51515 w 70834"/>
                <a:gd name="connsiteY2" fmla="*/ 32197 h 173864"/>
                <a:gd name="connsiteX3" fmla="*/ 70834 w 70834"/>
                <a:gd name="connsiteY3" fmla="*/ 0 h 173864"/>
              </a:gdLst>
              <a:ahLst/>
              <a:cxnLst>
                <a:cxn ang="0">
                  <a:pos x="connsiteX0" y="connsiteY0"/>
                </a:cxn>
                <a:cxn ang="0">
                  <a:pos x="connsiteX1" y="connsiteY1"/>
                </a:cxn>
                <a:cxn ang="0">
                  <a:pos x="connsiteX2" y="connsiteY2"/>
                </a:cxn>
                <a:cxn ang="0">
                  <a:pos x="connsiteX3" y="connsiteY3"/>
                </a:cxn>
              </a:cxnLst>
              <a:rect l="l" t="t" r="r" b="b"/>
              <a:pathLst>
                <a:path w="70834" h="173864">
                  <a:moveTo>
                    <a:pt x="0" y="173864"/>
                  </a:moveTo>
                  <a:cubicBezTo>
                    <a:pt x="44654" y="118048"/>
                    <a:pt x="13873" y="168030"/>
                    <a:pt x="32197" y="90152"/>
                  </a:cubicBezTo>
                  <a:cubicBezTo>
                    <a:pt x="36861" y="70330"/>
                    <a:pt x="40219" y="49140"/>
                    <a:pt x="51515" y="32197"/>
                  </a:cubicBezTo>
                  <a:cubicBezTo>
                    <a:pt x="67056" y="8885"/>
                    <a:pt x="60933" y="19801"/>
                    <a:pt x="70834" y="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Oval 8"/>
            <p:cNvSpPr/>
            <p:nvPr/>
          </p:nvSpPr>
          <p:spPr>
            <a:xfrm>
              <a:off x="2140744" y="2313385"/>
              <a:ext cx="109538" cy="113109"/>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Freeform 10"/>
            <p:cNvSpPr/>
            <p:nvPr/>
          </p:nvSpPr>
          <p:spPr>
            <a:xfrm>
              <a:off x="2234804" y="2395538"/>
              <a:ext cx="463153" cy="444104"/>
            </a:xfrm>
            <a:custGeom>
              <a:avLst/>
              <a:gdLst>
                <a:gd name="connsiteX0" fmla="*/ 0 w 463639"/>
                <a:gd name="connsiteY0" fmla="*/ 0 h 444322"/>
                <a:gd name="connsiteX1" fmla="*/ 70833 w 463639"/>
                <a:gd name="connsiteY1" fmla="*/ 45076 h 444322"/>
                <a:gd name="connsiteX2" fmla="*/ 90152 w 463639"/>
                <a:gd name="connsiteY2" fmla="*/ 57955 h 444322"/>
                <a:gd name="connsiteX3" fmla="*/ 128788 w 463639"/>
                <a:gd name="connsiteY3" fmla="*/ 115910 h 444322"/>
                <a:gd name="connsiteX4" fmla="*/ 141667 w 463639"/>
                <a:gd name="connsiteY4" fmla="*/ 135229 h 444322"/>
                <a:gd name="connsiteX5" fmla="*/ 167425 w 463639"/>
                <a:gd name="connsiteY5" fmla="*/ 212502 h 444322"/>
                <a:gd name="connsiteX6" fmla="*/ 173864 w 463639"/>
                <a:gd name="connsiteY6" fmla="*/ 231820 h 444322"/>
                <a:gd name="connsiteX7" fmla="*/ 186743 w 463639"/>
                <a:gd name="connsiteY7" fmla="*/ 251138 h 444322"/>
                <a:gd name="connsiteX8" fmla="*/ 206061 w 463639"/>
                <a:gd name="connsiteY8" fmla="*/ 296215 h 444322"/>
                <a:gd name="connsiteX9" fmla="*/ 212501 w 463639"/>
                <a:gd name="connsiteY9" fmla="*/ 315533 h 444322"/>
                <a:gd name="connsiteX10" fmla="*/ 270456 w 463639"/>
                <a:gd name="connsiteY10" fmla="*/ 347730 h 444322"/>
                <a:gd name="connsiteX11" fmla="*/ 289774 w 463639"/>
                <a:gd name="connsiteY11" fmla="*/ 360609 h 444322"/>
                <a:gd name="connsiteX12" fmla="*/ 334850 w 463639"/>
                <a:gd name="connsiteY12" fmla="*/ 373488 h 444322"/>
                <a:gd name="connsiteX13" fmla="*/ 373487 w 463639"/>
                <a:gd name="connsiteY13" fmla="*/ 392806 h 444322"/>
                <a:gd name="connsiteX14" fmla="*/ 418563 w 463639"/>
                <a:gd name="connsiteY14" fmla="*/ 412124 h 444322"/>
                <a:gd name="connsiteX15" fmla="*/ 437881 w 463639"/>
                <a:gd name="connsiteY15" fmla="*/ 425003 h 444322"/>
                <a:gd name="connsiteX16" fmla="*/ 463639 w 463639"/>
                <a:gd name="connsiteY16" fmla="*/ 444322 h 44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3639" h="444322">
                  <a:moveTo>
                    <a:pt x="0" y="0"/>
                  </a:moveTo>
                  <a:cubicBezTo>
                    <a:pt x="45471" y="27284"/>
                    <a:pt x="21781" y="12375"/>
                    <a:pt x="70833" y="45076"/>
                  </a:cubicBezTo>
                  <a:lnTo>
                    <a:pt x="90152" y="57955"/>
                  </a:lnTo>
                  <a:lnTo>
                    <a:pt x="128788" y="115910"/>
                  </a:lnTo>
                  <a:cubicBezTo>
                    <a:pt x="133081" y="122350"/>
                    <a:pt x="139220" y="127887"/>
                    <a:pt x="141667" y="135229"/>
                  </a:cubicBezTo>
                  <a:lnTo>
                    <a:pt x="167425" y="212502"/>
                  </a:lnTo>
                  <a:cubicBezTo>
                    <a:pt x="169571" y="218941"/>
                    <a:pt x="170099" y="226172"/>
                    <a:pt x="173864" y="231820"/>
                  </a:cubicBezTo>
                  <a:lnTo>
                    <a:pt x="186743" y="251138"/>
                  </a:lnTo>
                  <a:cubicBezTo>
                    <a:pt x="200145" y="304742"/>
                    <a:pt x="183827" y="251747"/>
                    <a:pt x="206061" y="296215"/>
                  </a:cubicBezTo>
                  <a:cubicBezTo>
                    <a:pt x="209096" y="302286"/>
                    <a:pt x="207701" y="310733"/>
                    <a:pt x="212501" y="315533"/>
                  </a:cubicBezTo>
                  <a:cubicBezTo>
                    <a:pt x="234645" y="337676"/>
                    <a:pt x="246163" y="339633"/>
                    <a:pt x="270456" y="347730"/>
                  </a:cubicBezTo>
                  <a:cubicBezTo>
                    <a:pt x="276895" y="352023"/>
                    <a:pt x="282661" y="357560"/>
                    <a:pt x="289774" y="360609"/>
                  </a:cubicBezTo>
                  <a:cubicBezTo>
                    <a:pt x="318678" y="372996"/>
                    <a:pt x="309774" y="360950"/>
                    <a:pt x="334850" y="373488"/>
                  </a:cubicBezTo>
                  <a:cubicBezTo>
                    <a:pt x="384774" y="398451"/>
                    <a:pt x="324938" y="376624"/>
                    <a:pt x="373487" y="392806"/>
                  </a:cubicBezTo>
                  <a:cubicBezTo>
                    <a:pt x="421986" y="425139"/>
                    <a:pt x="360348" y="387175"/>
                    <a:pt x="418563" y="412124"/>
                  </a:cubicBezTo>
                  <a:cubicBezTo>
                    <a:pt x="425676" y="415173"/>
                    <a:pt x="430959" y="421542"/>
                    <a:pt x="437881" y="425003"/>
                  </a:cubicBezTo>
                  <a:cubicBezTo>
                    <a:pt x="464405" y="438266"/>
                    <a:pt x="452289" y="421621"/>
                    <a:pt x="463639" y="444322"/>
                  </a:cubicBezTo>
                </a:path>
              </a:pathLst>
            </a:custGeom>
            <a:noFill/>
            <a:ln>
              <a:solidFill>
                <a:srgbClr val="FCC2D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9" name="TextBox 18"/>
          <p:cNvSpPr txBox="1"/>
          <p:nvPr/>
        </p:nvSpPr>
        <p:spPr>
          <a:xfrm>
            <a:off x="1992313" y="5037138"/>
            <a:ext cx="1260475" cy="379412"/>
          </a:xfrm>
          <a:prstGeom prst="rect">
            <a:avLst/>
          </a:prstGeom>
          <a:noFill/>
        </p:spPr>
        <p:txBody>
          <a:bodyPr>
            <a:spAutoFit/>
          </a:bodyPr>
          <a:lstStyle/>
          <a:p>
            <a:pPr>
              <a:defRPr/>
            </a:pPr>
            <a:r>
              <a:rPr lang="en-US" sz="1867" dirty="0">
                <a:solidFill>
                  <a:schemeClr val="accent1"/>
                </a:solidFill>
                <a:ea typeface="Times New Roman" charset="0"/>
                <a:cs typeface="Times New Roman" charset="0"/>
              </a:rPr>
              <a:t>Axial CT</a:t>
            </a:r>
          </a:p>
        </p:txBody>
      </p:sp>
      <p:pic>
        <p:nvPicPr>
          <p:cNvPr id="39941" name="Picture 3"/>
          <p:cNvPicPr>
            <a:picLocks noChangeAspect="1"/>
          </p:cNvPicPr>
          <p:nvPr/>
        </p:nvPicPr>
        <p:blipFill>
          <a:blip r:embed="rId4">
            <a:extLst>
              <a:ext uri="{28A0092B-C50C-407E-A947-70E740481C1C}">
                <a14:useLocalDpi xmlns:a14="http://schemas.microsoft.com/office/drawing/2010/main" val="0"/>
              </a:ext>
            </a:extLst>
          </a:blip>
          <a:srcRect l="48531" t="43614" r="23529" b="31689"/>
          <a:stretch>
            <a:fillRect/>
          </a:stretch>
        </p:blipFill>
        <p:spPr bwMode="auto">
          <a:xfrm>
            <a:off x="4870450" y="2011363"/>
            <a:ext cx="3381375"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p:cNvSpPr txBox="1"/>
          <p:nvPr/>
        </p:nvSpPr>
        <p:spPr>
          <a:xfrm>
            <a:off x="5486400" y="5064125"/>
            <a:ext cx="1600200" cy="379413"/>
          </a:xfrm>
          <a:prstGeom prst="rect">
            <a:avLst/>
          </a:prstGeom>
          <a:noFill/>
        </p:spPr>
        <p:txBody>
          <a:bodyPr>
            <a:spAutoFit/>
          </a:bodyPr>
          <a:lstStyle/>
          <a:p>
            <a:pPr>
              <a:defRPr/>
            </a:pPr>
            <a:r>
              <a:rPr lang="en-US" sz="1867" dirty="0">
                <a:solidFill>
                  <a:schemeClr val="accent1"/>
                </a:solidFill>
                <a:ea typeface="Times New Roman" charset="0"/>
                <a:cs typeface="Times New Roman" charset="0"/>
              </a:rPr>
              <a:t>Axial T1 +C</a:t>
            </a:r>
          </a:p>
        </p:txBody>
      </p:sp>
      <p:pic>
        <p:nvPicPr>
          <p:cNvPr id="39943" name="Picture 2" descr="P:\Ho\cranial nerves 4.jpg"/>
          <p:cNvPicPr>
            <a:picLocks noChangeAspect="1" noChangeArrowheads="1"/>
          </p:cNvPicPr>
          <p:nvPr/>
        </p:nvPicPr>
        <p:blipFill>
          <a:blip r:embed="rId5">
            <a:extLst>
              <a:ext uri="{28A0092B-C50C-407E-A947-70E740481C1C}">
                <a14:useLocalDpi xmlns:a14="http://schemas.microsoft.com/office/drawing/2010/main" val="0"/>
              </a:ext>
            </a:extLst>
          </a:blip>
          <a:srcRect l="47292" t="31218" r="7611" b="25160"/>
          <a:stretch>
            <a:fillRect/>
          </a:stretch>
        </p:blipFill>
        <p:spPr bwMode="auto">
          <a:xfrm>
            <a:off x="8534400" y="2011363"/>
            <a:ext cx="3136900"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9220200" y="5086350"/>
            <a:ext cx="1519238" cy="369888"/>
          </a:xfrm>
          <a:prstGeom prst="rect">
            <a:avLst/>
          </a:prstGeom>
          <a:noFill/>
        </p:spPr>
        <p:txBody>
          <a:bodyPr wrap="none">
            <a:spAutoFit/>
          </a:bodyPr>
          <a:lstStyle/>
          <a:p>
            <a:pPr>
              <a:defRPr/>
            </a:pPr>
            <a:r>
              <a:rPr lang="en-US" dirty="0">
                <a:solidFill>
                  <a:schemeClr val="accent5"/>
                </a:solidFill>
                <a:latin typeface="Times New Roman" charset="0"/>
                <a:ea typeface="Times New Roman" charset="0"/>
                <a:cs typeface="Times New Roman" charset="0"/>
              </a:rPr>
              <a:t>Axial FIESTA</a:t>
            </a:r>
            <a:endParaRPr lang="en-US" dirty="0"/>
          </a:p>
        </p:txBody>
      </p:sp>
      <p:sp>
        <p:nvSpPr>
          <p:cNvPr id="30" name="TextBox 29"/>
          <p:cNvSpPr txBox="1"/>
          <p:nvPr/>
        </p:nvSpPr>
        <p:spPr>
          <a:xfrm>
            <a:off x="685800" y="5789613"/>
            <a:ext cx="11201400" cy="338137"/>
          </a:xfrm>
          <a:prstGeom prst="rect">
            <a:avLst/>
          </a:prstGeom>
          <a:noFill/>
          <a:ln>
            <a:solidFill>
              <a:schemeClr val="tx2"/>
            </a:solidFill>
          </a:ln>
        </p:spPr>
        <p:txBody>
          <a:bodyPr>
            <a:spAutoFit/>
          </a:bodyPr>
          <a:lstStyle/>
          <a:p>
            <a:pPr algn="ctr">
              <a:defRPr/>
            </a:pPr>
            <a:r>
              <a:rPr lang="en-US" sz="1600" b="1" u="sng" dirty="0">
                <a:solidFill>
                  <a:schemeClr val="accent5"/>
                </a:solidFill>
                <a:latin typeface="Times New Roman" charset="0"/>
                <a:ea typeface="Times New Roman" charset="0"/>
                <a:cs typeface="Times New Roman" charset="0"/>
              </a:rPr>
              <a:t>Facial nerve segments</a:t>
            </a:r>
            <a:r>
              <a:rPr lang="en-US" sz="1600" dirty="0">
                <a:solidFill>
                  <a:schemeClr val="accent5"/>
                </a:solidFill>
                <a:latin typeface="Times New Roman" charset="0"/>
                <a:ea typeface="Times New Roman" charset="0"/>
                <a:cs typeface="Times New Roman" charset="0"/>
              </a:rPr>
              <a:t>: </a:t>
            </a:r>
            <a:r>
              <a:rPr lang="en-US" sz="1600" dirty="0">
                <a:solidFill>
                  <a:srgbClr val="FF0000"/>
                </a:solidFill>
                <a:latin typeface="Times New Roman" charset="0"/>
                <a:ea typeface="Times New Roman" charset="0"/>
                <a:cs typeface="Times New Roman" charset="0"/>
              </a:rPr>
              <a:t>Intracranial (</a:t>
            </a:r>
            <a:r>
              <a:rPr lang="en-US" sz="1600" dirty="0" err="1">
                <a:solidFill>
                  <a:srgbClr val="FF0000"/>
                </a:solidFill>
                <a:latin typeface="Times New Roman" charset="0"/>
                <a:ea typeface="Times New Roman" charset="0"/>
                <a:cs typeface="Times New Roman" charset="0"/>
              </a:rPr>
              <a:t>cisternal</a:t>
            </a:r>
            <a:r>
              <a:rPr lang="en-US" sz="1600" dirty="0">
                <a:solidFill>
                  <a:srgbClr val="FF0000"/>
                </a:solidFill>
                <a:latin typeface="Times New Roman" charset="0"/>
                <a:ea typeface="Times New Roman" charset="0"/>
                <a:cs typeface="Times New Roman" charset="0"/>
              </a:rPr>
              <a:t>) </a:t>
            </a:r>
            <a:r>
              <a:rPr lang="en-US" sz="1600" dirty="0">
                <a:solidFill>
                  <a:schemeClr val="accent1"/>
                </a:solidFill>
                <a:latin typeface="Times New Roman" charset="0"/>
                <a:ea typeface="Times New Roman" charset="0"/>
                <a:cs typeface="Times New Roman" charset="0"/>
                <a:sym typeface="Wingdings" panose="05000000000000000000" pitchFamily="2" charset="2"/>
              </a:rPr>
              <a:t> </a:t>
            </a:r>
            <a:r>
              <a:rPr lang="en-US" sz="1600" dirty="0">
                <a:solidFill>
                  <a:srgbClr val="FFFF00"/>
                </a:solidFill>
                <a:latin typeface="Times New Roman" charset="0"/>
                <a:ea typeface="Times New Roman" charset="0"/>
                <a:cs typeface="Times New Roman" charset="0"/>
                <a:sym typeface="Wingdings" panose="05000000000000000000" pitchFamily="2" charset="2"/>
              </a:rPr>
              <a:t>meatal (IAC) </a:t>
            </a:r>
            <a:r>
              <a:rPr lang="en-US" sz="1600" dirty="0">
                <a:solidFill>
                  <a:schemeClr val="accent1"/>
                </a:solidFill>
                <a:latin typeface="Times New Roman" charset="0"/>
                <a:ea typeface="Times New Roman" charset="0"/>
                <a:cs typeface="Times New Roman" charset="0"/>
                <a:sym typeface="Wingdings" panose="05000000000000000000" pitchFamily="2" charset="2"/>
              </a:rPr>
              <a:t> </a:t>
            </a:r>
            <a:r>
              <a:rPr lang="en-US" sz="1600" dirty="0">
                <a:solidFill>
                  <a:srgbClr val="00B050"/>
                </a:solidFill>
                <a:latin typeface="Times New Roman" charset="0"/>
                <a:ea typeface="Times New Roman" charset="0"/>
                <a:cs typeface="Times New Roman" charset="0"/>
                <a:sym typeface="Wingdings" panose="05000000000000000000" pitchFamily="2" charset="2"/>
              </a:rPr>
              <a:t>labyrinthine</a:t>
            </a:r>
            <a:r>
              <a:rPr lang="en-US" sz="1600" dirty="0">
                <a:solidFill>
                  <a:schemeClr val="accent1"/>
                </a:solidFill>
                <a:latin typeface="Times New Roman" charset="0"/>
                <a:ea typeface="Times New Roman" charset="0"/>
                <a:cs typeface="Times New Roman" charset="0"/>
                <a:sym typeface="Wingdings" panose="05000000000000000000" pitchFamily="2" charset="2"/>
              </a:rPr>
              <a:t>  </a:t>
            </a:r>
            <a:r>
              <a:rPr lang="en-US" sz="1600" dirty="0">
                <a:solidFill>
                  <a:srgbClr val="00B0F0"/>
                </a:solidFill>
                <a:latin typeface="Times New Roman" charset="0"/>
                <a:ea typeface="Times New Roman" charset="0"/>
                <a:cs typeface="Times New Roman" charset="0"/>
                <a:sym typeface="Wingdings" panose="05000000000000000000" pitchFamily="2" charset="2"/>
              </a:rPr>
              <a:t>geniculate ganglion </a:t>
            </a:r>
            <a:r>
              <a:rPr lang="en-US" sz="1600" dirty="0">
                <a:solidFill>
                  <a:schemeClr val="accent1"/>
                </a:solidFill>
                <a:latin typeface="Times New Roman" charset="0"/>
                <a:ea typeface="Times New Roman" charset="0"/>
                <a:cs typeface="Times New Roman" charset="0"/>
                <a:sym typeface="Wingdings" panose="05000000000000000000" pitchFamily="2" charset="2"/>
              </a:rPr>
              <a:t> </a:t>
            </a:r>
            <a:r>
              <a:rPr lang="en-US" sz="1600" dirty="0">
                <a:solidFill>
                  <a:srgbClr val="FCC2D0"/>
                </a:solidFill>
                <a:latin typeface="Times New Roman" charset="0"/>
                <a:ea typeface="Times New Roman" charset="0"/>
                <a:cs typeface="Times New Roman" charset="0"/>
                <a:sym typeface="Wingdings" panose="05000000000000000000" pitchFamily="2" charset="2"/>
              </a:rPr>
              <a:t>tympanic (horizontal)</a:t>
            </a:r>
            <a:r>
              <a:rPr lang="en-US" sz="1600" dirty="0">
                <a:solidFill>
                  <a:schemeClr val="accent1"/>
                </a:solidFill>
                <a:latin typeface="Times New Roman" charset="0"/>
                <a:ea typeface="Times New Roman" charset="0"/>
                <a:cs typeface="Times New Roman" charset="0"/>
                <a:sym typeface="Wingdings" panose="05000000000000000000" pitchFamily="2" charset="2"/>
              </a:rPr>
              <a:t> </a:t>
            </a:r>
            <a:r>
              <a:rPr lang="en-US" sz="1600" dirty="0">
                <a:solidFill>
                  <a:srgbClr val="BE85C9"/>
                </a:solidFill>
                <a:latin typeface="Times New Roman" charset="0"/>
                <a:ea typeface="Times New Roman" charset="0"/>
                <a:cs typeface="Times New Roman" charset="0"/>
                <a:sym typeface="Wingdings" panose="05000000000000000000" pitchFamily="2" charset="2"/>
              </a:rPr>
              <a:t> </a:t>
            </a:r>
            <a:endParaRPr lang="en-US" sz="1600" dirty="0">
              <a:solidFill>
                <a:srgbClr val="BE85C9"/>
              </a:solidFill>
              <a:latin typeface="Times New Roman" charset="0"/>
              <a:ea typeface="Times New Roman" charset="0"/>
              <a:cs typeface="Times New Roman"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3"/>
          <p:cNvPicPr>
            <a:picLocks noChangeAspect="1"/>
          </p:cNvPicPr>
          <p:nvPr/>
        </p:nvPicPr>
        <p:blipFill>
          <a:blip r:embed="rId3">
            <a:extLst>
              <a:ext uri="{28A0092B-C50C-407E-A947-70E740481C1C}">
                <a14:useLocalDpi xmlns:a14="http://schemas.microsoft.com/office/drawing/2010/main" val="0"/>
              </a:ext>
            </a:extLst>
          </a:blip>
          <a:srcRect l="14066" r="16704" b="19231"/>
          <a:stretch>
            <a:fillRect/>
          </a:stretch>
        </p:blipFill>
        <p:spPr bwMode="auto">
          <a:xfrm>
            <a:off x="838200" y="1676400"/>
            <a:ext cx="3581400"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7" name="Picture 4"/>
          <p:cNvPicPr>
            <a:picLocks noChangeAspect="1"/>
          </p:cNvPicPr>
          <p:nvPr/>
        </p:nvPicPr>
        <p:blipFill>
          <a:blip r:embed="rId4">
            <a:extLst>
              <a:ext uri="{28A0092B-C50C-407E-A947-70E740481C1C}">
                <a14:useLocalDpi xmlns:a14="http://schemas.microsoft.com/office/drawing/2010/main" val="0"/>
              </a:ext>
            </a:extLst>
          </a:blip>
          <a:srcRect t="15625" b="18750"/>
          <a:stretch>
            <a:fillRect/>
          </a:stretch>
        </p:blipFill>
        <p:spPr bwMode="auto">
          <a:xfrm>
            <a:off x="4686300" y="1398588"/>
            <a:ext cx="36576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8" name="Picture 5"/>
          <p:cNvPicPr>
            <a:picLocks noChangeAspect="1"/>
          </p:cNvPicPr>
          <p:nvPr/>
        </p:nvPicPr>
        <p:blipFill>
          <a:blip r:embed="rId5">
            <a:extLst>
              <a:ext uri="{28A0092B-C50C-407E-A947-70E740481C1C}">
                <a14:useLocalDpi xmlns:a14="http://schemas.microsoft.com/office/drawing/2010/main" val="0"/>
              </a:ext>
            </a:extLst>
          </a:blip>
          <a:srcRect l="1564" t="17188" r="3125" b="15625"/>
          <a:stretch>
            <a:fillRect/>
          </a:stretch>
        </p:blipFill>
        <p:spPr bwMode="auto">
          <a:xfrm>
            <a:off x="8634413" y="1447800"/>
            <a:ext cx="3344862"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p:cNvSpPr txBox="1">
            <a:spLocks/>
          </p:cNvSpPr>
          <p:nvPr/>
        </p:nvSpPr>
        <p:spPr bwMode="auto">
          <a:xfrm>
            <a:off x="1371600" y="379413"/>
            <a:ext cx="10363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defRPr/>
            </a:pPr>
            <a:r>
              <a:rPr lang="en-US" altLang="en-US" kern="0" dirty="0" smtClean="0"/>
              <a:t>Case 6</a:t>
            </a:r>
          </a:p>
        </p:txBody>
      </p:sp>
      <p:sp>
        <p:nvSpPr>
          <p:cNvPr id="8" name="Content Placeholder 2"/>
          <p:cNvSpPr txBox="1">
            <a:spLocks/>
          </p:cNvSpPr>
          <p:nvPr/>
        </p:nvSpPr>
        <p:spPr bwMode="auto">
          <a:xfrm>
            <a:off x="4495800" y="4367213"/>
            <a:ext cx="7696200" cy="221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2767" tIns="61384" rIns="122767" bIns="61384">
            <a:spAutoFit/>
          </a:bodyPr>
          <a:lstStyle>
            <a:lvl1pPr marL="342900" indent="-342900" algn="l" rtl="0" eaLnBrk="1" fontAlgn="base" hangingPunct="1">
              <a:spcBef>
                <a:spcPct val="0"/>
              </a:spcBef>
              <a:spcAft>
                <a:spcPct val="25000"/>
              </a:spcAft>
              <a:buClr>
                <a:schemeClr val="tx2"/>
              </a:buClr>
              <a:buFont typeface="Wingdings" pitchFamily="2" charset="2"/>
              <a:buChar char="§"/>
              <a:defRPr sz="2800" b="0">
                <a:solidFill>
                  <a:schemeClr val="accent1"/>
                </a:solidFill>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0"/>
              </a:spcBef>
              <a:spcAft>
                <a:spcPct val="25000"/>
              </a:spcAft>
              <a:buClr>
                <a:schemeClr val="tx2"/>
              </a:buClr>
              <a:buFont typeface="Wingdings" pitchFamily="2" charset="2"/>
              <a:buChar char="§"/>
              <a:defRPr sz="2800" b="0">
                <a:solidFill>
                  <a:schemeClr val="accent1"/>
                </a:solidFill>
                <a:latin typeface="Times New Roman" panose="02020603050405020304" pitchFamily="18" charset="0"/>
                <a:cs typeface="Times New Roman" panose="02020603050405020304" pitchFamily="18" charset="0"/>
              </a:defRPr>
            </a:lvl2pPr>
            <a:lvl3pPr marL="1143000" indent="-228600" algn="l" rtl="0" eaLnBrk="1" fontAlgn="base" hangingPunct="1">
              <a:spcBef>
                <a:spcPct val="0"/>
              </a:spcBef>
              <a:spcAft>
                <a:spcPct val="25000"/>
              </a:spcAft>
              <a:buClr>
                <a:schemeClr val="tx2"/>
              </a:buClr>
              <a:buFont typeface="Wingdings" pitchFamily="2" charset="2"/>
              <a:buChar char="§"/>
              <a:defRPr sz="2400" b="0">
                <a:solidFill>
                  <a:schemeClr val="accent1"/>
                </a:solidFill>
                <a:latin typeface="Times New Roman" panose="02020603050405020304" pitchFamily="18" charset="0"/>
                <a:cs typeface="Times New Roman" panose="02020603050405020304" pitchFamily="18" charset="0"/>
              </a:defRPr>
            </a:lvl3pPr>
            <a:lvl4pPr marL="1600200" indent="-228600" algn="l" rtl="0" eaLnBrk="1" fontAlgn="base" hangingPunct="1">
              <a:spcBef>
                <a:spcPct val="0"/>
              </a:spcBef>
              <a:spcAft>
                <a:spcPct val="25000"/>
              </a:spcAft>
              <a:buClr>
                <a:schemeClr val="tx2"/>
              </a:buClr>
              <a:buFont typeface="Wingdings" pitchFamily="2" charset="2"/>
              <a:buChar char="§"/>
              <a:defRPr sz="2000" b="0">
                <a:solidFill>
                  <a:schemeClr val="accent1"/>
                </a:solidFill>
                <a:latin typeface="Times New Roman" panose="02020603050405020304" pitchFamily="18" charset="0"/>
                <a:cs typeface="Times New Roman" panose="02020603050405020304" pitchFamily="18" charset="0"/>
              </a:defRPr>
            </a:lvl4pPr>
            <a:lvl5pPr marL="2057400" indent="-228600" algn="l" rtl="0" eaLnBrk="1" fontAlgn="base" hangingPunct="1">
              <a:spcBef>
                <a:spcPct val="0"/>
              </a:spcBef>
              <a:spcAft>
                <a:spcPct val="25000"/>
              </a:spcAft>
              <a:buClr>
                <a:schemeClr val="tx2"/>
              </a:buClr>
              <a:buFont typeface="Wingdings" pitchFamily="2" charset="2"/>
              <a:buChar char="§"/>
              <a:defRPr sz="2000" b="0">
                <a:solidFill>
                  <a:schemeClr val="accent1"/>
                </a:solidFill>
                <a:latin typeface="Times New Roman" panose="02020603050405020304" pitchFamily="18" charset="0"/>
                <a:cs typeface="Times New Roman" panose="02020603050405020304" pitchFamily="18" charset="0"/>
              </a:defRPr>
            </a:lvl5pPr>
            <a:lvl6pPr marL="25146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6pPr>
            <a:lvl7pPr marL="29718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7pPr>
            <a:lvl8pPr marL="34290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8pPr>
            <a:lvl9pPr marL="3886200" indent="-228600" algn="l" rtl="0" eaLnBrk="1" fontAlgn="base" hangingPunct="1">
              <a:spcBef>
                <a:spcPct val="0"/>
              </a:spcBef>
              <a:spcAft>
                <a:spcPct val="25000"/>
              </a:spcAft>
              <a:buClr>
                <a:schemeClr val="tx2"/>
              </a:buClr>
              <a:buFont typeface="Wingdings" pitchFamily="2" charset="2"/>
              <a:buChar char="§"/>
              <a:defRPr sz="2000">
                <a:solidFill>
                  <a:schemeClr val="accent1"/>
                </a:solidFill>
                <a:latin typeface="+mn-lt"/>
              </a:defRPr>
            </a:lvl9pPr>
          </a:lstStyle>
          <a:p>
            <a:pPr marL="514350" indent="-514350">
              <a:buFont typeface="Wingdings" pitchFamily="2" charset="2"/>
              <a:buAutoNum type="arabicPeriod"/>
              <a:defRPr/>
            </a:pPr>
            <a:r>
              <a:rPr lang="en-US" sz="3200" dirty="0" smtClean="0"/>
              <a:t>Where is this lesion centered anatomically?</a:t>
            </a:r>
          </a:p>
          <a:p>
            <a:pPr marL="514350" indent="-514350">
              <a:buFont typeface="Wingdings" pitchFamily="2" charset="2"/>
              <a:buAutoNum type="arabicPeriod"/>
              <a:defRPr/>
            </a:pPr>
            <a:r>
              <a:rPr lang="en-US" sz="3200" dirty="0" smtClean="0"/>
              <a:t>Which cranial </a:t>
            </a:r>
            <a:r>
              <a:rPr lang="en-US" sz="3200" dirty="0"/>
              <a:t>nerves pass through this anatomic </a:t>
            </a:r>
            <a:r>
              <a:rPr lang="en-US" sz="3200" dirty="0" smtClean="0"/>
              <a:t>region? </a:t>
            </a:r>
            <a:endParaRPr lang="en-US" sz="3200" u="sng" kern="0" dirty="0"/>
          </a:p>
        </p:txBody>
      </p:sp>
      <p:sp>
        <p:nvSpPr>
          <p:cNvPr id="41991" name="TextBox 8"/>
          <p:cNvSpPr txBox="1">
            <a:spLocks noChangeArrowheads="1"/>
          </p:cNvSpPr>
          <p:nvPr/>
        </p:nvSpPr>
        <p:spPr bwMode="auto">
          <a:xfrm>
            <a:off x="2054225" y="6005513"/>
            <a:ext cx="1033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Axial CT</a:t>
            </a:r>
          </a:p>
        </p:txBody>
      </p:sp>
      <p:sp>
        <p:nvSpPr>
          <p:cNvPr id="41992" name="TextBox 9"/>
          <p:cNvSpPr txBox="1">
            <a:spLocks noChangeArrowheads="1"/>
          </p:cNvSpPr>
          <p:nvPr/>
        </p:nvSpPr>
        <p:spPr bwMode="auto">
          <a:xfrm>
            <a:off x="5799138" y="4006850"/>
            <a:ext cx="1316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Coronal CT</a:t>
            </a:r>
          </a:p>
        </p:txBody>
      </p:sp>
      <p:sp>
        <p:nvSpPr>
          <p:cNvPr id="41993" name="TextBox 10"/>
          <p:cNvSpPr txBox="1">
            <a:spLocks noChangeArrowheads="1"/>
          </p:cNvSpPr>
          <p:nvPr/>
        </p:nvSpPr>
        <p:spPr bwMode="auto">
          <a:xfrm>
            <a:off x="9753600" y="4005263"/>
            <a:ext cx="1316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Coronal CT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1"/>
          <p:cNvPicPr>
            <a:picLocks noChangeAspect="1"/>
          </p:cNvPicPr>
          <p:nvPr/>
        </p:nvPicPr>
        <p:blipFill>
          <a:blip r:embed="rId3">
            <a:extLst>
              <a:ext uri="{28A0092B-C50C-407E-A947-70E740481C1C}">
                <a14:useLocalDpi xmlns:a14="http://schemas.microsoft.com/office/drawing/2010/main" val="0"/>
              </a:ext>
            </a:extLst>
          </a:blip>
          <a:srcRect l="4688" t="1852" r="9373" b="4396"/>
          <a:stretch>
            <a:fillRect/>
          </a:stretch>
        </p:blipFill>
        <p:spPr bwMode="auto">
          <a:xfrm>
            <a:off x="992188" y="1484313"/>
            <a:ext cx="4191000" cy="457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5" name="Picture 5"/>
          <p:cNvPicPr>
            <a:picLocks noChangeAspect="1"/>
          </p:cNvPicPr>
          <p:nvPr/>
        </p:nvPicPr>
        <p:blipFill>
          <a:blip r:embed="rId4">
            <a:extLst>
              <a:ext uri="{28A0092B-C50C-407E-A947-70E740481C1C}">
                <a14:useLocalDpi xmlns:a14="http://schemas.microsoft.com/office/drawing/2010/main" val="0"/>
              </a:ext>
            </a:extLst>
          </a:blip>
          <a:srcRect l="1564" t="17188" r="3125" b="15625"/>
          <a:stretch>
            <a:fillRect/>
          </a:stretch>
        </p:blipFill>
        <p:spPr bwMode="auto">
          <a:xfrm>
            <a:off x="6324600" y="1804988"/>
            <a:ext cx="4535488"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p:cNvSpPr txBox="1">
            <a:spLocks/>
          </p:cNvSpPr>
          <p:nvPr/>
        </p:nvSpPr>
        <p:spPr bwMode="auto">
          <a:xfrm>
            <a:off x="1371600" y="379413"/>
            <a:ext cx="10363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eaLnBrk="1" fontAlgn="base" hangingPunct="1">
              <a:spcBef>
                <a:spcPct val="0"/>
              </a:spcBef>
              <a:spcAft>
                <a:spcPct val="0"/>
              </a:spcAft>
              <a:defRPr sz="4000">
                <a:solidFill>
                  <a:schemeClr val="tx2"/>
                </a:solidFill>
                <a:latin typeface="Trebuchet MS" pitchFamily="34" charset="0"/>
              </a:defRPr>
            </a:lvl6pPr>
            <a:lvl7pPr marL="914400" algn="l" rtl="0" eaLnBrk="1" fontAlgn="base" hangingPunct="1">
              <a:spcBef>
                <a:spcPct val="0"/>
              </a:spcBef>
              <a:spcAft>
                <a:spcPct val="0"/>
              </a:spcAft>
              <a:defRPr sz="4000">
                <a:solidFill>
                  <a:schemeClr val="tx2"/>
                </a:solidFill>
                <a:latin typeface="Trebuchet MS" pitchFamily="34" charset="0"/>
              </a:defRPr>
            </a:lvl7pPr>
            <a:lvl8pPr marL="1371600" algn="l" rtl="0" eaLnBrk="1" fontAlgn="base" hangingPunct="1">
              <a:spcBef>
                <a:spcPct val="0"/>
              </a:spcBef>
              <a:spcAft>
                <a:spcPct val="0"/>
              </a:spcAft>
              <a:defRPr sz="4000">
                <a:solidFill>
                  <a:schemeClr val="tx2"/>
                </a:solidFill>
                <a:latin typeface="Trebuchet MS" pitchFamily="34" charset="0"/>
              </a:defRPr>
            </a:lvl8pPr>
            <a:lvl9pPr marL="1828800" algn="l" rtl="0" eaLnBrk="1" fontAlgn="base" hangingPunct="1">
              <a:spcBef>
                <a:spcPct val="0"/>
              </a:spcBef>
              <a:spcAft>
                <a:spcPct val="0"/>
              </a:spcAft>
              <a:defRPr sz="4000">
                <a:solidFill>
                  <a:schemeClr val="tx2"/>
                </a:solidFill>
                <a:latin typeface="Trebuchet MS" pitchFamily="34" charset="0"/>
              </a:defRPr>
            </a:lvl9pPr>
          </a:lstStyle>
          <a:p>
            <a:pPr>
              <a:defRPr/>
            </a:pPr>
            <a:r>
              <a:rPr lang="en-US" altLang="en-US" kern="0" dirty="0" smtClean="0"/>
              <a:t>Case 6 - Answers</a:t>
            </a:r>
          </a:p>
        </p:txBody>
      </p:sp>
      <p:sp>
        <p:nvSpPr>
          <p:cNvPr id="44037" name="TextBox 8"/>
          <p:cNvSpPr txBox="1">
            <a:spLocks noChangeArrowheads="1"/>
          </p:cNvSpPr>
          <p:nvPr/>
        </p:nvSpPr>
        <p:spPr bwMode="auto">
          <a:xfrm>
            <a:off x="2570163" y="6248400"/>
            <a:ext cx="10334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Axial CT</a:t>
            </a:r>
          </a:p>
        </p:txBody>
      </p:sp>
      <p:sp>
        <p:nvSpPr>
          <p:cNvPr id="44038" name="TextBox 10"/>
          <p:cNvSpPr txBox="1">
            <a:spLocks noChangeArrowheads="1"/>
          </p:cNvSpPr>
          <p:nvPr/>
        </p:nvSpPr>
        <p:spPr bwMode="auto">
          <a:xfrm>
            <a:off x="7800975" y="5327650"/>
            <a:ext cx="1316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1pPr>
            <a:lvl2pPr marL="742950" indent="-285750">
              <a:spcAft>
                <a:spcPct val="25000"/>
              </a:spcAft>
              <a:buClr>
                <a:schemeClr val="tx2"/>
              </a:buClr>
              <a:buFont typeface="Wingdings" panose="05000000000000000000" pitchFamily="2" charset="2"/>
              <a:buChar char="§"/>
              <a:defRPr sz="2800">
                <a:solidFill>
                  <a:schemeClr val="accent1"/>
                </a:solidFill>
                <a:latin typeface="Trebuchet MS" panose="020B0603020202020204" pitchFamily="34" charset="0"/>
              </a:defRPr>
            </a:lvl2pPr>
            <a:lvl3pPr marL="1143000" indent="-228600">
              <a:spcAft>
                <a:spcPct val="25000"/>
              </a:spcAft>
              <a:buClr>
                <a:schemeClr val="tx2"/>
              </a:buClr>
              <a:buFont typeface="Wingdings" panose="05000000000000000000" pitchFamily="2" charset="2"/>
              <a:buChar char="§"/>
              <a:defRPr sz="2400">
                <a:solidFill>
                  <a:schemeClr val="accent1"/>
                </a:solidFill>
                <a:latin typeface="Trebuchet MS" panose="020B0603020202020204" pitchFamily="34" charset="0"/>
              </a:defRPr>
            </a:lvl3pPr>
            <a:lvl4pPr marL="16002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4pPr>
            <a:lvl5pPr marL="2057400" indent="-228600">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5pPr>
            <a:lvl6pPr marL="25146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6pPr>
            <a:lvl7pPr marL="29718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7pPr>
            <a:lvl8pPr marL="34290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8pPr>
            <a:lvl9pPr marL="3886200" indent="-228600" eaLnBrk="0" fontAlgn="base" hangingPunct="0">
              <a:spcBef>
                <a:spcPct val="0"/>
              </a:spcBef>
              <a:spcAft>
                <a:spcPct val="25000"/>
              </a:spcAft>
              <a:buClr>
                <a:schemeClr val="tx2"/>
              </a:buClr>
              <a:buFont typeface="Wingdings" panose="05000000000000000000" pitchFamily="2" charset="2"/>
              <a:buChar char="§"/>
              <a:defRPr sz="2000">
                <a:solidFill>
                  <a:schemeClr val="accent1"/>
                </a:solidFill>
                <a:latin typeface="Trebuchet MS" panose="020B0603020202020204" pitchFamily="34" charset="0"/>
              </a:defRPr>
            </a:lvl9pPr>
          </a:lstStyle>
          <a:p>
            <a:pPr>
              <a:spcAft>
                <a:spcPct val="0"/>
              </a:spcAft>
              <a:buClrTx/>
              <a:buFontTx/>
              <a:buNone/>
            </a:pPr>
            <a:r>
              <a:rPr lang="en-US" altLang="en-US" sz="1800"/>
              <a:t>Coronal CT</a:t>
            </a:r>
          </a:p>
        </p:txBody>
      </p:sp>
      <p:cxnSp>
        <p:nvCxnSpPr>
          <p:cNvPr id="13" name="Straight Arrow Connector 12"/>
          <p:cNvCxnSpPr/>
          <p:nvPr/>
        </p:nvCxnSpPr>
        <p:spPr>
          <a:xfrm>
            <a:off x="1295400" y="2667000"/>
            <a:ext cx="1120541" cy="1115728"/>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Title 1"/>
          <p:cNvSpPr>
            <a:spLocks noGrp="1"/>
          </p:cNvSpPr>
          <p:nvPr>
            <p:ph type="title" idx="4294967295"/>
          </p:nvPr>
        </p:nvSpPr>
        <p:spPr>
          <a:xfrm>
            <a:off x="4953000" y="2209800"/>
            <a:ext cx="2819400" cy="1362075"/>
          </a:xfrm>
        </p:spPr>
        <p:txBody>
          <a:bodyPr/>
          <a:lstStyle/>
          <a:p>
            <a:pPr eaLnBrk="1" hangingPunct="1">
              <a:defRPr/>
            </a:pPr>
            <a:r>
              <a:rPr lang="en-US" altLang="en-US" dirty="0">
                <a:solidFill>
                  <a:schemeClr val="accent5"/>
                </a:solidFill>
              </a:rP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owerPoint Theme  - WFSOM">
  <a:themeElements>
    <a:clrScheme name="EL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fontScheme name="EL">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EL 13">
        <a:dk1>
          <a:srgbClr val="000000"/>
        </a:dk1>
        <a:lt1>
          <a:srgbClr val="FFF0C8"/>
        </a:lt1>
        <a:dk2>
          <a:srgbClr val="000000"/>
        </a:dk2>
        <a:lt2>
          <a:srgbClr val="969696"/>
        </a:lt2>
        <a:accent1>
          <a:srgbClr val="CC9900"/>
        </a:accent1>
        <a:accent2>
          <a:srgbClr val="669900"/>
        </a:accent2>
        <a:accent3>
          <a:srgbClr val="FFF6E0"/>
        </a:accent3>
        <a:accent4>
          <a:srgbClr val="000000"/>
        </a:accent4>
        <a:accent5>
          <a:srgbClr val="E2CAAA"/>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
      <a:clrScheme name="EL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fontScheme name="Default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0C8"/>
        </a:lt1>
        <a:dk2>
          <a:srgbClr val="000000"/>
        </a:dk2>
        <a:lt2>
          <a:srgbClr val="969696"/>
        </a:lt2>
        <a:accent1>
          <a:srgbClr val="CC9900"/>
        </a:accent1>
        <a:accent2>
          <a:srgbClr val="669900"/>
        </a:accent2>
        <a:accent3>
          <a:srgbClr val="FFF6E0"/>
        </a:accent3>
        <a:accent4>
          <a:srgbClr val="000000"/>
        </a:accent4>
        <a:accent5>
          <a:srgbClr val="E2CAAA"/>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fontScheme name="1_Default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Default Design 13">
        <a:dk1>
          <a:srgbClr val="000000"/>
        </a:dk1>
        <a:lt1>
          <a:srgbClr val="FFF0C8"/>
        </a:lt1>
        <a:dk2>
          <a:srgbClr val="000000"/>
        </a:dk2>
        <a:lt2>
          <a:srgbClr val="969696"/>
        </a:lt2>
        <a:accent1>
          <a:srgbClr val="CC9900"/>
        </a:accent1>
        <a:accent2>
          <a:srgbClr val="669900"/>
        </a:accent2>
        <a:accent3>
          <a:srgbClr val="FFF6E0"/>
        </a:accent3>
        <a:accent4>
          <a:srgbClr val="000000"/>
        </a:accent4>
        <a:accent5>
          <a:srgbClr val="E2CAAA"/>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
      <a:clrScheme name="1_Default Design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Wake Forest Baptist Health PPT Theme">
  <a:themeElements>
    <a:clrScheme name="Lacks WakeHealth">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fontScheme name="EL">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EL 13">
        <a:dk1>
          <a:srgbClr val="000000"/>
        </a:dk1>
        <a:lt1>
          <a:srgbClr val="FFF0C8"/>
        </a:lt1>
        <a:dk2>
          <a:srgbClr val="000000"/>
        </a:dk2>
        <a:lt2>
          <a:srgbClr val="969696"/>
        </a:lt2>
        <a:accent1>
          <a:srgbClr val="CC9900"/>
        </a:accent1>
        <a:accent2>
          <a:srgbClr val="669900"/>
        </a:accent2>
        <a:accent3>
          <a:srgbClr val="FFF6E0"/>
        </a:accent3>
        <a:accent4>
          <a:srgbClr val="000000"/>
        </a:accent4>
        <a:accent5>
          <a:srgbClr val="E2CAAA"/>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
      <a:clrScheme name="EL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Default Design">
  <a:themeElements>
    <a:clrScheme name="Lacks WakeHealth">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0C8"/>
        </a:lt1>
        <a:dk2>
          <a:srgbClr val="000000"/>
        </a:dk2>
        <a:lt2>
          <a:srgbClr val="969696"/>
        </a:lt2>
        <a:accent1>
          <a:srgbClr val="CC9900"/>
        </a:accent1>
        <a:accent2>
          <a:srgbClr val="669900"/>
        </a:accent2>
        <a:accent3>
          <a:srgbClr val="FFF6E0"/>
        </a:accent3>
        <a:accent4>
          <a:srgbClr val="000000"/>
        </a:accent4>
        <a:accent5>
          <a:srgbClr val="E2CAAA"/>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1_Default Design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fontScheme name="1_Default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Default Design 13">
        <a:dk1>
          <a:srgbClr val="000000"/>
        </a:dk1>
        <a:lt1>
          <a:srgbClr val="FFF0C8"/>
        </a:lt1>
        <a:dk2>
          <a:srgbClr val="000000"/>
        </a:dk2>
        <a:lt2>
          <a:srgbClr val="969696"/>
        </a:lt2>
        <a:accent1>
          <a:srgbClr val="CC9900"/>
        </a:accent1>
        <a:accent2>
          <a:srgbClr val="669900"/>
        </a:accent2>
        <a:accent3>
          <a:srgbClr val="FFF6E0"/>
        </a:accent3>
        <a:accent4>
          <a:srgbClr val="000000"/>
        </a:accent4>
        <a:accent5>
          <a:srgbClr val="E2CAAA"/>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
      <a:clrScheme name="1_Default Design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PowerPoint Theme  - WFSOM">
  <a:themeElements>
    <a:clrScheme name="EL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fontScheme name="EL">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EL 13">
        <a:dk1>
          <a:srgbClr val="000000"/>
        </a:dk1>
        <a:lt1>
          <a:srgbClr val="FFF0C8"/>
        </a:lt1>
        <a:dk2>
          <a:srgbClr val="000000"/>
        </a:dk2>
        <a:lt2>
          <a:srgbClr val="969696"/>
        </a:lt2>
        <a:accent1>
          <a:srgbClr val="CC9900"/>
        </a:accent1>
        <a:accent2>
          <a:srgbClr val="669900"/>
        </a:accent2>
        <a:accent3>
          <a:srgbClr val="FFF6E0"/>
        </a:accent3>
        <a:accent4>
          <a:srgbClr val="000000"/>
        </a:accent4>
        <a:accent5>
          <a:srgbClr val="E2CAAA"/>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
      <a:clrScheme name="EL 14">
        <a:dk1>
          <a:srgbClr val="000000"/>
        </a:dk1>
        <a:lt1>
          <a:srgbClr val="000000"/>
        </a:lt1>
        <a:dk2>
          <a:srgbClr val="CC9900"/>
        </a:dk2>
        <a:lt2>
          <a:srgbClr val="969696"/>
        </a:lt2>
        <a:accent1>
          <a:srgbClr val="FFF0C8"/>
        </a:accent1>
        <a:accent2>
          <a:srgbClr val="669900"/>
        </a:accent2>
        <a:accent3>
          <a:srgbClr val="AAAAAA"/>
        </a:accent3>
        <a:accent4>
          <a:srgbClr val="000000"/>
        </a:accent4>
        <a:accent5>
          <a:srgbClr val="FFF6E0"/>
        </a:accent5>
        <a:accent6>
          <a:srgbClr val="5C8A00"/>
        </a:accent6>
        <a:hlink>
          <a:srgbClr val="990033"/>
        </a:hlink>
        <a:folHlink>
          <a:srgbClr val="660066"/>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ACC25D49F2F4B4489B9721A466FDF4D" ma:contentTypeVersion="8" ma:contentTypeDescription="Create a new document." ma:contentTypeScope="" ma:versionID="71e9c98e0f852595cf47c6f661845709">
  <xsd:schema xmlns:xsd="http://www.w3.org/2001/XMLSchema" xmlns:xs="http://www.w3.org/2001/XMLSchema" xmlns:p="http://schemas.microsoft.com/office/2006/metadata/properties" xmlns:ns2="8fddeaa3-4732-4488-9db6-a053d8348361" xmlns:ns3="1e1c5aca-6f1d-4e22-8716-d44e9b47b6c2" targetNamespace="http://schemas.microsoft.com/office/2006/metadata/properties" ma:root="true" ma:fieldsID="9e6f634192e81de9c62830f3e2e111b9" ns2:_="" ns3:_="">
    <xsd:import namespace="8fddeaa3-4732-4488-9db6-a053d8348361"/>
    <xsd:import namespace="1e1c5aca-6f1d-4e22-8716-d44e9b47b6c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ddeaa3-4732-4488-9db6-a053d83483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e1c5aca-6f1d-4e22-8716-d44e9b47b6c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B09CFE-C56E-493F-B29E-DBE809B72238}">
  <ds:schemaRefs>
    <ds:schemaRef ds:uri="http://purl.org/dc/elements/1.1/"/>
    <ds:schemaRef ds:uri="http://schemas.microsoft.com/office/2006/metadata/properties"/>
    <ds:schemaRef ds:uri="1e1c5aca-6f1d-4e22-8716-d44e9b47b6c2"/>
    <ds:schemaRef ds:uri="8fddeaa3-4732-4488-9db6-a053d8348361"/>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4F1FBE02-3837-4E25-900B-099B0ECA82E7}">
  <ds:schemaRefs>
    <ds:schemaRef ds:uri="http://schemas.microsoft.com/sharepoint/v3/contenttype/forms"/>
  </ds:schemaRefs>
</ds:datastoreItem>
</file>

<file path=customXml/itemProps3.xml><?xml version="1.0" encoding="utf-8"?>
<ds:datastoreItem xmlns:ds="http://schemas.openxmlformats.org/officeDocument/2006/customXml" ds:itemID="{230F3E2F-D6B7-4A29-B96A-6CFCB87777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ddeaa3-4732-4488-9db6-a053d8348361"/>
    <ds:schemaRef ds:uri="1e1c5aca-6f1d-4e22-8716-d44e9b47b6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PowerPoint Theme  - WFSOM</Template>
  <TotalTime>10622</TotalTime>
  <Words>2249</Words>
  <PresentationFormat>Widescreen</PresentationFormat>
  <Paragraphs>267</Paragraphs>
  <Slides>27</Slides>
  <Notes>24</Notes>
  <HiddenSlides>0</HiddenSlides>
  <MMClips>2</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27</vt:i4>
      </vt:variant>
    </vt:vector>
  </HeadingPairs>
  <TitlesOfParts>
    <vt:vector size="40" baseType="lpstr">
      <vt:lpstr>Arial</vt:lpstr>
      <vt:lpstr>Book Antiqua</vt:lpstr>
      <vt:lpstr>Calibri</vt:lpstr>
      <vt:lpstr>Times New Roman</vt:lpstr>
      <vt:lpstr>Trebuchet MS</vt:lpstr>
      <vt:lpstr>Wingdings</vt:lpstr>
      <vt:lpstr>PowerPoint Theme  - WFSOM</vt:lpstr>
      <vt:lpstr>Default Design</vt:lpstr>
      <vt:lpstr>1_Default Design</vt:lpstr>
      <vt:lpstr>Wake Forest Baptist Health PPT Theme</vt:lpstr>
      <vt:lpstr>2_Default Design</vt:lpstr>
      <vt:lpstr>3_Default Design</vt:lpstr>
      <vt:lpstr>1_PowerPoint Theme  - WFSOM</vt:lpstr>
      <vt:lpstr>Neuroanatomy imaging lab</vt:lpstr>
      <vt:lpstr>Goals for this lab</vt:lpstr>
      <vt:lpstr>Outline</vt:lpstr>
      <vt:lpstr>PowerPoint Presentation</vt:lpstr>
      <vt:lpstr>PowerPoint Presentation</vt:lpstr>
      <vt:lpstr>Case 1</vt:lpstr>
      <vt:lpstr>Case 1: Answers</vt:lpstr>
      <vt:lpstr>Case 2 - MRI</vt:lpstr>
      <vt:lpstr>Case 2: Answers</vt:lpstr>
      <vt:lpstr>PowerPoint Presentation</vt:lpstr>
      <vt:lpstr>Normal side: Left ICA injection</vt:lpstr>
      <vt:lpstr>Abnormal side: Right ICA injection</vt:lpstr>
      <vt:lpstr>PowerPoint Presentation</vt:lpstr>
      <vt:lpstr>PowerPoint Presentation</vt:lpstr>
      <vt:lpstr>PowerPoint Presentation</vt:lpstr>
      <vt:lpstr>Case 3 - CT</vt:lpstr>
      <vt:lpstr>Case 3: Answers</vt:lpstr>
      <vt:lpstr>Case 4 – CT/MRI</vt:lpstr>
      <vt:lpstr>Case 4: Answer</vt:lpstr>
      <vt:lpstr>PowerPoint Presentation</vt:lpstr>
      <vt:lpstr>PowerPoint Presentation</vt:lpstr>
      <vt:lpstr>PowerPoint Presentation</vt:lpstr>
      <vt:lpstr>Case 5 - MRI</vt:lpstr>
      <vt:lpstr>Case 5: Answer</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2016-05-03T22:16:10Z</dcterms:created>
  <dcterms:modified xsi:type="dcterms:W3CDTF">2021-09-01T15:28:50Z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0x0101000ACC25D49F2F4B4489B9721A466FDF4D</vt:lpwstr>
  </property>
</Properties>
</file>